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204700" cy="6870700"/>
  <p:notesSz cx="12204700" cy="68707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5352" y="2129917"/>
            <a:ext cx="10373995" cy="14428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rgbClr val="F59D0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30705" y="3847592"/>
            <a:ext cx="8543290" cy="1717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F59D0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F59D0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10235" y="1580261"/>
            <a:ext cx="5309044" cy="4534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85420" y="1580261"/>
            <a:ext cx="5309044" cy="4534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F59D0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3318" y="534987"/>
            <a:ext cx="2249805" cy="2368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rgbClr val="F59D0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0235" y="1580261"/>
            <a:ext cx="10984230" cy="4534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9598" y="6389751"/>
            <a:ext cx="3905504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10235" y="6389751"/>
            <a:ext cx="2807081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87384" y="6389751"/>
            <a:ext cx="2807081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hyperlink" Target="mailto:agent210601@gmail.com" TargetMode="Externa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hyperlink" Target="mailto:agent210601@gmail.com" TargetMode="Externa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hyperlink" Target="mailto:agent210601@gmail.com" TargetMode="Externa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hyperlink" Target="mailto:agent210601@gmail.com" TargetMode="Externa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Relationship Id="rId11" Type="http://schemas.openxmlformats.org/officeDocument/2006/relationships/image" Target="../media/image45.png"/><Relationship Id="rId12" Type="http://schemas.openxmlformats.org/officeDocument/2006/relationships/hyperlink" Target="mailto:agent210601@gmail.com" TargetMode="Externa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52.png"/><Relationship Id="rId11" Type="http://schemas.openxmlformats.org/officeDocument/2006/relationships/image" Target="../media/image53.png"/><Relationship Id="rId12" Type="http://schemas.openxmlformats.org/officeDocument/2006/relationships/hyperlink" Target="mailto:agent210601@gmail.com" TargetMode="Externa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hyperlink" Target="mailto:agent210601@gmail.com" TargetMode="Externa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hyperlink" Target="mailto:agent210601@gmail.com" TargetMode="Externa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70.png"/><Relationship Id="rId10" Type="http://schemas.openxmlformats.org/officeDocument/2006/relationships/image" Target="../media/image71.png"/><Relationship Id="rId11" Type="http://schemas.openxmlformats.org/officeDocument/2006/relationships/image" Target="../media/image72.png"/><Relationship Id="rId12" Type="http://schemas.openxmlformats.org/officeDocument/2006/relationships/image" Target="../media/image73.png"/><Relationship Id="rId13" Type="http://schemas.openxmlformats.org/officeDocument/2006/relationships/image" Target="../media/image74.png"/><Relationship Id="rId14" Type="http://schemas.openxmlformats.org/officeDocument/2006/relationships/image" Target="../media/image75.png"/><Relationship Id="rId15" Type="http://schemas.openxmlformats.org/officeDocument/2006/relationships/image" Target="../media/image76.png"/><Relationship Id="rId16" Type="http://schemas.openxmlformats.org/officeDocument/2006/relationships/image" Target="../media/image77.png"/><Relationship Id="rId17" Type="http://schemas.openxmlformats.org/officeDocument/2006/relationships/hyperlink" Target="mailto:agent210601@gmail.com" TargetMode="Externa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8.png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83.png"/><Relationship Id="rId10" Type="http://schemas.openxmlformats.org/officeDocument/2006/relationships/image" Target="../media/image84.png"/><Relationship Id="rId11" Type="http://schemas.openxmlformats.org/officeDocument/2006/relationships/image" Target="../media/image85.png"/><Relationship Id="rId12" Type="http://schemas.openxmlformats.org/officeDocument/2006/relationships/image" Target="../media/image8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8500" y="0"/>
            <a:ext cx="5143499" cy="4952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476500"/>
            <a:ext cx="4571999" cy="438149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67500" y="1333499"/>
              <a:ext cx="5524499" cy="55244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067800" y="2045207"/>
              <a:ext cx="2630805" cy="1240790"/>
            </a:xfrm>
            <a:custGeom>
              <a:avLst/>
              <a:gdLst/>
              <a:ahLst/>
              <a:cxnLst/>
              <a:rect l="l" t="t" r="r" b="b"/>
              <a:pathLst>
                <a:path w="2630804" h="1240789">
                  <a:moveTo>
                    <a:pt x="2630423" y="1240535"/>
                  </a:moveTo>
                  <a:lnTo>
                    <a:pt x="0" y="1240535"/>
                  </a:lnTo>
                  <a:lnTo>
                    <a:pt x="0" y="0"/>
                  </a:lnTo>
                  <a:lnTo>
                    <a:pt x="2630423" y="0"/>
                  </a:lnTo>
                  <a:lnTo>
                    <a:pt x="2630423" y="200310"/>
                  </a:lnTo>
                  <a:lnTo>
                    <a:pt x="400049" y="200310"/>
                  </a:lnTo>
                  <a:lnTo>
                    <a:pt x="387851" y="200899"/>
                  </a:lnTo>
                  <a:lnTo>
                    <a:pt x="341618" y="214948"/>
                  </a:lnTo>
                  <a:lnTo>
                    <a:pt x="304282" y="245619"/>
                  </a:lnTo>
                  <a:lnTo>
                    <a:pt x="281525" y="288244"/>
                  </a:lnTo>
                  <a:lnTo>
                    <a:pt x="276224" y="324135"/>
                  </a:lnTo>
                  <a:lnTo>
                    <a:pt x="276224" y="762285"/>
                  </a:lnTo>
                  <a:lnTo>
                    <a:pt x="285649" y="809671"/>
                  </a:lnTo>
                  <a:lnTo>
                    <a:pt x="312491" y="849843"/>
                  </a:lnTo>
                  <a:lnTo>
                    <a:pt x="352662" y="876684"/>
                  </a:lnTo>
                  <a:lnTo>
                    <a:pt x="400049" y="886110"/>
                  </a:lnTo>
                  <a:lnTo>
                    <a:pt x="2630423" y="886110"/>
                  </a:lnTo>
                  <a:lnTo>
                    <a:pt x="2630423" y="1240535"/>
                  </a:lnTo>
                  <a:close/>
                </a:path>
                <a:path w="2630804" h="1240789">
                  <a:moveTo>
                    <a:pt x="2630423" y="886110"/>
                  </a:moveTo>
                  <a:lnTo>
                    <a:pt x="2228849" y="886110"/>
                  </a:lnTo>
                  <a:lnTo>
                    <a:pt x="2241046" y="885521"/>
                  </a:lnTo>
                  <a:lnTo>
                    <a:pt x="2253009" y="883754"/>
                  </a:lnTo>
                  <a:lnTo>
                    <a:pt x="2297654" y="865261"/>
                  </a:lnTo>
                  <a:lnTo>
                    <a:pt x="2331824" y="831091"/>
                  </a:lnTo>
                  <a:lnTo>
                    <a:pt x="2350317" y="786447"/>
                  </a:lnTo>
                  <a:lnTo>
                    <a:pt x="2352674" y="762285"/>
                  </a:lnTo>
                  <a:lnTo>
                    <a:pt x="2352674" y="324135"/>
                  </a:lnTo>
                  <a:lnTo>
                    <a:pt x="2343248" y="276749"/>
                  </a:lnTo>
                  <a:lnTo>
                    <a:pt x="2316406" y="236578"/>
                  </a:lnTo>
                  <a:lnTo>
                    <a:pt x="2276233" y="209736"/>
                  </a:lnTo>
                  <a:lnTo>
                    <a:pt x="2228849" y="200310"/>
                  </a:lnTo>
                  <a:lnTo>
                    <a:pt x="2630423" y="200310"/>
                  </a:lnTo>
                  <a:lnTo>
                    <a:pt x="2630423" y="886110"/>
                  </a:lnTo>
                  <a:close/>
                </a:path>
              </a:pathLst>
            </a:custGeom>
            <a:solidFill>
              <a:srgbClr val="121725">
                <a:alpha val="58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9339261" y="2240756"/>
              <a:ext cx="2085975" cy="695325"/>
            </a:xfrm>
            <a:custGeom>
              <a:avLst/>
              <a:gdLst/>
              <a:ahLst/>
              <a:cxnLst/>
              <a:rect l="l" t="t" r="r" b="b"/>
              <a:pathLst>
                <a:path w="2085975" h="695325">
                  <a:moveTo>
                    <a:pt x="1965830" y="695324"/>
                  </a:moveTo>
                  <a:lnTo>
                    <a:pt x="120144" y="695324"/>
                  </a:lnTo>
                  <a:lnTo>
                    <a:pt x="111782" y="694501"/>
                  </a:lnTo>
                  <a:lnTo>
                    <a:pt x="71578" y="682305"/>
                  </a:lnTo>
                  <a:lnTo>
                    <a:pt x="31692" y="651692"/>
                  </a:lnTo>
                  <a:lnTo>
                    <a:pt x="6557" y="608145"/>
                  </a:lnTo>
                  <a:lnTo>
                    <a:pt x="0" y="575180"/>
                  </a:lnTo>
                  <a:lnTo>
                    <a:pt x="0" y="566737"/>
                  </a:lnTo>
                  <a:lnTo>
                    <a:pt x="0" y="120144"/>
                  </a:lnTo>
                  <a:lnTo>
                    <a:pt x="13019" y="71578"/>
                  </a:lnTo>
                  <a:lnTo>
                    <a:pt x="43632" y="31692"/>
                  </a:lnTo>
                  <a:lnTo>
                    <a:pt x="87179" y="6557"/>
                  </a:lnTo>
                  <a:lnTo>
                    <a:pt x="120144" y="0"/>
                  </a:lnTo>
                  <a:lnTo>
                    <a:pt x="1965830" y="0"/>
                  </a:lnTo>
                  <a:lnTo>
                    <a:pt x="2014395" y="13019"/>
                  </a:lnTo>
                  <a:lnTo>
                    <a:pt x="2054282" y="43632"/>
                  </a:lnTo>
                  <a:lnTo>
                    <a:pt x="2079417" y="87179"/>
                  </a:lnTo>
                  <a:lnTo>
                    <a:pt x="2085974" y="120144"/>
                  </a:lnTo>
                  <a:lnTo>
                    <a:pt x="2085974" y="575180"/>
                  </a:lnTo>
                  <a:lnTo>
                    <a:pt x="2072955" y="623746"/>
                  </a:lnTo>
                  <a:lnTo>
                    <a:pt x="2042342" y="663632"/>
                  </a:lnTo>
                  <a:lnTo>
                    <a:pt x="1998794" y="688767"/>
                  </a:lnTo>
                  <a:lnTo>
                    <a:pt x="1974192" y="694501"/>
                  </a:lnTo>
                  <a:lnTo>
                    <a:pt x="1965830" y="695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9339261" y="2240756"/>
              <a:ext cx="2085975" cy="695325"/>
            </a:xfrm>
            <a:custGeom>
              <a:avLst/>
              <a:gdLst/>
              <a:ahLst/>
              <a:cxnLst/>
              <a:rect l="l" t="t" r="r" b="b"/>
              <a:pathLst>
                <a:path w="2085975" h="695325">
                  <a:moveTo>
                    <a:pt x="0" y="566737"/>
                  </a:moveTo>
                  <a:lnTo>
                    <a:pt x="0" y="128587"/>
                  </a:lnTo>
                  <a:lnTo>
                    <a:pt x="0" y="120144"/>
                  </a:lnTo>
                  <a:lnTo>
                    <a:pt x="823" y="111782"/>
                  </a:lnTo>
                  <a:lnTo>
                    <a:pt x="2470" y="103501"/>
                  </a:lnTo>
                  <a:lnTo>
                    <a:pt x="4117" y="95220"/>
                  </a:lnTo>
                  <a:lnTo>
                    <a:pt x="6557" y="87179"/>
                  </a:lnTo>
                  <a:lnTo>
                    <a:pt x="26361" y="50127"/>
                  </a:lnTo>
                  <a:lnTo>
                    <a:pt x="37662" y="37662"/>
                  </a:lnTo>
                  <a:lnTo>
                    <a:pt x="43632" y="31692"/>
                  </a:lnTo>
                  <a:lnTo>
                    <a:pt x="79379" y="9788"/>
                  </a:lnTo>
                  <a:lnTo>
                    <a:pt x="120144" y="0"/>
                  </a:lnTo>
                  <a:lnTo>
                    <a:pt x="128587" y="0"/>
                  </a:lnTo>
                  <a:lnTo>
                    <a:pt x="1957387" y="0"/>
                  </a:lnTo>
                  <a:lnTo>
                    <a:pt x="1965830" y="0"/>
                  </a:lnTo>
                  <a:lnTo>
                    <a:pt x="1974192" y="823"/>
                  </a:lnTo>
                  <a:lnTo>
                    <a:pt x="2014395" y="13019"/>
                  </a:lnTo>
                  <a:lnTo>
                    <a:pt x="2048312" y="37662"/>
                  </a:lnTo>
                  <a:lnTo>
                    <a:pt x="2064303" y="57148"/>
                  </a:lnTo>
                  <a:lnTo>
                    <a:pt x="2068994" y="64168"/>
                  </a:lnTo>
                  <a:lnTo>
                    <a:pt x="2072955" y="71578"/>
                  </a:lnTo>
                  <a:lnTo>
                    <a:pt x="2076186" y="79379"/>
                  </a:lnTo>
                  <a:lnTo>
                    <a:pt x="2079417" y="87179"/>
                  </a:lnTo>
                  <a:lnTo>
                    <a:pt x="2085974" y="128587"/>
                  </a:lnTo>
                  <a:lnTo>
                    <a:pt x="2085974" y="566737"/>
                  </a:lnTo>
                  <a:lnTo>
                    <a:pt x="2079417" y="608145"/>
                  </a:lnTo>
                  <a:lnTo>
                    <a:pt x="2059612" y="645197"/>
                  </a:lnTo>
                  <a:lnTo>
                    <a:pt x="2028826" y="673654"/>
                  </a:lnTo>
                  <a:lnTo>
                    <a:pt x="1990754" y="691206"/>
                  </a:lnTo>
                  <a:lnTo>
                    <a:pt x="1965830" y="695324"/>
                  </a:lnTo>
                  <a:lnTo>
                    <a:pt x="1957387" y="695324"/>
                  </a:lnTo>
                  <a:lnTo>
                    <a:pt x="128587" y="695324"/>
                  </a:lnTo>
                  <a:lnTo>
                    <a:pt x="120144" y="695324"/>
                  </a:lnTo>
                  <a:lnTo>
                    <a:pt x="111782" y="694501"/>
                  </a:lnTo>
                  <a:lnTo>
                    <a:pt x="103501" y="692854"/>
                  </a:lnTo>
                  <a:lnTo>
                    <a:pt x="95220" y="691206"/>
                  </a:lnTo>
                  <a:lnTo>
                    <a:pt x="87179" y="688767"/>
                  </a:lnTo>
                  <a:lnTo>
                    <a:pt x="79379" y="685536"/>
                  </a:lnTo>
                  <a:lnTo>
                    <a:pt x="71578" y="682305"/>
                  </a:lnTo>
                  <a:lnTo>
                    <a:pt x="37662" y="657662"/>
                  </a:lnTo>
                  <a:lnTo>
                    <a:pt x="13019" y="623746"/>
                  </a:lnTo>
                  <a:lnTo>
                    <a:pt x="823" y="583542"/>
                  </a:lnTo>
                  <a:lnTo>
                    <a:pt x="0" y="575180"/>
                  </a:lnTo>
                  <a:lnTo>
                    <a:pt x="0" y="566737"/>
                  </a:lnTo>
                  <a:close/>
                </a:path>
              </a:pathLst>
            </a:custGeom>
            <a:ln w="9524">
              <a:solidFill>
                <a:srgbClr val="E4E8F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9502774" y="2254668"/>
            <a:ext cx="1383030" cy="530860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750" spc="-25" b="1">
                <a:solidFill>
                  <a:srgbClr val="2453D5"/>
                </a:solidFill>
                <a:latin typeface="Arial"/>
                <a:cs typeface="Arial"/>
              </a:rPr>
              <a:t>11</a:t>
            </a:r>
            <a:r>
              <a:rPr dirty="0" sz="1750" spc="-25" b="1">
                <a:solidFill>
                  <a:srgbClr val="F59D0A"/>
                </a:solidFill>
                <a:latin typeface="Arial"/>
                <a:cs typeface="Arial"/>
              </a:rPr>
              <a:t>.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850" b="1">
                <a:solidFill>
                  <a:srgbClr val="5C6A81"/>
                </a:solidFill>
                <a:latin typeface="Arial"/>
                <a:cs typeface="Arial"/>
              </a:rPr>
              <a:t>SLIDES</a:t>
            </a:r>
            <a:r>
              <a:rPr dirty="0" sz="850" spc="20" b="1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5C6A81"/>
                </a:solidFill>
                <a:latin typeface="Arial"/>
                <a:cs typeface="Arial"/>
              </a:rPr>
              <a:t>AU</a:t>
            </a:r>
            <a:r>
              <a:rPr dirty="0" sz="850" spc="40" b="1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5C6A81"/>
                </a:solidFill>
                <a:latin typeface="Arial"/>
                <a:cs typeface="Arial"/>
              </a:rPr>
              <a:t>PROGRAMME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067800" y="2901695"/>
            <a:ext cx="2630805" cy="1213485"/>
            <a:chOff x="9067800" y="2901695"/>
            <a:chExt cx="2630805" cy="1213485"/>
          </a:xfrm>
        </p:grpSpPr>
        <p:sp>
          <p:nvSpPr>
            <p:cNvPr id="12" name="object 12"/>
            <p:cNvSpPr/>
            <p:nvPr/>
          </p:nvSpPr>
          <p:spPr>
            <a:xfrm>
              <a:off x="9067800" y="2901695"/>
              <a:ext cx="2630805" cy="1213485"/>
            </a:xfrm>
            <a:custGeom>
              <a:avLst/>
              <a:gdLst/>
              <a:ahLst/>
              <a:cxnLst/>
              <a:rect l="l" t="t" r="r" b="b"/>
              <a:pathLst>
                <a:path w="2630804" h="1213485">
                  <a:moveTo>
                    <a:pt x="2630423" y="1213103"/>
                  </a:moveTo>
                  <a:lnTo>
                    <a:pt x="0" y="1213103"/>
                  </a:lnTo>
                  <a:lnTo>
                    <a:pt x="0" y="0"/>
                  </a:lnTo>
                  <a:lnTo>
                    <a:pt x="2630423" y="0"/>
                  </a:lnTo>
                  <a:lnTo>
                    <a:pt x="2630423" y="191547"/>
                  </a:lnTo>
                  <a:lnTo>
                    <a:pt x="400049" y="191547"/>
                  </a:lnTo>
                  <a:lnTo>
                    <a:pt x="386913" y="192182"/>
                  </a:lnTo>
                  <a:lnTo>
                    <a:pt x="349019" y="201698"/>
                  </a:lnTo>
                  <a:lnTo>
                    <a:pt x="315493" y="221764"/>
                  </a:lnTo>
                  <a:lnTo>
                    <a:pt x="289152" y="250798"/>
                  </a:lnTo>
                  <a:lnTo>
                    <a:pt x="272408" y="286245"/>
                  </a:lnTo>
                  <a:lnTo>
                    <a:pt x="266699" y="324897"/>
                  </a:lnTo>
                  <a:lnTo>
                    <a:pt x="266699" y="734472"/>
                  </a:lnTo>
                  <a:lnTo>
                    <a:pt x="272408" y="773124"/>
                  </a:lnTo>
                  <a:lnTo>
                    <a:pt x="289152" y="808571"/>
                  </a:lnTo>
                  <a:lnTo>
                    <a:pt x="315493" y="837605"/>
                  </a:lnTo>
                  <a:lnTo>
                    <a:pt x="349018" y="857671"/>
                  </a:lnTo>
                  <a:lnTo>
                    <a:pt x="386913" y="867188"/>
                  </a:lnTo>
                  <a:lnTo>
                    <a:pt x="400049" y="867822"/>
                  </a:lnTo>
                  <a:lnTo>
                    <a:pt x="2630423" y="867822"/>
                  </a:lnTo>
                  <a:lnTo>
                    <a:pt x="2630423" y="1213103"/>
                  </a:lnTo>
                  <a:close/>
                </a:path>
                <a:path w="2630804" h="1213485">
                  <a:moveTo>
                    <a:pt x="2630423" y="867822"/>
                  </a:moveTo>
                  <a:lnTo>
                    <a:pt x="2228849" y="867822"/>
                  </a:lnTo>
                  <a:lnTo>
                    <a:pt x="2241985" y="867188"/>
                  </a:lnTo>
                  <a:lnTo>
                    <a:pt x="2254869" y="865284"/>
                  </a:lnTo>
                  <a:lnTo>
                    <a:pt x="2291773" y="852058"/>
                  </a:lnTo>
                  <a:lnTo>
                    <a:pt x="2323142" y="828765"/>
                  </a:lnTo>
                  <a:lnTo>
                    <a:pt x="2346434" y="797396"/>
                  </a:lnTo>
                  <a:lnTo>
                    <a:pt x="2359661" y="760492"/>
                  </a:lnTo>
                  <a:lnTo>
                    <a:pt x="2362199" y="734472"/>
                  </a:lnTo>
                  <a:lnTo>
                    <a:pt x="2362199" y="324897"/>
                  </a:lnTo>
                  <a:lnTo>
                    <a:pt x="2356488" y="286245"/>
                  </a:lnTo>
                  <a:lnTo>
                    <a:pt x="2339745" y="250798"/>
                  </a:lnTo>
                  <a:lnTo>
                    <a:pt x="2313404" y="221764"/>
                  </a:lnTo>
                  <a:lnTo>
                    <a:pt x="2279880" y="201698"/>
                  </a:lnTo>
                  <a:lnTo>
                    <a:pt x="2241985" y="192182"/>
                  </a:lnTo>
                  <a:lnTo>
                    <a:pt x="2228849" y="191547"/>
                  </a:lnTo>
                  <a:lnTo>
                    <a:pt x="2630423" y="191547"/>
                  </a:lnTo>
                  <a:lnTo>
                    <a:pt x="2630423" y="867822"/>
                  </a:lnTo>
                  <a:close/>
                </a:path>
              </a:pathLst>
            </a:custGeom>
            <a:solidFill>
              <a:srgbClr val="121725">
                <a:alpha val="58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34499" y="3093243"/>
              <a:ext cx="2095499" cy="67627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9493249" y="3102393"/>
            <a:ext cx="864235" cy="530860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750" spc="-25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dirty="0" sz="1750" spc="-25" b="1">
                <a:solidFill>
                  <a:srgbClr val="F59D0A"/>
                </a:solidFill>
                <a:latin typeface="Arial"/>
                <a:cs typeface="Arial"/>
              </a:rPr>
              <a:t>.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850" spc="-20" b="1">
                <a:solidFill>
                  <a:srgbClr val="FEFEFE"/>
                </a:solidFill>
                <a:latin typeface="Arial"/>
                <a:cs typeface="Arial"/>
              </a:rPr>
              <a:t>PAGES</a:t>
            </a:r>
            <a:r>
              <a:rPr dirty="0" sz="850" spc="15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FEFEFE"/>
                </a:solidFill>
                <a:latin typeface="Arial"/>
                <a:cs typeface="Arial"/>
              </a:rPr>
              <a:t>DU</a:t>
            </a:r>
            <a:r>
              <a:rPr dirty="0" sz="850" spc="40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FEFEFE"/>
                </a:solidFill>
                <a:latin typeface="Arial"/>
                <a:cs typeface="Arial"/>
              </a:rPr>
              <a:t>SITE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067800" y="3730751"/>
            <a:ext cx="2630805" cy="1240790"/>
            <a:chOff x="9067800" y="3730751"/>
            <a:chExt cx="2630805" cy="1240790"/>
          </a:xfrm>
        </p:grpSpPr>
        <p:sp>
          <p:nvSpPr>
            <p:cNvPr id="16" name="object 16"/>
            <p:cNvSpPr/>
            <p:nvPr/>
          </p:nvSpPr>
          <p:spPr>
            <a:xfrm>
              <a:off x="9067800" y="3730751"/>
              <a:ext cx="2630805" cy="1240790"/>
            </a:xfrm>
            <a:custGeom>
              <a:avLst/>
              <a:gdLst/>
              <a:ahLst/>
              <a:cxnLst/>
              <a:rect l="l" t="t" r="r" b="b"/>
              <a:pathLst>
                <a:path w="2630804" h="1240789">
                  <a:moveTo>
                    <a:pt x="2630423" y="1240535"/>
                  </a:moveTo>
                  <a:lnTo>
                    <a:pt x="0" y="1240535"/>
                  </a:lnTo>
                  <a:lnTo>
                    <a:pt x="0" y="0"/>
                  </a:lnTo>
                  <a:lnTo>
                    <a:pt x="2630423" y="0"/>
                  </a:lnTo>
                  <a:lnTo>
                    <a:pt x="2630423" y="200691"/>
                  </a:lnTo>
                  <a:lnTo>
                    <a:pt x="400049" y="200691"/>
                  </a:lnTo>
                  <a:lnTo>
                    <a:pt x="387851" y="201280"/>
                  </a:lnTo>
                  <a:lnTo>
                    <a:pt x="341618" y="215329"/>
                  </a:lnTo>
                  <a:lnTo>
                    <a:pt x="304282" y="246000"/>
                  </a:lnTo>
                  <a:lnTo>
                    <a:pt x="281525" y="288625"/>
                  </a:lnTo>
                  <a:lnTo>
                    <a:pt x="276224" y="324516"/>
                  </a:lnTo>
                  <a:lnTo>
                    <a:pt x="276224" y="762666"/>
                  </a:lnTo>
                  <a:lnTo>
                    <a:pt x="285649" y="810052"/>
                  </a:lnTo>
                  <a:lnTo>
                    <a:pt x="312491" y="850223"/>
                  </a:lnTo>
                  <a:lnTo>
                    <a:pt x="352663" y="877065"/>
                  </a:lnTo>
                  <a:lnTo>
                    <a:pt x="400049" y="886491"/>
                  </a:lnTo>
                  <a:lnTo>
                    <a:pt x="2630423" y="886491"/>
                  </a:lnTo>
                  <a:lnTo>
                    <a:pt x="2630423" y="1240535"/>
                  </a:lnTo>
                  <a:close/>
                </a:path>
                <a:path w="2630804" h="1240789">
                  <a:moveTo>
                    <a:pt x="2630423" y="886491"/>
                  </a:moveTo>
                  <a:lnTo>
                    <a:pt x="2228849" y="886491"/>
                  </a:lnTo>
                  <a:lnTo>
                    <a:pt x="2241047" y="885902"/>
                  </a:lnTo>
                  <a:lnTo>
                    <a:pt x="2253010" y="884135"/>
                  </a:lnTo>
                  <a:lnTo>
                    <a:pt x="2297654" y="865642"/>
                  </a:lnTo>
                  <a:lnTo>
                    <a:pt x="2331824" y="831472"/>
                  </a:lnTo>
                  <a:lnTo>
                    <a:pt x="2350317" y="786827"/>
                  </a:lnTo>
                  <a:lnTo>
                    <a:pt x="2352674" y="762666"/>
                  </a:lnTo>
                  <a:lnTo>
                    <a:pt x="2352674" y="324516"/>
                  </a:lnTo>
                  <a:lnTo>
                    <a:pt x="2343248" y="277130"/>
                  </a:lnTo>
                  <a:lnTo>
                    <a:pt x="2316406" y="236958"/>
                  </a:lnTo>
                  <a:lnTo>
                    <a:pt x="2276233" y="210117"/>
                  </a:lnTo>
                  <a:lnTo>
                    <a:pt x="2228849" y="200691"/>
                  </a:lnTo>
                  <a:lnTo>
                    <a:pt x="2630423" y="200691"/>
                  </a:lnTo>
                  <a:lnTo>
                    <a:pt x="2630423" y="886491"/>
                  </a:lnTo>
                  <a:close/>
                </a:path>
              </a:pathLst>
            </a:custGeom>
            <a:solidFill>
              <a:srgbClr val="121725">
                <a:alpha val="58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9339262" y="3926680"/>
              <a:ext cx="2085975" cy="695325"/>
            </a:xfrm>
            <a:custGeom>
              <a:avLst/>
              <a:gdLst/>
              <a:ahLst/>
              <a:cxnLst/>
              <a:rect l="l" t="t" r="r" b="b"/>
              <a:pathLst>
                <a:path w="2085975" h="695325">
                  <a:moveTo>
                    <a:pt x="1965830" y="695324"/>
                  </a:moveTo>
                  <a:lnTo>
                    <a:pt x="120144" y="695324"/>
                  </a:lnTo>
                  <a:lnTo>
                    <a:pt x="111782" y="694501"/>
                  </a:lnTo>
                  <a:lnTo>
                    <a:pt x="71578" y="682305"/>
                  </a:lnTo>
                  <a:lnTo>
                    <a:pt x="31692" y="651692"/>
                  </a:lnTo>
                  <a:lnTo>
                    <a:pt x="6557" y="608144"/>
                  </a:lnTo>
                  <a:lnTo>
                    <a:pt x="0" y="575180"/>
                  </a:lnTo>
                  <a:lnTo>
                    <a:pt x="0" y="566737"/>
                  </a:lnTo>
                  <a:lnTo>
                    <a:pt x="0" y="120144"/>
                  </a:lnTo>
                  <a:lnTo>
                    <a:pt x="13019" y="71578"/>
                  </a:lnTo>
                  <a:lnTo>
                    <a:pt x="43632" y="31691"/>
                  </a:lnTo>
                  <a:lnTo>
                    <a:pt x="87179" y="6556"/>
                  </a:lnTo>
                  <a:lnTo>
                    <a:pt x="120144" y="0"/>
                  </a:lnTo>
                  <a:lnTo>
                    <a:pt x="1965830" y="0"/>
                  </a:lnTo>
                  <a:lnTo>
                    <a:pt x="2014395" y="13018"/>
                  </a:lnTo>
                  <a:lnTo>
                    <a:pt x="2054282" y="43632"/>
                  </a:lnTo>
                  <a:lnTo>
                    <a:pt x="2079417" y="87179"/>
                  </a:lnTo>
                  <a:lnTo>
                    <a:pt x="2085974" y="120144"/>
                  </a:lnTo>
                  <a:lnTo>
                    <a:pt x="2085974" y="575180"/>
                  </a:lnTo>
                  <a:lnTo>
                    <a:pt x="2072955" y="623746"/>
                  </a:lnTo>
                  <a:lnTo>
                    <a:pt x="2042342" y="663632"/>
                  </a:lnTo>
                  <a:lnTo>
                    <a:pt x="1998794" y="688767"/>
                  </a:lnTo>
                  <a:lnTo>
                    <a:pt x="1974192" y="694501"/>
                  </a:lnTo>
                  <a:lnTo>
                    <a:pt x="1965830" y="695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339262" y="3926680"/>
              <a:ext cx="2085975" cy="695325"/>
            </a:xfrm>
            <a:custGeom>
              <a:avLst/>
              <a:gdLst/>
              <a:ahLst/>
              <a:cxnLst/>
              <a:rect l="l" t="t" r="r" b="b"/>
              <a:pathLst>
                <a:path w="2085975" h="695325">
                  <a:moveTo>
                    <a:pt x="0" y="566737"/>
                  </a:moveTo>
                  <a:lnTo>
                    <a:pt x="0" y="128587"/>
                  </a:lnTo>
                  <a:lnTo>
                    <a:pt x="0" y="120144"/>
                  </a:lnTo>
                  <a:lnTo>
                    <a:pt x="823" y="111781"/>
                  </a:lnTo>
                  <a:lnTo>
                    <a:pt x="2470" y="103500"/>
                  </a:lnTo>
                  <a:lnTo>
                    <a:pt x="4117" y="95219"/>
                  </a:lnTo>
                  <a:lnTo>
                    <a:pt x="6557" y="87179"/>
                  </a:lnTo>
                  <a:lnTo>
                    <a:pt x="9788" y="79378"/>
                  </a:lnTo>
                  <a:lnTo>
                    <a:pt x="13019" y="71578"/>
                  </a:lnTo>
                  <a:lnTo>
                    <a:pt x="16980" y="64168"/>
                  </a:lnTo>
                  <a:lnTo>
                    <a:pt x="21670" y="57147"/>
                  </a:lnTo>
                  <a:lnTo>
                    <a:pt x="26361" y="50127"/>
                  </a:lnTo>
                  <a:lnTo>
                    <a:pt x="31692" y="43632"/>
                  </a:lnTo>
                  <a:lnTo>
                    <a:pt x="37662" y="37662"/>
                  </a:lnTo>
                  <a:lnTo>
                    <a:pt x="43632" y="31691"/>
                  </a:lnTo>
                  <a:lnTo>
                    <a:pt x="50127" y="26361"/>
                  </a:lnTo>
                  <a:lnTo>
                    <a:pt x="57148" y="21670"/>
                  </a:lnTo>
                  <a:lnTo>
                    <a:pt x="64168" y="16979"/>
                  </a:lnTo>
                  <a:lnTo>
                    <a:pt x="103501" y="2470"/>
                  </a:lnTo>
                  <a:lnTo>
                    <a:pt x="120144" y="0"/>
                  </a:lnTo>
                  <a:lnTo>
                    <a:pt x="128587" y="0"/>
                  </a:lnTo>
                  <a:lnTo>
                    <a:pt x="1957387" y="0"/>
                  </a:lnTo>
                  <a:lnTo>
                    <a:pt x="1965830" y="0"/>
                  </a:lnTo>
                  <a:lnTo>
                    <a:pt x="1974192" y="823"/>
                  </a:lnTo>
                  <a:lnTo>
                    <a:pt x="2014395" y="13018"/>
                  </a:lnTo>
                  <a:lnTo>
                    <a:pt x="2028826" y="21670"/>
                  </a:lnTo>
                  <a:lnTo>
                    <a:pt x="2035846" y="26361"/>
                  </a:lnTo>
                  <a:lnTo>
                    <a:pt x="2042342" y="31691"/>
                  </a:lnTo>
                  <a:lnTo>
                    <a:pt x="2048312" y="37662"/>
                  </a:lnTo>
                  <a:lnTo>
                    <a:pt x="2054282" y="43632"/>
                  </a:lnTo>
                  <a:lnTo>
                    <a:pt x="2076186" y="79379"/>
                  </a:lnTo>
                  <a:lnTo>
                    <a:pt x="2079417" y="87179"/>
                  </a:lnTo>
                  <a:lnTo>
                    <a:pt x="2085974" y="128587"/>
                  </a:lnTo>
                  <a:lnTo>
                    <a:pt x="2085974" y="566737"/>
                  </a:lnTo>
                  <a:lnTo>
                    <a:pt x="2079417" y="608144"/>
                  </a:lnTo>
                  <a:lnTo>
                    <a:pt x="2059612" y="645196"/>
                  </a:lnTo>
                  <a:lnTo>
                    <a:pt x="2028826" y="673653"/>
                  </a:lnTo>
                  <a:lnTo>
                    <a:pt x="2006595" y="685536"/>
                  </a:lnTo>
                  <a:lnTo>
                    <a:pt x="1998794" y="688767"/>
                  </a:lnTo>
                  <a:lnTo>
                    <a:pt x="1957387" y="695324"/>
                  </a:lnTo>
                  <a:lnTo>
                    <a:pt x="128587" y="695324"/>
                  </a:lnTo>
                  <a:lnTo>
                    <a:pt x="87179" y="688767"/>
                  </a:lnTo>
                  <a:lnTo>
                    <a:pt x="79379" y="685536"/>
                  </a:lnTo>
                  <a:lnTo>
                    <a:pt x="71578" y="682305"/>
                  </a:lnTo>
                  <a:lnTo>
                    <a:pt x="64168" y="678344"/>
                  </a:lnTo>
                  <a:lnTo>
                    <a:pt x="57148" y="673653"/>
                  </a:lnTo>
                  <a:lnTo>
                    <a:pt x="50127" y="668963"/>
                  </a:lnTo>
                  <a:lnTo>
                    <a:pt x="21670" y="638176"/>
                  </a:lnTo>
                  <a:lnTo>
                    <a:pt x="16980" y="631156"/>
                  </a:lnTo>
                  <a:lnTo>
                    <a:pt x="2470" y="591823"/>
                  </a:lnTo>
                  <a:lnTo>
                    <a:pt x="0" y="575180"/>
                  </a:lnTo>
                  <a:lnTo>
                    <a:pt x="0" y="566737"/>
                  </a:lnTo>
                  <a:close/>
                </a:path>
              </a:pathLst>
            </a:custGeom>
            <a:ln w="9524">
              <a:solidFill>
                <a:srgbClr val="E4E8F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9502774" y="3940593"/>
            <a:ext cx="1430020" cy="530860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750" spc="40" b="1">
                <a:solidFill>
                  <a:srgbClr val="2453D5"/>
                </a:solidFill>
                <a:latin typeface="Arial"/>
                <a:cs typeface="Arial"/>
              </a:rPr>
              <a:t>100</a:t>
            </a:r>
            <a:r>
              <a:rPr dirty="0" sz="1750" spc="40" b="1">
                <a:solidFill>
                  <a:srgbClr val="F59D0A"/>
                </a:solidFill>
                <a:latin typeface="Arial"/>
                <a:cs typeface="Arial"/>
              </a:rPr>
              <a:t>%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850" b="1">
                <a:solidFill>
                  <a:srgbClr val="5C6A81"/>
                </a:solidFill>
                <a:latin typeface="Arial"/>
                <a:cs typeface="Arial"/>
              </a:rPr>
              <a:t>STATIQUE</a:t>
            </a:r>
            <a:r>
              <a:rPr dirty="0" sz="850" spc="35" b="1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5C6A81"/>
                </a:solidFill>
                <a:latin typeface="Arial"/>
                <a:cs typeface="Arial"/>
              </a:rPr>
              <a:t>&amp;</a:t>
            </a:r>
            <a:r>
              <a:rPr dirty="0" sz="850" spc="-5" b="1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5C6A81"/>
                </a:solidFill>
                <a:latin typeface="Arial"/>
                <a:cs typeface="Arial"/>
              </a:rPr>
              <a:t>RESPONSIVE</a:t>
            </a:r>
            <a:endParaRPr sz="8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30350" y="613271"/>
            <a:ext cx="143510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60" b="1">
                <a:solidFill>
                  <a:srgbClr val="2453D5"/>
                </a:solidFill>
                <a:latin typeface="Arial"/>
                <a:cs typeface="Arial"/>
              </a:rPr>
              <a:t>Afri</a:t>
            </a:r>
            <a:r>
              <a:rPr dirty="0" sz="2500" spc="-60" b="1">
                <a:solidFill>
                  <a:srgbClr val="F59D0A"/>
                </a:solidFill>
                <a:latin typeface="Arial"/>
                <a:cs typeface="Arial"/>
              </a:rPr>
              <a:t>Talent</a:t>
            </a:r>
            <a:endParaRPr sz="25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28600" y="170688"/>
            <a:ext cx="3028950" cy="1676400"/>
            <a:chOff x="228600" y="170688"/>
            <a:chExt cx="3028950" cy="1676400"/>
          </a:xfrm>
        </p:grpSpPr>
        <p:sp>
          <p:nvSpPr>
            <p:cNvPr id="22" name="object 22"/>
            <p:cNvSpPr/>
            <p:nvPr/>
          </p:nvSpPr>
          <p:spPr>
            <a:xfrm>
              <a:off x="3248024" y="752474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9524" y="171449"/>
                  </a:moveTo>
                  <a:lnTo>
                    <a:pt x="0" y="17144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171449"/>
                  </a:lnTo>
                  <a:close/>
                </a:path>
              </a:pathLst>
            </a:custGeom>
            <a:solidFill>
              <a:srgbClr val="E4E8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28600" y="170688"/>
              <a:ext cx="1676400" cy="1676400"/>
            </a:xfrm>
            <a:custGeom>
              <a:avLst/>
              <a:gdLst/>
              <a:ahLst/>
              <a:cxnLst/>
              <a:rect l="l" t="t" r="r" b="b"/>
              <a:pathLst>
                <a:path w="1676400" h="1676400">
                  <a:moveTo>
                    <a:pt x="1676399" y="1676399"/>
                  </a:moveTo>
                  <a:lnTo>
                    <a:pt x="0" y="1676399"/>
                  </a:lnTo>
                  <a:lnTo>
                    <a:pt x="0" y="0"/>
                  </a:lnTo>
                  <a:lnTo>
                    <a:pt x="1676399" y="0"/>
                  </a:lnTo>
                  <a:lnTo>
                    <a:pt x="1676399" y="362711"/>
                  </a:lnTo>
                  <a:lnTo>
                    <a:pt x="704849" y="362711"/>
                  </a:lnTo>
                  <a:lnTo>
                    <a:pt x="687960" y="363527"/>
                  </a:lnTo>
                  <a:lnTo>
                    <a:pt x="639238" y="375762"/>
                  </a:lnTo>
                  <a:lnTo>
                    <a:pt x="596135" y="401562"/>
                  </a:lnTo>
                  <a:lnTo>
                    <a:pt x="562267" y="438891"/>
                  </a:lnTo>
                  <a:lnTo>
                    <a:pt x="540740" y="484466"/>
                  </a:lnTo>
                  <a:lnTo>
                    <a:pt x="533399" y="534161"/>
                  </a:lnTo>
                  <a:lnTo>
                    <a:pt x="533399" y="800861"/>
                  </a:lnTo>
                  <a:lnTo>
                    <a:pt x="540740" y="850556"/>
                  </a:lnTo>
                  <a:lnTo>
                    <a:pt x="562267" y="896132"/>
                  </a:lnTo>
                  <a:lnTo>
                    <a:pt x="596135" y="933461"/>
                  </a:lnTo>
                  <a:lnTo>
                    <a:pt x="639238" y="959260"/>
                  </a:lnTo>
                  <a:lnTo>
                    <a:pt x="687960" y="971496"/>
                  </a:lnTo>
                  <a:lnTo>
                    <a:pt x="704849" y="972311"/>
                  </a:lnTo>
                  <a:lnTo>
                    <a:pt x="1676399" y="972311"/>
                  </a:lnTo>
                  <a:lnTo>
                    <a:pt x="1676399" y="1676399"/>
                  </a:lnTo>
                  <a:close/>
                </a:path>
                <a:path w="1676400" h="1676400">
                  <a:moveTo>
                    <a:pt x="1676399" y="972311"/>
                  </a:moveTo>
                  <a:lnTo>
                    <a:pt x="971549" y="972311"/>
                  </a:lnTo>
                  <a:lnTo>
                    <a:pt x="988439" y="971496"/>
                  </a:lnTo>
                  <a:lnTo>
                    <a:pt x="1005004" y="969049"/>
                  </a:lnTo>
                  <a:lnTo>
                    <a:pt x="1052452" y="952044"/>
                  </a:lnTo>
                  <a:lnTo>
                    <a:pt x="1092783" y="922095"/>
                  </a:lnTo>
                  <a:lnTo>
                    <a:pt x="1122732" y="881764"/>
                  </a:lnTo>
                  <a:lnTo>
                    <a:pt x="1139737" y="834316"/>
                  </a:lnTo>
                  <a:lnTo>
                    <a:pt x="1142999" y="800861"/>
                  </a:lnTo>
                  <a:lnTo>
                    <a:pt x="1142999" y="534161"/>
                  </a:lnTo>
                  <a:lnTo>
                    <a:pt x="1135658" y="484466"/>
                  </a:lnTo>
                  <a:lnTo>
                    <a:pt x="1114132" y="438891"/>
                  </a:lnTo>
                  <a:lnTo>
                    <a:pt x="1080263" y="401562"/>
                  </a:lnTo>
                  <a:lnTo>
                    <a:pt x="1037160" y="375762"/>
                  </a:lnTo>
                  <a:lnTo>
                    <a:pt x="988439" y="363527"/>
                  </a:lnTo>
                  <a:lnTo>
                    <a:pt x="971549" y="362711"/>
                  </a:lnTo>
                  <a:lnTo>
                    <a:pt x="1676399" y="362711"/>
                  </a:lnTo>
                  <a:lnTo>
                    <a:pt x="1676399" y="972311"/>
                  </a:lnTo>
                  <a:close/>
                </a:path>
              </a:pathLst>
            </a:custGeom>
            <a:solidFill>
              <a:srgbClr val="2453D5">
                <a:alpha val="2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1999" y="533399"/>
              <a:ext cx="609599" cy="609599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3375669" y="742323"/>
            <a:ext cx="83375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b="1">
                <a:solidFill>
                  <a:srgbClr val="5C6A81"/>
                </a:solidFill>
                <a:latin typeface="Arial"/>
                <a:cs typeface="Arial"/>
              </a:rPr>
              <a:t>BY</a:t>
            </a:r>
            <a:r>
              <a:rPr dirty="0" sz="950" spc="80" b="1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5C6A81"/>
                </a:solidFill>
                <a:latin typeface="Arial"/>
                <a:cs typeface="Arial"/>
              </a:rPr>
              <a:t>AGENT23</a:t>
            </a:r>
            <a:endParaRPr sz="9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17475" y="578696"/>
            <a:ext cx="332740" cy="481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000" spc="18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30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042415" y="393192"/>
            <a:ext cx="524510" cy="527685"/>
            <a:chOff x="1042415" y="393192"/>
            <a:chExt cx="524510" cy="527685"/>
          </a:xfrm>
        </p:grpSpPr>
        <p:sp>
          <p:nvSpPr>
            <p:cNvPr id="28" name="object 28"/>
            <p:cNvSpPr/>
            <p:nvPr/>
          </p:nvSpPr>
          <p:spPr>
            <a:xfrm>
              <a:off x="1042415" y="393192"/>
              <a:ext cx="524510" cy="527685"/>
            </a:xfrm>
            <a:custGeom>
              <a:avLst/>
              <a:gdLst/>
              <a:ahLst/>
              <a:cxnLst/>
              <a:rect l="l" t="t" r="r" b="b"/>
              <a:pathLst>
                <a:path w="524510" h="527685">
                  <a:moveTo>
                    <a:pt x="524255" y="527303"/>
                  </a:moveTo>
                  <a:lnTo>
                    <a:pt x="0" y="527303"/>
                  </a:lnTo>
                  <a:lnTo>
                    <a:pt x="0" y="0"/>
                  </a:lnTo>
                  <a:lnTo>
                    <a:pt x="524255" y="0"/>
                  </a:lnTo>
                  <a:lnTo>
                    <a:pt x="524255" y="111632"/>
                  </a:lnTo>
                  <a:lnTo>
                    <a:pt x="262508" y="111632"/>
                  </a:lnTo>
                  <a:lnTo>
                    <a:pt x="253125" y="112086"/>
                  </a:lnTo>
                  <a:lnTo>
                    <a:pt x="209580" y="127670"/>
                  </a:lnTo>
                  <a:lnTo>
                    <a:pt x="178518" y="161936"/>
                  </a:lnTo>
                  <a:lnTo>
                    <a:pt x="167258" y="206882"/>
                  </a:lnTo>
                  <a:lnTo>
                    <a:pt x="167712" y="216266"/>
                  </a:lnTo>
                  <a:lnTo>
                    <a:pt x="183296" y="259810"/>
                  </a:lnTo>
                  <a:lnTo>
                    <a:pt x="217562" y="290872"/>
                  </a:lnTo>
                  <a:lnTo>
                    <a:pt x="262508" y="302132"/>
                  </a:lnTo>
                  <a:lnTo>
                    <a:pt x="524255" y="302132"/>
                  </a:lnTo>
                  <a:lnTo>
                    <a:pt x="524255" y="527303"/>
                  </a:lnTo>
                  <a:close/>
                </a:path>
                <a:path w="524510" h="527685">
                  <a:moveTo>
                    <a:pt x="524255" y="302132"/>
                  </a:moveTo>
                  <a:lnTo>
                    <a:pt x="262508" y="302132"/>
                  </a:lnTo>
                  <a:lnTo>
                    <a:pt x="271891" y="301679"/>
                  </a:lnTo>
                  <a:lnTo>
                    <a:pt x="281094" y="300320"/>
                  </a:lnTo>
                  <a:lnTo>
                    <a:pt x="322905" y="280549"/>
                  </a:lnTo>
                  <a:lnTo>
                    <a:pt x="350508" y="243333"/>
                  </a:lnTo>
                  <a:lnTo>
                    <a:pt x="357758" y="206882"/>
                  </a:lnTo>
                  <a:lnTo>
                    <a:pt x="357305" y="197499"/>
                  </a:lnTo>
                  <a:lnTo>
                    <a:pt x="341721" y="153954"/>
                  </a:lnTo>
                  <a:lnTo>
                    <a:pt x="307454" y="122892"/>
                  </a:lnTo>
                  <a:lnTo>
                    <a:pt x="262508" y="111632"/>
                  </a:lnTo>
                  <a:lnTo>
                    <a:pt x="524255" y="111632"/>
                  </a:lnTo>
                  <a:lnTo>
                    <a:pt x="524255" y="302132"/>
                  </a:lnTo>
                  <a:close/>
                </a:path>
              </a:pathLst>
            </a:custGeom>
            <a:solidFill>
              <a:srgbClr val="F59D0A">
                <a:alpha val="450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00149" y="495299"/>
              <a:ext cx="209550" cy="20954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271835" y="501650"/>
            <a:ext cx="13652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 b="1">
                <a:solidFill>
                  <a:srgbClr val="FFFFFF"/>
                </a:solidFill>
                <a:latin typeface="Yu Gothic"/>
                <a:cs typeface="Yu Gothic"/>
              </a:rPr>
              <a:t>★</a:t>
            </a:r>
            <a:endParaRPr sz="950">
              <a:latin typeface="Yu Gothic"/>
              <a:cs typeface="Yu Gothic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61999" y="2076449"/>
            <a:ext cx="838200" cy="438150"/>
            <a:chOff x="761999" y="2076449"/>
            <a:chExt cx="838200" cy="438150"/>
          </a:xfrm>
        </p:grpSpPr>
        <p:sp>
          <p:nvSpPr>
            <p:cNvPr id="32" name="object 32"/>
            <p:cNvSpPr/>
            <p:nvPr/>
          </p:nvSpPr>
          <p:spPr>
            <a:xfrm>
              <a:off x="761999" y="2076449"/>
              <a:ext cx="838200" cy="57150"/>
            </a:xfrm>
            <a:custGeom>
              <a:avLst/>
              <a:gdLst/>
              <a:ahLst/>
              <a:cxnLst/>
              <a:rect l="l" t="t" r="r" b="b"/>
              <a:pathLst>
                <a:path w="838200" h="57150">
                  <a:moveTo>
                    <a:pt x="813414" y="57149"/>
                  </a:moveTo>
                  <a:lnTo>
                    <a:pt x="24785" y="57149"/>
                  </a:lnTo>
                  <a:lnTo>
                    <a:pt x="21140" y="56424"/>
                  </a:lnTo>
                  <a:lnTo>
                    <a:pt x="0" y="32364"/>
                  </a:lnTo>
                  <a:lnTo>
                    <a:pt x="0" y="28574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813414" y="0"/>
                  </a:lnTo>
                  <a:lnTo>
                    <a:pt x="838199" y="24785"/>
                  </a:lnTo>
                  <a:lnTo>
                    <a:pt x="838199" y="32364"/>
                  </a:lnTo>
                  <a:lnTo>
                    <a:pt x="817059" y="56424"/>
                  </a:lnTo>
                  <a:lnTo>
                    <a:pt x="813414" y="57149"/>
                  </a:lnTo>
                  <a:close/>
                </a:path>
              </a:pathLst>
            </a:custGeom>
            <a:solidFill>
              <a:srgbClr val="F59D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61999" y="2495549"/>
              <a:ext cx="266700" cy="19050"/>
            </a:xfrm>
            <a:custGeom>
              <a:avLst/>
              <a:gdLst/>
              <a:ahLst/>
              <a:cxnLst/>
              <a:rect l="l" t="t" r="r" b="b"/>
              <a:pathLst>
                <a:path w="266700" h="19050">
                  <a:moveTo>
                    <a:pt x="2666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266699" y="0"/>
                  </a:lnTo>
                  <a:lnTo>
                    <a:pt x="266699" y="19049"/>
                  </a:lnTo>
                  <a:close/>
                </a:path>
              </a:pathLst>
            </a:custGeom>
            <a:solidFill>
              <a:srgbClr val="2453D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1130299" y="2408035"/>
            <a:ext cx="3097530" cy="1955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100" b="1">
                <a:solidFill>
                  <a:srgbClr val="2453D5"/>
                </a:solidFill>
                <a:latin typeface="Arial"/>
                <a:cs typeface="Arial"/>
              </a:rPr>
              <a:t>P</a:t>
            </a:r>
            <a:r>
              <a:rPr dirty="0" sz="1100" spc="-75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100" spc="-70" b="1">
                <a:solidFill>
                  <a:srgbClr val="2453D5"/>
                </a:solidFill>
                <a:latin typeface="Arial"/>
                <a:cs typeface="Arial"/>
              </a:rPr>
              <a:t>R</a:t>
            </a:r>
            <a:r>
              <a:rPr dirty="0" sz="1100" spc="-6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100" spc="-105" b="1">
                <a:solidFill>
                  <a:srgbClr val="2453D5"/>
                </a:solidFill>
                <a:latin typeface="Arial"/>
                <a:cs typeface="Arial"/>
              </a:rPr>
              <a:t>É</a:t>
            </a:r>
            <a:r>
              <a:rPr dirty="0" sz="1100" spc="-15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453D5"/>
                </a:solidFill>
                <a:latin typeface="Arial"/>
                <a:cs typeface="Arial"/>
              </a:rPr>
              <a:t>S</a:t>
            </a:r>
            <a:r>
              <a:rPr dirty="0" sz="1100" spc="-75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100" spc="-105" b="1">
                <a:solidFill>
                  <a:srgbClr val="2453D5"/>
                </a:solidFill>
                <a:latin typeface="Arial"/>
                <a:cs typeface="Arial"/>
              </a:rPr>
              <a:t>E</a:t>
            </a:r>
            <a:r>
              <a:rPr dirty="0" sz="1100" spc="-15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453D5"/>
                </a:solidFill>
                <a:latin typeface="Arial"/>
                <a:cs typeface="Arial"/>
              </a:rPr>
              <a:t>N</a:t>
            </a:r>
            <a:r>
              <a:rPr dirty="0" sz="1100" spc="-4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100" spc="65" b="1">
                <a:solidFill>
                  <a:srgbClr val="2453D5"/>
                </a:solidFill>
                <a:latin typeface="Arial"/>
                <a:cs typeface="Arial"/>
              </a:rPr>
              <a:t>T</a:t>
            </a:r>
            <a:r>
              <a:rPr dirty="0" sz="1100" spc="-14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100" spc="130" b="1">
                <a:solidFill>
                  <a:srgbClr val="2453D5"/>
                </a:solidFill>
                <a:latin typeface="Arial"/>
                <a:cs typeface="Arial"/>
              </a:rPr>
              <a:t>AT</a:t>
            </a:r>
            <a:r>
              <a:rPr dirty="0" sz="1100" spc="-5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453D5"/>
                </a:solidFill>
                <a:latin typeface="Arial"/>
                <a:cs typeface="Arial"/>
              </a:rPr>
              <a:t>I</a:t>
            </a:r>
            <a:r>
              <a:rPr dirty="0" sz="1100" spc="15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453D5"/>
                </a:solidFill>
                <a:latin typeface="Arial"/>
                <a:cs typeface="Arial"/>
              </a:rPr>
              <a:t>O</a:t>
            </a:r>
            <a:r>
              <a:rPr dirty="0" sz="1100" spc="-55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453D5"/>
                </a:solidFill>
                <a:latin typeface="Arial"/>
                <a:cs typeface="Arial"/>
              </a:rPr>
              <a:t>N</a:t>
            </a:r>
            <a:r>
              <a:rPr dirty="0" sz="1100" spc="47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453D5"/>
                </a:solidFill>
                <a:latin typeface="Arial"/>
                <a:cs typeface="Arial"/>
              </a:rPr>
              <a:t>D</a:t>
            </a:r>
            <a:r>
              <a:rPr dirty="0" sz="1100" spc="-45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453D5"/>
                </a:solidFill>
                <a:latin typeface="Arial"/>
                <a:cs typeface="Arial"/>
              </a:rPr>
              <a:t>E</a:t>
            </a:r>
            <a:r>
              <a:rPr dirty="0" sz="1100" spc="47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453D5"/>
                </a:solidFill>
                <a:latin typeface="Arial"/>
                <a:cs typeface="Arial"/>
              </a:rPr>
              <a:t>P</a:t>
            </a:r>
            <a:r>
              <a:rPr dirty="0" sz="1100" spc="-45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100" spc="-70" b="1">
                <a:solidFill>
                  <a:srgbClr val="2453D5"/>
                </a:solidFill>
                <a:latin typeface="Arial"/>
                <a:cs typeface="Arial"/>
              </a:rPr>
              <a:t>R</a:t>
            </a:r>
            <a:r>
              <a:rPr dirty="0" sz="1100" spc="-6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453D5"/>
                </a:solidFill>
                <a:latin typeface="Arial"/>
                <a:cs typeface="Arial"/>
              </a:rPr>
              <a:t>O</a:t>
            </a:r>
            <a:r>
              <a:rPr dirty="0" sz="1100" spc="-55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453D5"/>
                </a:solidFill>
                <a:latin typeface="Arial"/>
                <a:cs typeface="Arial"/>
              </a:rPr>
              <a:t>J</a:t>
            </a:r>
            <a:r>
              <a:rPr dirty="0" sz="1100" spc="-15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100" spc="-105" b="1">
                <a:solidFill>
                  <a:srgbClr val="2453D5"/>
                </a:solidFill>
                <a:latin typeface="Arial"/>
                <a:cs typeface="Arial"/>
              </a:rPr>
              <a:t>E</a:t>
            </a:r>
            <a:r>
              <a:rPr dirty="0" sz="1100" spc="-15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100" spc="65" b="1">
                <a:solidFill>
                  <a:srgbClr val="2453D5"/>
                </a:solidFill>
                <a:latin typeface="Arial"/>
                <a:cs typeface="Arial"/>
              </a:rPr>
              <a:t>T</a:t>
            </a:r>
            <a:r>
              <a:rPr dirty="0" sz="1100" spc="445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100" spc="155" b="1">
                <a:solidFill>
                  <a:srgbClr val="2453D5"/>
                </a:solidFill>
                <a:latin typeface="Arial"/>
                <a:cs typeface="Arial"/>
              </a:rPr>
              <a:t>W</a:t>
            </a:r>
            <a:r>
              <a:rPr dirty="0" sz="1100" spc="-95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100" spc="-105" b="1">
                <a:solidFill>
                  <a:srgbClr val="2453D5"/>
                </a:solidFill>
                <a:latin typeface="Arial"/>
                <a:cs typeface="Arial"/>
              </a:rPr>
              <a:t>E</a:t>
            </a:r>
            <a:r>
              <a:rPr dirty="0" sz="1100" spc="-15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100" spc="-50" b="1">
                <a:solidFill>
                  <a:srgbClr val="2453D5"/>
                </a:solidFill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49300" y="2219855"/>
            <a:ext cx="7855584" cy="2759710"/>
          </a:xfrm>
          <a:prstGeom prst="rect">
            <a:avLst/>
          </a:prstGeom>
        </p:spPr>
        <p:txBody>
          <a:bodyPr wrap="square" lIns="0" tIns="281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20"/>
              </a:spcBef>
            </a:pPr>
            <a:r>
              <a:rPr dirty="0" sz="8950" spc="-790" b="1">
                <a:solidFill>
                  <a:srgbClr val="2453D5"/>
                </a:solidFill>
                <a:latin typeface="Arial"/>
                <a:cs typeface="Arial"/>
              </a:rPr>
              <a:t>A</a:t>
            </a:r>
            <a:r>
              <a:rPr dirty="0" sz="8950" spc="-445" b="1">
                <a:solidFill>
                  <a:srgbClr val="2453D5"/>
                </a:solidFill>
                <a:latin typeface="Arial"/>
                <a:cs typeface="Arial"/>
              </a:rPr>
              <a:t>f</a:t>
            </a:r>
            <a:r>
              <a:rPr dirty="0" sz="8950" spc="-430" b="1">
                <a:solidFill>
                  <a:srgbClr val="2453D5"/>
                </a:solidFill>
                <a:latin typeface="Arial"/>
                <a:cs typeface="Arial"/>
              </a:rPr>
              <a:t>r</a:t>
            </a:r>
            <a:r>
              <a:rPr dirty="0" sz="8950" spc="-55" b="1">
                <a:solidFill>
                  <a:srgbClr val="2453D5"/>
                </a:solidFill>
                <a:latin typeface="Arial"/>
                <a:cs typeface="Arial"/>
              </a:rPr>
              <a:t>i</a:t>
            </a:r>
            <a:r>
              <a:rPr dirty="0" sz="8950" spc="-1095" b="1">
                <a:solidFill>
                  <a:srgbClr val="121725"/>
                </a:solidFill>
                <a:latin typeface="Arial"/>
                <a:cs typeface="Arial"/>
              </a:rPr>
              <a:t>T</a:t>
            </a:r>
            <a:r>
              <a:rPr dirty="0" sz="8950" spc="-315" b="1">
                <a:solidFill>
                  <a:srgbClr val="121725"/>
                </a:solidFill>
                <a:latin typeface="Arial"/>
                <a:cs typeface="Arial"/>
              </a:rPr>
              <a:t>a</a:t>
            </a:r>
            <a:r>
              <a:rPr dirty="0" sz="8950" spc="-65" b="1">
                <a:solidFill>
                  <a:srgbClr val="121725"/>
                </a:solidFill>
                <a:latin typeface="Arial"/>
                <a:cs typeface="Arial"/>
              </a:rPr>
              <a:t>l</a:t>
            </a:r>
            <a:r>
              <a:rPr dirty="0" sz="8950" spc="-480" b="1">
                <a:solidFill>
                  <a:srgbClr val="121725"/>
                </a:solidFill>
                <a:latin typeface="Arial"/>
                <a:cs typeface="Arial"/>
              </a:rPr>
              <a:t>e</a:t>
            </a:r>
            <a:r>
              <a:rPr dirty="0" sz="8950" spc="-345" b="1">
                <a:solidFill>
                  <a:srgbClr val="121725"/>
                </a:solidFill>
                <a:latin typeface="Arial"/>
                <a:cs typeface="Arial"/>
              </a:rPr>
              <a:t>n</a:t>
            </a:r>
            <a:r>
              <a:rPr dirty="0" sz="8950" spc="85" b="1">
                <a:solidFill>
                  <a:srgbClr val="121725"/>
                </a:solidFill>
                <a:latin typeface="Arial"/>
                <a:cs typeface="Arial"/>
              </a:rPr>
              <a:t>t</a:t>
            </a:r>
            <a:endParaRPr sz="8950">
              <a:latin typeface="Arial"/>
              <a:cs typeface="Arial"/>
            </a:endParaRPr>
          </a:p>
          <a:p>
            <a:pPr marL="12700" marR="5080">
              <a:lnSpc>
                <a:spcPts val="2630"/>
              </a:lnSpc>
              <a:spcBef>
                <a:spcPts val="680"/>
              </a:spcBef>
            </a:pPr>
            <a:r>
              <a:rPr dirty="0" sz="2100" spc="-160" b="1">
                <a:solidFill>
                  <a:srgbClr val="121725"/>
                </a:solidFill>
                <a:latin typeface="Arial"/>
                <a:cs typeface="Arial"/>
              </a:rPr>
              <a:t>La</a:t>
            </a:r>
            <a:r>
              <a:rPr dirty="0" sz="2100" spc="-4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2100" spc="-75" b="1">
                <a:solidFill>
                  <a:srgbClr val="121725"/>
                </a:solidFill>
                <a:latin typeface="Arial"/>
                <a:cs typeface="Arial"/>
              </a:rPr>
              <a:t>plateforme</a:t>
            </a:r>
            <a:r>
              <a:rPr dirty="0" sz="2100" spc="-10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2100" spc="-65" b="1">
                <a:solidFill>
                  <a:srgbClr val="121725"/>
                </a:solidFill>
                <a:latin typeface="Arial"/>
                <a:cs typeface="Arial"/>
              </a:rPr>
              <a:t>freelance</a:t>
            </a:r>
            <a:r>
              <a:rPr dirty="0" sz="2100" spc="-10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2100" spc="-80" b="1">
                <a:solidFill>
                  <a:srgbClr val="121725"/>
                </a:solidFill>
                <a:latin typeface="Arial"/>
                <a:cs typeface="Arial"/>
              </a:rPr>
              <a:t>tech</a:t>
            </a:r>
            <a:r>
              <a:rPr dirty="0" sz="2100" spc="-4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2100" spc="-125" b="1">
                <a:solidFill>
                  <a:srgbClr val="121725"/>
                </a:solidFill>
                <a:latin typeface="Arial"/>
                <a:cs typeface="Arial"/>
              </a:rPr>
              <a:t>qui</a:t>
            </a:r>
            <a:r>
              <a:rPr dirty="0" sz="2100" spc="1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2100" spc="-80" b="1">
                <a:solidFill>
                  <a:srgbClr val="121725"/>
                </a:solidFill>
                <a:latin typeface="Arial"/>
                <a:cs typeface="Arial"/>
              </a:rPr>
              <a:t>connecte</a:t>
            </a:r>
            <a:r>
              <a:rPr dirty="0" sz="2100" spc="-10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2100" spc="-65" b="1">
                <a:solidFill>
                  <a:srgbClr val="121725"/>
                </a:solidFill>
                <a:latin typeface="Arial"/>
                <a:cs typeface="Arial"/>
              </a:rPr>
              <a:t>l</a:t>
            </a:r>
            <a:r>
              <a:rPr dirty="0" sz="2250" spc="-65" b="1">
                <a:solidFill>
                  <a:srgbClr val="121725"/>
                </a:solidFill>
                <a:latin typeface="Palatino Linotype"/>
                <a:cs typeface="Palatino Linotype"/>
              </a:rPr>
              <a:t>'</a:t>
            </a:r>
            <a:r>
              <a:rPr dirty="0" sz="2100" spc="-65" b="1">
                <a:solidFill>
                  <a:srgbClr val="121725"/>
                </a:solidFill>
                <a:latin typeface="Arial"/>
                <a:cs typeface="Arial"/>
              </a:rPr>
              <a:t>expertise</a:t>
            </a:r>
            <a:r>
              <a:rPr dirty="0" sz="2100" spc="-10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2100" spc="-65" b="1">
                <a:solidFill>
                  <a:srgbClr val="121725"/>
                </a:solidFill>
                <a:latin typeface="Arial"/>
                <a:cs typeface="Arial"/>
              </a:rPr>
              <a:t>africaine</a:t>
            </a:r>
            <a:r>
              <a:rPr dirty="0" sz="2100" spc="-10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2100" spc="-25" b="1">
                <a:solidFill>
                  <a:srgbClr val="121725"/>
                </a:solidFill>
                <a:latin typeface="Arial"/>
                <a:cs typeface="Arial"/>
              </a:rPr>
              <a:t>aux </a:t>
            </a:r>
            <a:r>
              <a:rPr dirty="0" sz="2100" spc="-95" b="1">
                <a:solidFill>
                  <a:srgbClr val="121725"/>
                </a:solidFill>
                <a:latin typeface="Arial"/>
                <a:cs typeface="Arial"/>
              </a:rPr>
              <a:t>projets</a:t>
            </a:r>
            <a:r>
              <a:rPr dirty="0" sz="2100" spc="-9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121725"/>
                </a:solidFill>
                <a:latin typeface="Arial"/>
                <a:cs typeface="Arial"/>
              </a:rPr>
              <a:t>ambitieux</a:t>
            </a:r>
            <a:r>
              <a:rPr dirty="0" sz="2250" spc="-10" b="1">
                <a:solidFill>
                  <a:srgbClr val="121725"/>
                </a:solidFill>
                <a:latin typeface="Palatino Linotype"/>
                <a:cs typeface="Palatino Linotype"/>
              </a:rPr>
              <a:t>.</a:t>
            </a:r>
            <a:endParaRPr sz="22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300" spc="-20">
                <a:solidFill>
                  <a:srgbClr val="5C6A81"/>
                </a:solidFill>
                <a:latin typeface="Microsoft Sans Serif"/>
                <a:cs typeface="Microsoft Sans Serif"/>
              </a:rPr>
              <a:t>Analyse</a:t>
            </a:r>
            <a:r>
              <a:rPr dirty="0" sz="1300" spc="-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5C6A81"/>
                </a:solidFill>
                <a:latin typeface="Microsoft Sans Serif"/>
                <a:cs typeface="Microsoft Sans Serif"/>
              </a:rPr>
              <a:t>complète</a:t>
            </a:r>
            <a:r>
              <a:rPr dirty="0" sz="1300" spc="-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5C6A81"/>
                </a:solidFill>
                <a:latin typeface="Microsoft Sans Serif"/>
                <a:cs typeface="Microsoft Sans Serif"/>
              </a:rPr>
              <a:t>du</a:t>
            </a:r>
            <a:r>
              <a:rPr dirty="0" sz="130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5C6A81"/>
                </a:solidFill>
                <a:latin typeface="Microsoft Sans Serif"/>
                <a:cs typeface="Microsoft Sans Serif"/>
              </a:rPr>
              <a:t>fonctionnement</a:t>
            </a:r>
            <a:r>
              <a:rPr dirty="0" sz="125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250" spc="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dirty="0" sz="130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5C6A81"/>
                </a:solidFill>
                <a:latin typeface="Microsoft Sans Serif"/>
                <a:cs typeface="Microsoft Sans Serif"/>
              </a:rPr>
              <a:t>la</a:t>
            </a:r>
            <a:r>
              <a:rPr dirty="0" sz="130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5C6A81"/>
                </a:solidFill>
                <a:latin typeface="Microsoft Sans Serif"/>
                <a:cs typeface="Microsoft Sans Serif"/>
              </a:rPr>
              <a:t>structure</a:t>
            </a:r>
            <a:r>
              <a:rPr dirty="0" sz="130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dirty="0" sz="1300" spc="-5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dirty="0" sz="1300" spc="-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5C6A81"/>
                </a:solidFill>
                <a:latin typeface="Microsoft Sans Serif"/>
                <a:cs typeface="Microsoft Sans Serif"/>
              </a:rPr>
              <a:t>la</a:t>
            </a:r>
            <a:r>
              <a:rPr dirty="0" sz="130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5C6A81"/>
                </a:solidFill>
                <a:latin typeface="Microsoft Sans Serif"/>
                <a:cs typeface="Microsoft Sans Serif"/>
              </a:rPr>
              <a:t>conception</a:t>
            </a:r>
            <a:r>
              <a:rPr dirty="0" sz="130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5C6A81"/>
                </a:solidFill>
                <a:latin typeface="Microsoft Sans Serif"/>
                <a:cs typeface="Microsoft Sans Serif"/>
              </a:rPr>
              <a:t>du</a:t>
            </a:r>
            <a:r>
              <a:rPr dirty="0" sz="130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5C6A81"/>
                </a:solidFill>
                <a:latin typeface="Microsoft Sans Serif"/>
                <a:cs typeface="Microsoft Sans Serif"/>
              </a:rPr>
              <a:t>site</a:t>
            </a:r>
            <a:r>
              <a:rPr dirty="0" sz="125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250">
              <a:latin typeface="Microsoft Sans Serif"/>
              <a:cs typeface="Microsoft Sans Serif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76071" y="3152774"/>
            <a:ext cx="5526405" cy="3415665"/>
            <a:chOff x="576071" y="3152774"/>
            <a:chExt cx="5526405" cy="3415665"/>
          </a:xfrm>
        </p:grpSpPr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91174" y="3152774"/>
              <a:ext cx="171449" cy="17144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6071" y="5824727"/>
              <a:ext cx="5526023" cy="743711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1101724" y="6033522"/>
            <a:ext cx="1294130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30" b="1">
                <a:solidFill>
                  <a:srgbClr val="121725"/>
                </a:solidFill>
                <a:latin typeface="Arial"/>
                <a:cs typeface="Arial"/>
              </a:rPr>
              <a:t>Plateforme</a:t>
            </a:r>
            <a:r>
              <a:rPr dirty="0" sz="1050" spc="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21725"/>
                </a:solidFill>
                <a:latin typeface="Arial"/>
                <a:cs typeface="Arial"/>
              </a:rPr>
              <a:t>freelance</a:t>
            </a:r>
            <a:endParaRPr sz="10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016398" y="6033522"/>
            <a:ext cx="132905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30" b="1">
                <a:solidFill>
                  <a:srgbClr val="121725"/>
                </a:solidFill>
                <a:latin typeface="Arial"/>
                <a:cs typeface="Arial"/>
              </a:rPr>
              <a:t>Talents</a:t>
            </a:r>
            <a:r>
              <a:rPr dirty="0" sz="1050" spc="-5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121725"/>
                </a:solidFill>
                <a:latin typeface="Arial"/>
                <a:cs typeface="Arial"/>
              </a:rPr>
              <a:t>tech </a:t>
            </a:r>
            <a:r>
              <a:rPr dirty="0" sz="1050" spc="-10" b="1">
                <a:solidFill>
                  <a:srgbClr val="121725"/>
                </a:solidFill>
                <a:latin typeface="Arial"/>
                <a:cs typeface="Arial"/>
              </a:rPr>
              <a:t>africains</a:t>
            </a:r>
            <a:endParaRPr sz="10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965898" y="6033522"/>
            <a:ext cx="78422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30" b="1">
                <a:solidFill>
                  <a:srgbClr val="121725"/>
                </a:solidFill>
                <a:latin typeface="Arial"/>
                <a:cs typeface="Arial"/>
              </a:rPr>
              <a:t>Site</a:t>
            </a:r>
            <a:r>
              <a:rPr dirty="0" sz="1050" spc="-5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121725"/>
                </a:solidFill>
                <a:latin typeface="Arial"/>
                <a:cs typeface="Arial"/>
              </a:rPr>
              <a:t>statique</a:t>
            </a:r>
            <a:endParaRPr sz="10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126388" y="5879310"/>
            <a:ext cx="2313305" cy="42545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Présenté</a:t>
            </a:r>
            <a:r>
              <a:rPr dirty="0" sz="950" spc="6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par</a:t>
            </a:r>
            <a:r>
              <a:rPr dirty="0" sz="950" spc="6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:</a:t>
            </a:r>
            <a:r>
              <a:rPr dirty="0" sz="950" spc="1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950" b="1">
                <a:solidFill>
                  <a:srgbClr val="121725"/>
                </a:solidFill>
                <a:latin typeface="Arial"/>
                <a:cs typeface="Arial"/>
              </a:rPr>
              <a:t>Muteba</a:t>
            </a:r>
            <a:r>
              <a:rPr dirty="0" sz="950" spc="2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21725"/>
                </a:solidFill>
                <a:latin typeface="Arial"/>
                <a:cs typeface="Arial"/>
              </a:rPr>
              <a:t>Wa</a:t>
            </a:r>
            <a:r>
              <a:rPr dirty="0" sz="950" spc="2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21725"/>
                </a:solidFill>
                <a:latin typeface="Arial"/>
                <a:cs typeface="Arial"/>
              </a:rPr>
              <a:t>Muteba</a:t>
            </a:r>
            <a:r>
              <a:rPr dirty="0" sz="950" spc="2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121725"/>
                </a:solidFill>
                <a:latin typeface="Arial"/>
                <a:cs typeface="Arial"/>
              </a:rPr>
              <a:t>Israël</a:t>
            </a:r>
            <a:endParaRPr sz="950">
              <a:latin typeface="Arial"/>
              <a:cs typeface="Arial"/>
            </a:endParaRPr>
          </a:p>
          <a:p>
            <a:pPr marL="1310005">
              <a:lnSpc>
                <a:spcPct val="100000"/>
              </a:lnSpc>
              <a:spcBef>
                <a:spcPts val="434"/>
              </a:spcBef>
            </a:pP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Projet</a:t>
            </a:r>
            <a:r>
              <a:rPr dirty="0" sz="950" spc="5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web</a:t>
            </a:r>
            <a:r>
              <a:rPr dirty="0" sz="950" spc="6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dirty="0" sz="950" spc="1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20">
                <a:solidFill>
                  <a:srgbClr val="5C6A81"/>
                </a:solidFill>
                <a:latin typeface="Microsoft Sans Serif"/>
                <a:cs typeface="Microsoft Sans Serif"/>
              </a:rPr>
              <a:t>2026</a:t>
            </a:r>
            <a:endParaRPr sz="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53068" y="566061"/>
            <a:ext cx="85407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b="1">
                <a:solidFill>
                  <a:srgbClr val="5C6A81"/>
                </a:solidFill>
                <a:latin typeface="Arial"/>
                <a:cs typeface="Arial"/>
              </a:rPr>
              <a:t>Slide</a:t>
            </a:r>
            <a:r>
              <a:rPr dirty="0" sz="1150" spc="30" b="1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dirty="0" sz="1100" spc="70" b="1">
                <a:solidFill>
                  <a:srgbClr val="5C6A81"/>
                </a:solidFill>
                <a:latin typeface="Arial"/>
                <a:cs typeface="Arial"/>
              </a:rPr>
              <a:t>02</a:t>
            </a:r>
            <a:r>
              <a:rPr dirty="0" sz="1100" spc="65" b="1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dirty="0" sz="1100" spc="110" b="1">
                <a:solidFill>
                  <a:srgbClr val="5C6A81"/>
                </a:solidFill>
                <a:latin typeface="Arial"/>
                <a:cs typeface="Arial"/>
              </a:rPr>
              <a:t>/</a:t>
            </a:r>
            <a:r>
              <a:rPr dirty="0" sz="1100" spc="30" b="1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dirty="0" sz="1100" spc="-120" b="1">
                <a:solidFill>
                  <a:srgbClr val="5C6A81"/>
                </a:solidFill>
                <a:latin typeface="Arial"/>
                <a:cs typeface="Arial"/>
              </a:rPr>
              <a:t>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85799" y="1790699"/>
            <a:ext cx="533400" cy="38100"/>
          </a:xfrm>
          <a:custGeom>
            <a:avLst/>
            <a:gdLst/>
            <a:ahLst/>
            <a:cxnLst/>
            <a:rect l="l" t="t" r="r" b="b"/>
            <a:pathLst>
              <a:path w="533400" h="38100">
                <a:moveTo>
                  <a:pt x="5168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9049"/>
                </a:lnTo>
                <a:lnTo>
                  <a:pt x="0" y="16523"/>
                </a:lnTo>
                <a:lnTo>
                  <a:pt x="16523" y="0"/>
                </a:lnTo>
                <a:lnTo>
                  <a:pt x="516876" y="0"/>
                </a:lnTo>
                <a:lnTo>
                  <a:pt x="533399" y="16523"/>
                </a:lnTo>
                <a:lnTo>
                  <a:pt x="533399" y="21576"/>
                </a:lnTo>
                <a:lnTo>
                  <a:pt x="519306" y="37616"/>
                </a:lnTo>
                <a:lnTo>
                  <a:pt x="516876" y="38099"/>
                </a:lnTo>
                <a:close/>
              </a:path>
            </a:pathLst>
          </a:custGeom>
          <a:solidFill>
            <a:srgbClr val="F59D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73100" y="1056643"/>
            <a:ext cx="160337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65" b="1">
                <a:solidFill>
                  <a:srgbClr val="2453D5"/>
                </a:solidFill>
                <a:latin typeface="Arial"/>
                <a:cs typeface="Arial"/>
              </a:rPr>
              <a:t>CONTEXTE</a:t>
            </a:r>
            <a:r>
              <a:rPr dirty="0" sz="950" spc="145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2453D5"/>
                </a:solidFill>
                <a:latin typeface="Cambria"/>
                <a:cs typeface="Cambria"/>
              </a:rPr>
              <a:t>&amp;</a:t>
            </a:r>
            <a:r>
              <a:rPr dirty="0" sz="950" spc="155" b="1">
                <a:solidFill>
                  <a:srgbClr val="2453D5"/>
                </a:solidFill>
                <a:latin typeface="Cambria"/>
                <a:cs typeface="Cambria"/>
              </a:rPr>
              <a:t> </a:t>
            </a:r>
            <a:r>
              <a:rPr dirty="0" sz="950" spc="50" b="1">
                <a:solidFill>
                  <a:srgbClr val="2453D5"/>
                </a:solidFill>
                <a:latin typeface="Arial"/>
                <a:cs typeface="Arial"/>
              </a:rPr>
              <a:t>OBJECTI</a:t>
            </a:r>
            <a:r>
              <a:rPr dirty="0" sz="950" spc="-12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950" spc="-50" b="1">
                <a:solidFill>
                  <a:srgbClr val="2453D5"/>
                </a:solidFill>
                <a:latin typeface="Arial"/>
                <a:cs typeface="Arial"/>
              </a:rPr>
              <a:t>F</a:t>
            </a:r>
            <a:endParaRPr sz="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100" y="1214536"/>
            <a:ext cx="4865370" cy="5073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150" spc="-190" b="1">
                <a:solidFill>
                  <a:srgbClr val="121725"/>
                </a:solidFill>
                <a:latin typeface="Arial"/>
                <a:cs typeface="Arial"/>
              </a:rPr>
              <a:t>Pourquoi</a:t>
            </a:r>
            <a:r>
              <a:rPr dirty="0" sz="3150" spc="-26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3150" spc="-80" b="1">
                <a:solidFill>
                  <a:srgbClr val="121725"/>
                </a:solidFill>
                <a:latin typeface="Arial"/>
                <a:cs typeface="Arial"/>
              </a:rPr>
              <a:t>AfriTalent</a:t>
            </a:r>
            <a:r>
              <a:rPr dirty="0" sz="3150" spc="-42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3150" spc="-80" b="1">
                <a:solidFill>
                  <a:srgbClr val="121725"/>
                </a:solidFill>
                <a:latin typeface="Arial"/>
                <a:cs typeface="Arial"/>
              </a:rPr>
              <a:t>existe</a:t>
            </a:r>
            <a:r>
              <a:rPr dirty="0" sz="3150" spc="-44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3000" spc="-50" b="1">
                <a:solidFill>
                  <a:srgbClr val="121725"/>
                </a:solidFill>
                <a:latin typeface="Arial"/>
                <a:cs typeface="Arial"/>
              </a:rPr>
              <a:t>?</a:t>
            </a:r>
            <a:endParaRPr sz="30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03504" y="1975104"/>
            <a:ext cx="6525895" cy="4450080"/>
            <a:chOff x="603504" y="1975104"/>
            <a:chExt cx="6525895" cy="445008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3504" y="1975104"/>
              <a:ext cx="6525767" cy="445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9649" y="2343150"/>
              <a:ext cx="209550" cy="20955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482725" y="2125627"/>
            <a:ext cx="5290185" cy="956944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1450" spc="-65" b="1">
                <a:solidFill>
                  <a:srgbClr val="121725"/>
                </a:solidFill>
                <a:latin typeface="Arial"/>
                <a:cs typeface="Arial"/>
              </a:rPr>
              <a:t>Un</a:t>
            </a:r>
            <a:r>
              <a:rPr dirty="0" sz="1450" spc="-10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450" spc="-50" b="1">
                <a:solidFill>
                  <a:srgbClr val="121725"/>
                </a:solidFill>
                <a:latin typeface="Arial"/>
                <a:cs typeface="Arial"/>
              </a:rPr>
              <a:t>besoin</a:t>
            </a:r>
            <a:r>
              <a:rPr dirty="0" sz="1450" spc="-9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450" spc="-20" b="1">
                <a:solidFill>
                  <a:srgbClr val="121725"/>
                </a:solidFill>
                <a:latin typeface="Arial"/>
                <a:cs typeface="Arial"/>
              </a:rPr>
              <a:t>réel</a:t>
            </a:r>
            <a:endParaRPr sz="1450">
              <a:latin typeface="Arial"/>
              <a:cs typeface="Arial"/>
            </a:endParaRPr>
          </a:p>
          <a:p>
            <a:pPr marL="12700" marR="5080">
              <a:lnSpc>
                <a:spcPct val="119500"/>
              </a:lnSpc>
              <a:spcBef>
                <a:spcPts val="105"/>
              </a:spcBef>
            </a:pP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Les</a:t>
            </a:r>
            <a:r>
              <a:rPr dirty="0" sz="1100" spc="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talents</a:t>
            </a:r>
            <a:r>
              <a:rPr dirty="0" sz="1100" spc="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tech</a:t>
            </a:r>
            <a:r>
              <a:rPr dirty="0" sz="1100" spc="7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africains</a:t>
            </a:r>
            <a:r>
              <a:rPr dirty="0" sz="1100" spc="5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manquent</a:t>
            </a:r>
            <a:r>
              <a:rPr dirty="0" sz="110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souvent</a:t>
            </a:r>
            <a:r>
              <a:rPr dirty="0" sz="110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dirty="0" sz="1100" spc="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visibilité</a:t>
            </a:r>
            <a:r>
              <a:rPr dirty="0" sz="1100" spc="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sur</a:t>
            </a:r>
            <a:r>
              <a:rPr dirty="0" sz="1100" spc="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dirty="0" sz="1100" spc="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marché</a:t>
            </a:r>
            <a:r>
              <a:rPr dirty="0" sz="1100" spc="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international</a:t>
            </a:r>
            <a:r>
              <a:rPr dirty="0" sz="1200" spc="-10">
                <a:solidFill>
                  <a:srgbClr val="5C6A81"/>
                </a:solidFill>
                <a:latin typeface="Microsoft Sans Serif"/>
                <a:cs typeface="Microsoft Sans Serif"/>
              </a:rPr>
              <a:t>,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tandis</a:t>
            </a:r>
            <a:r>
              <a:rPr dirty="0" sz="1100" spc="5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que</a:t>
            </a:r>
            <a:r>
              <a:rPr dirty="0" sz="1100" spc="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les</a:t>
            </a:r>
            <a:r>
              <a:rPr dirty="0" sz="1100" spc="6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entreprises</a:t>
            </a:r>
            <a:r>
              <a:rPr dirty="0" sz="1100" spc="6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peinent</a:t>
            </a:r>
            <a:r>
              <a:rPr dirty="0" sz="1100" spc="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à</a:t>
            </a:r>
            <a:r>
              <a:rPr dirty="0" sz="1100" spc="8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sourcer</a:t>
            </a:r>
            <a:r>
              <a:rPr dirty="0" sz="1100" spc="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rapidement</a:t>
            </a:r>
            <a:r>
              <a:rPr dirty="0" sz="1100" spc="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des</a:t>
            </a:r>
            <a:r>
              <a:rPr dirty="0" sz="1100" spc="6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profils</a:t>
            </a:r>
            <a:r>
              <a:rPr dirty="0" sz="1100" spc="5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qualifiés</a:t>
            </a:r>
            <a:r>
              <a:rPr dirty="0" sz="1100" spc="6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5">
                <a:solidFill>
                  <a:srgbClr val="5C6A81"/>
                </a:solidFill>
                <a:latin typeface="Microsoft Sans Serif"/>
                <a:cs typeface="Microsoft Sans Serif"/>
              </a:rPr>
              <a:t>et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fiables</a:t>
            </a:r>
            <a:r>
              <a:rPr dirty="0" sz="120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85799" y="2038349"/>
            <a:ext cx="10820400" cy="4305300"/>
            <a:chOff x="685799" y="2038349"/>
            <a:chExt cx="10820400" cy="430530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9649" y="3819524"/>
              <a:ext cx="209550" cy="1905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0599" y="5318124"/>
              <a:ext cx="247650" cy="1270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58049" y="2038349"/>
              <a:ext cx="4248149" cy="428624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0172777" y="2038349"/>
              <a:ext cx="1333500" cy="1333500"/>
            </a:xfrm>
            <a:custGeom>
              <a:avLst/>
              <a:gdLst/>
              <a:ahLst/>
              <a:cxnLst/>
              <a:rect l="l" t="t" r="r" b="b"/>
              <a:pathLst>
                <a:path w="1333500" h="1333500">
                  <a:moveTo>
                    <a:pt x="1060529" y="1333420"/>
                  </a:moveTo>
                  <a:lnTo>
                    <a:pt x="1034810" y="1333420"/>
                  </a:lnTo>
                  <a:lnTo>
                    <a:pt x="1021953" y="1333184"/>
                  </a:lnTo>
                  <a:lnTo>
                    <a:pt x="983420" y="1331527"/>
                  </a:lnTo>
                  <a:lnTo>
                    <a:pt x="944974" y="1328454"/>
                  </a:lnTo>
                  <a:lnTo>
                    <a:pt x="906664" y="1323967"/>
                  </a:lnTo>
                  <a:lnTo>
                    <a:pt x="868545" y="1318074"/>
                  </a:lnTo>
                  <a:lnTo>
                    <a:pt x="830668" y="1310781"/>
                  </a:lnTo>
                  <a:lnTo>
                    <a:pt x="793088" y="1302099"/>
                  </a:lnTo>
                  <a:lnTo>
                    <a:pt x="755853" y="1292041"/>
                  </a:lnTo>
                  <a:lnTo>
                    <a:pt x="719010" y="1280617"/>
                  </a:lnTo>
                  <a:lnTo>
                    <a:pt x="682613" y="1267846"/>
                  </a:lnTo>
                  <a:lnTo>
                    <a:pt x="646713" y="1253744"/>
                  </a:lnTo>
                  <a:lnTo>
                    <a:pt x="611357" y="1238330"/>
                  </a:lnTo>
                  <a:lnTo>
                    <a:pt x="576591" y="1221624"/>
                  </a:lnTo>
                  <a:lnTo>
                    <a:pt x="542462" y="1203651"/>
                  </a:lnTo>
                  <a:lnTo>
                    <a:pt x="509020" y="1184434"/>
                  </a:lnTo>
                  <a:lnTo>
                    <a:pt x="476307" y="1163999"/>
                  </a:lnTo>
                  <a:lnTo>
                    <a:pt x="444367" y="1142373"/>
                  </a:lnTo>
                  <a:lnTo>
                    <a:pt x="413246" y="1119587"/>
                  </a:lnTo>
                  <a:lnTo>
                    <a:pt x="382985" y="1095671"/>
                  </a:lnTo>
                  <a:lnTo>
                    <a:pt x="353625" y="1070658"/>
                  </a:lnTo>
                  <a:lnTo>
                    <a:pt x="325204" y="1044579"/>
                  </a:lnTo>
                  <a:lnTo>
                    <a:pt x="297762" y="1017472"/>
                  </a:lnTo>
                  <a:lnTo>
                    <a:pt x="271340" y="989375"/>
                  </a:lnTo>
                  <a:lnTo>
                    <a:pt x="245968" y="960324"/>
                  </a:lnTo>
                  <a:lnTo>
                    <a:pt x="221681" y="930358"/>
                  </a:lnTo>
                  <a:lnTo>
                    <a:pt x="198513" y="899518"/>
                  </a:lnTo>
                  <a:lnTo>
                    <a:pt x="176498" y="867848"/>
                  </a:lnTo>
                  <a:lnTo>
                    <a:pt x="155663" y="835389"/>
                  </a:lnTo>
                  <a:lnTo>
                    <a:pt x="136035" y="802184"/>
                  </a:lnTo>
                  <a:lnTo>
                    <a:pt x="117644" y="768278"/>
                  </a:lnTo>
                  <a:lnTo>
                    <a:pt x="100514" y="733720"/>
                  </a:lnTo>
                  <a:lnTo>
                    <a:pt x="84668" y="698555"/>
                  </a:lnTo>
                  <a:lnTo>
                    <a:pt x="70126" y="662829"/>
                  </a:lnTo>
                  <a:lnTo>
                    <a:pt x="56909" y="626592"/>
                  </a:lnTo>
                  <a:lnTo>
                    <a:pt x="45036" y="589895"/>
                  </a:lnTo>
                  <a:lnTo>
                    <a:pt x="34520" y="552786"/>
                  </a:lnTo>
                  <a:lnTo>
                    <a:pt x="25377" y="515312"/>
                  </a:lnTo>
                  <a:lnTo>
                    <a:pt x="17620" y="477528"/>
                  </a:lnTo>
                  <a:lnTo>
                    <a:pt x="11261" y="439486"/>
                  </a:lnTo>
                  <a:lnTo>
                    <a:pt x="6305" y="401236"/>
                  </a:lnTo>
                  <a:lnTo>
                    <a:pt x="2759" y="362827"/>
                  </a:lnTo>
                  <a:lnTo>
                    <a:pt x="630" y="324313"/>
                  </a:lnTo>
                  <a:lnTo>
                    <a:pt x="0" y="298608"/>
                  </a:lnTo>
                  <a:lnTo>
                    <a:pt x="0" y="272891"/>
                  </a:lnTo>
                  <a:lnTo>
                    <a:pt x="1183" y="234339"/>
                  </a:lnTo>
                  <a:lnTo>
                    <a:pt x="3784" y="195856"/>
                  </a:lnTo>
                  <a:lnTo>
                    <a:pt x="7800" y="157493"/>
                  </a:lnTo>
                  <a:lnTo>
                    <a:pt x="13225" y="119305"/>
                  </a:lnTo>
                  <a:lnTo>
                    <a:pt x="20051" y="81343"/>
                  </a:lnTo>
                  <a:lnTo>
                    <a:pt x="28271" y="43659"/>
                  </a:lnTo>
                  <a:lnTo>
                    <a:pt x="37873" y="6301"/>
                  </a:lnTo>
                  <a:lnTo>
                    <a:pt x="39659" y="0"/>
                  </a:lnTo>
                  <a:lnTo>
                    <a:pt x="1161972" y="0"/>
                  </a:lnTo>
                  <a:lnTo>
                    <a:pt x="1211666" y="7340"/>
                  </a:lnTo>
                  <a:lnTo>
                    <a:pt x="1257241" y="28867"/>
                  </a:lnTo>
                  <a:lnTo>
                    <a:pt x="1294570" y="62735"/>
                  </a:lnTo>
                  <a:lnTo>
                    <a:pt x="1320370" y="105838"/>
                  </a:lnTo>
                  <a:lnTo>
                    <a:pt x="1332606" y="154560"/>
                  </a:lnTo>
                  <a:lnTo>
                    <a:pt x="1333422" y="1293760"/>
                  </a:lnTo>
                  <a:lnTo>
                    <a:pt x="1327120" y="1295546"/>
                  </a:lnTo>
                  <a:lnTo>
                    <a:pt x="1289762" y="1305147"/>
                  </a:lnTo>
                  <a:lnTo>
                    <a:pt x="1252076" y="1313367"/>
                  </a:lnTo>
                  <a:lnTo>
                    <a:pt x="1214114" y="1320194"/>
                  </a:lnTo>
                  <a:lnTo>
                    <a:pt x="1175926" y="1325620"/>
                  </a:lnTo>
                  <a:lnTo>
                    <a:pt x="1137564" y="1329636"/>
                  </a:lnTo>
                  <a:lnTo>
                    <a:pt x="1099081" y="1332237"/>
                  </a:lnTo>
                  <a:lnTo>
                    <a:pt x="1060529" y="1333420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58049" y="4227575"/>
              <a:ext cx="2486405" cy="209702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85799" y="6334124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108203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0820399" y="0"/>
                  </a:lnTo>
                  <a:lnTo>
                    <a:pt x="10820399" y="9524"/>
                  </a:lnTo>
                  <a:close/>
                </a:path>
              </a:pathLst>
            </a:custGeom>
            <a:solidFill>
              <a:srgbClr val="E4E8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22120" y="2333624"/>
              <a:ext cx="127000" cy="762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482725" y="3580927"/>
            <a:ext cx="5281295" cy="75882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450" spc="-40" b="1">
                <a:solidFill>
                  <a:srgbClr val="121725"/>
                </a:solidFill>
                <a:latin typeface="Arial"/>
                <a:cs typeface="Arial"/>
              </a:rPr>
              <a:t>Une</a:t>
            </a:r>
            <a:r>
              <a:rPr dirty="0" sz="1450" spc="-13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450" spc="-30" b="1">
                <a:solidFill>
                  <a:srgbClr val="121725"/>
                </a:solidFill>
                <a:latin typeface="Arial"/>
                <a:cs typeface="Arial"/>
              </a:rPr>
              <a:t>plateforme</a:t>
            </a:r>
            <a:r>
              <a:rPr dirty="0" sz="1450" spc="-13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121725"/>
                </a:solidFill>
                <a:latin typeface="Arial"/>
                <a:cs typeface="Arial"/>
              </a:rPr>
              <a:t>de</a:t>
            </a:r>
            <a:r>
              <a:rPr dirty="0" sz="1450" spc="-13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450" spc="-40" b="1">
                <a:solidFill>
                  <a:srgbClr val="121725"/>
                </a:solidFill>
                <a:latin typeface="Arial"/>
                <a:cs typeface="Arial"/>
              </a:rPr>
              <a:t>mise</a:t>
            </a:r>
            <a:r>
              <a:rPr dirty="0" sz="1450" spc="-13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450" spc="-30" b="1">
                <a:solidFill>
                  <a:srgbClr val="121725"/>
                </a:solidFill>
                <a:latin typeface="Arial"/>
                <a:cs typeface="Arial"/>
              </a:rPr>
              <a:t>en</a:t>
            </a:r>
            <a:r>
              <a:rPr dirty="0" sz="1450" spc="-9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121725"/>
                </a:solidFill>
                <a:latin typeface="Arial"/>
                <a:cs typeface="Arial"/>
              </a:rPr>
              <a:t>relation</a:t>
            </a:r>
            <a:endParaRPr sz="1450">
              <a:latin typeface="Arial"/>
              <a:cs typeface="Arial"/>
            </a:endParaRPr>
          </a:p>
          <a:p>
            <a:pPr marL="12700" marR="5080">
              <a:lnSpc>
                <a:spcPct val="109400"/>
              </a:lnSpc>
              <a:spcBef>
                <a:spcPts val="325"/>
              </a:spcBef>
            </a:pP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AfriTalent</a:t>
            </a:r>
            <a:r>
              <a:rPr dirty="0" sz="1100" spc="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connecte</a:t>
            </a:r>
            <a:r>
              <a:rPr dirty="0" sz="1100" spc="5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directement</a:t>
            </a:r>
            <a:r>
              <a:rPr dirty="0" sz="1100" spc="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les</a:t>
            </a:r>
            <a:r>
              <a:rPr dirty="0" sz="1100" spc="6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entreprises</a:t>
            </a:r>
            <a:r>
              <a:rPr dirty="0" sz="1100" spc="6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dirty="0" sz="1100" spc="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les</a:t>
            </a:r>
            <a:r>
              <a:rPr dirty="0" sz="1100" spc="6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freelances</a:t>
            </a:r>
            <a:r>
              <a:rPr dirty="0" sz="1100" spc="6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tech</a:t>
            </a:r>
            <a:r>
              <a:rPr dirty="0" sz="1100" spc="9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vérifiés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200" spc="114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avec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un</a:t>
            </a:r>
            <a:r>
              <a:rPr dirty="0" sz="1100" spc="7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contact</a:t>
            </a:r>
            <a:r>
              <a:rPr dirty="0" sz="110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facilité</a:t>
            </a:r>
            <a:r>
              <a:rPr dirty="0" sz="1100" spc="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via</a:t>
            </a:r>
            <a:r>
              <a:rPr dirty="0" sz="1100" spc="7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WhatsApp</a:t>
            </a:r>
            <a:r>
              <a:rPr dirty="0" sz="1100" spc="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dirty="0" sz="1100" spc="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un</a:t>
            </a:r>
            <a:r>
              <a:rPr dirty="0" sz="1100" spc="7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cadre</a:t>
            </a:r>
            <a:r>
              <a:rPr dirty="0" sz="1100" spc="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dirty="0" sz="1100" spc="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paiement</a:t>
            </a:r>
            <a:r>
              <a:rPr dirty="0" sz="1100" spc="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sécurisé</a:t>
            </a:r>
            <a:r>
              <a:rPr dirty="0" sz="120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82725" y="5047777"/>
            <a:ext cx="5285105" cy="96837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450" spc="-65" b="1">
                <a:solidFill>
                  <a:srgbClr val="121725"/>
                </a:solidFill>
                <a:latin typeface="Arial"/>
                <a:cs typeface="Arial"/>
              </a:rPr>
              <a:t>Un</a:t>
            </a:r>
            <a:r>
              <a:rPr dirty="0" sz="1450" spc="-10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450" spc="-40" b="1">
                <a:solidFill>
                  <a:srgbClr val="121725"/>
                </a:solidFill>
                <a:latin typeface="Arial"/>
                <a:cs typeface="Arial"/>
              </a:rPr>
              <a:t>public</a:t>
            </a:r>
            <a:r>
              <a:rPr dirty="0" sz="1450" spc="-13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121725"/>
                </a:solidFill>
                <a:latin typeface="Arial"/>
                <a:cs typeface="Arial"/>
              </a:rPr>
              <a:t>double</a:t>
            </a:r>
            <a:endParaRPr sz="1450">
              <a:latin typeface="Arial"/>
              <a:cs typeface="Arial"/>
            </a:endParaRPr>
          </a:p>
          <a:p>
            <a:pPr marL="12700" marR="5080">
              <a:lnSpc>
                <a:spcPct val="112000"/>
              </a:lnSpc>
              <a:spcBef>
                <a:spcPts val="290"/>
              </a:spcBef>
            </a:pP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dirty="0" sz="110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site</a:t>
            </a:r>
            <a:r>
              <a:rPr dirty="0" sz="1100" spc="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s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adresse</a:t>
            </a:r>
            <a:r>
              <a:rPr dirty="0" sz="110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aux</a:t>
            </a:r>
            <a:r>
              <a:rPr dirty="0" sz="110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entreprises</a:t>
            </a:r>
            <a:r>
              <a:rPr dirty="0" sz="1100" spc="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(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startups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200" spc="8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40">
                <a:solidFill>
                  <a:srgbClr val="5C6A81"/>
                </a:solidFill>
                <a:latin typeface="Microsoft Sans Serif"/>
                <a:cs typeface="Microsoft Sans Serif"/>
              </a:rPr>
              <a:t>PME</a:t>
            </a:r>
            <a:r>
              <a:rPr dirty="0" sz="1200" spc="-40">
                <a:solidFill>
                  <a:srgbClr val="5C6A81"/>
                </a:solidFill>
                <a:latin typeface="Microsoft Sans Serif"/>
                <a:cs typeface="Microsoft Sans Serif"/>
              </a:rPr>
              <a:t>)</a:t>
            </a:r>
            <a:r>
              <a:rPr dirty="0" sz="1200" spc="10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cherchant</a:t>
            </a:r>
            <a:r>
              <a:rPr dirty="0" sz="1100" spc="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des</a:t>
            </a:r>
            <a:r>
              <a:rPr dirty="0" sz="1100" spc="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compétences</a:t>
            </a:r>
            <a:r>
              <a:rPr dirty="0" sz="1100" spc="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tech</a:t>
            </a:r>
            <a:r>
              <a:rPr dirty="0" sz="1200" spc="-10">
                <a:solidFill>
                  <a:srgbClr val="5C6A81"/>
                </a:solidFill>
                <a:latin typeface="Microsoft Sans Serif"/>
                <a:cs typeface="Microsoft Sans Serif"/>
              </a:rPr>
              <a:t>, </a:t>
            </a:r>
            <a:r>
              <a:rPr dirty="0" sz="1100" spc="-3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 aux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freelances</a:t>
            </a:r>
            <a:r>
              <a:rPr dirty="0" sz="110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africains</a:t>
            </a:r>
            <a:r>
              <a:rPr dirty="0" sz="110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(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développeurs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200" spc="5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designers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200" spc="5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data</a:t>
            </a:r>
            <a:r>
              <a:rPr dirty="0" sz="1100" spc="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scientists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)</a:t>
            </a:r>
            <a:r>
              <a:rPr dirty="0" sz="1200" spc="7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cherchant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visibilité</a:t>
            </a:r>
            <a:r>
              <a:rPr dirty="0" sz="1100" spc="6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dirty="0" sz="1100" spc="5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missions</a:t>
            </a:r>
            <a:r>
              <a:rPr dirty="0" sz="120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200">
              <a:latin typeface="Microsoft Sans Serif"/>
              <a:cs typeface="Microsoft Sans Serif"/>
            </a:endParaRPr>
          </a:p>
        </p:txBody>
      </p:sp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85799" y="533400"/>
            <a:ext cx="266699" cy="266699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753318" y="534987"/>
            <a:ext cx="2249805" cy="23685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4005" algn="l"/>
              </a:tabLst>
            </a:pPr>
            <a:r>
              <a:rPr dirty="0" sz="1100" spc="3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300" spc="-20" b="1">
                <a:solidFill>
                  <a:srgbClr val="2453D5"/>
                </a:solidFill>
                <a:latin typeface="Arial"/>
                <a:cs typeface="Arial"/>
              </a:rPr>
              <a:t>AfriTalent</a:t>
            </a:r>
            <a:r>
              <a:rPr dirty="0" sz="1300" spc="-8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350" spc="-50" b="1">
                <a:solidFill>
                  <a:srgbClr val="2453D5"/>
                </a:solidFill>
                <a:latin typeface="Arial"/>
                <a:cs typeface="Arial"/>
              </a:rPr>
              <a:t>—</a:t>
            </a:r>
            <a:r>
              <a:rPr dirty="0" sz="1350" spc="-21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300" spc="-25" b="1">
                <a:solidFill>
                  <a:srgbClr val="2453D5"/>
                </a:solidFill>
                <a:latin typeface="Arial"/>
                <a:cs typeface="Arial"/>
              </a:rPr>
              <a:t>Présentation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57249" y="552449"/>
            <a:ext cx="76199" cy="76199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7725319" y="2275848"/>
            <a:ext cx="191325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50" b="1">
                <a:solidFill>
                  <a:srgbClr val="FEFEFE"/>
                </a:solidFill>
                <a:latin typeface="Arial"/>
                <a:cs typeface="Arial"/>
              </a:rPr>
              <a:t>I</a:t>
            </a:r>
            <a:r>
              <a:rPr dirty="0" sz="950" spc="-80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EFEFE"/>
                </a:solidFill>
                <a:latin typeface="Arial"/>
                <a:cs typeface="Arial"/>
              </a:rPr>
              <a:t>NDI</a:t>
            </a:r>
            <a:r>
              <a:rPr dirty="0" sz="950" spc="-75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EFEFE"/>
                </a:solidFill>
                <a:latin typeface="Arial"/>
                <a:cs typeface="Arial"/>
              </a:rPr>
              <a:t>CATEURS</a:t>
            </a:r>
            <a:r>
              <a:rPr dirty="0" sz="950" spc="265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EFEFE"/>
                </a:solidFill>
                <a:latin typeface="Arial"/>
                <a:cs typeface="Arial"/>
              </a:rPr>
              <a:t>DE</a:t>
            </a:r>
            <a:r>
              <a:rPr dirty="0" sz="950" spc="285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950" spc="60" b="1">
                <a:solidFill>
                  <a:srgbClr val="FEFEFE"/>
                </a:solidFill>
                <a:latin typeface="Arial"/>
                <a:cs typeface="Arial"/>
              </a:rPr>
              <a:t>TRACTI</a:t>
            </a:r>
            <a:r>
              <a:rPr dirty="0" sz="950" spc="-75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950" spc="-25" b="1">
                <a:solidFill>
                  <a:srgbClr val="FEFEFE"/>
                </a:solidFill>
                <a:latin typeface="Arial"/>
                <a:cs typeface="Arial"/>
              </a:rPr>
              <a:t>ON</a:t>
            </a:r>
            <a:endParaRPr sz="95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505687" y="3305187"/>
            <a:ext cx="3752850" cy="952500"/>
          </a:xfrm>
          <a:custGeom>
            <a:avLst/>
            <a:gdLst/>
            <a:ahLst/>
            <a:cxnLst/>
            <a:rect l="l" t="t" r="r" b="b"/>
            <a:pathLst>
              <a:path w="3752850" h="952500">
                <a:moveTo>
                  <a:pt x="3752850" y="942962"/>
                </a:moveTo>
                <a:lnTo>
                  <a:pt x="0" y="942962"/>
                </a:lnTo>
                <a:lnTo>
                  <a:pt x="0" y="952487"/>
                </a:lnTo>
                <a:lnTo>
                  <a:pt x="3752850" y="952487"/>
                </a:lnTo>
                <a:lnTo>
                  <a:pt x="3752850" y="942962"/>
                </a:lnTo>
                <a:close/>
              </a:path>
              <a:path w="3752850" h="952500">
                <a:moveTo>
                  <a:pt x="3752850" y="0"/>
                </a:moveTo>
                <a:lnTo>
                  <a:pt x="0" y="0"/>
                </a:lnTo>
                <a:lnTo>
                  <a:pt x="0" y="9525"/>
                </a:lnTo>
                <a:lnTo>
                  <a:pt x="3752850" y="9525"/>
                </a:lnTo>
                <a:lnTo>
                  <a:pt x="3752850" y="0"/>
                </a:lnTo>
                <a:close/>
              </a:path>
            </a:pathLst>
          </a:custGeom>
          <a:solidFill>
            <a:srgbClr val="FFFFFF">
              <a:alpha val="1607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7496719" y="2326663"/>
            <a:ext cx="1617980" cy="836930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3500" spc="229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3500" spc="-5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500" spc="170" b="1">
                <a:solidFill>
                  <a:srgbClr val="FFFFFF"/>
                </a:solidFill>
                <a:latin typeface="Arial"/>
                <a:cs typeface="Arial"/>
              </a:rPr>
              <a:t>500</a:t>
            </a:r>
            <a:r>
              <a:rPr dirty="0" sz="3500" spc="170" b="1">
                <a:solidFill>
                  <a:srgbClr val="F59D0A"/>
                </a:solidFill>
                <a:latin typeface="Arial"/>
                <a:cs typeface="Arial"/>
              </a:rPr>
              <a:t>+</a:t>
            </a:r>
            <a:endParaRPr sz="3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000" b="1">
                <a:solidFill>
                  <a:srgbClr val="FEFEFE"/>
                </a:solidFill>
                <a:latin typeface="Arial"/>
                <a:cs typeface="Arial"/>
              </a:rPr>
              <a:t>FREELANCES</a:t>
            </a:r>
            <a:r>
              <a:rPr dirty="0" sz="1000" spc="295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00" spc="-75" b="1">
                <a:solidFill>
                  <a:srgbClr val="FEFEFE"/>
                </a:solidFill>
                <a:latin typeface="Arial"/>
                <a:cs typeface="Arial"/>
              </a:rPr>
              <a:t>I</a:t>
            </a:r>
            <a:r>
              <a:rPr dirty="0" sz="1000" spc="-85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EFEFE"/>
                </a:solidFill>
                <a:latin typeface="Arial"/>
                <a:cs typeface="Arial"/>
              </a:rPr>
              <a:t>NSCRI</a:t>
            </a:r>
            <a:r>
              <a:rPr dirty="0" sz="1000" spc="-80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FEFEFE"/>
                </a:solidFill>
                <a:latin typeface="Arial"/>
                <a:cs typeface="Arial"/>
              </a:rPr>
              <a:t>TS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496719" y="3260113"/>
            <a:ext cx="1965960" cy="836930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3500" spc="195" b="1">
                <a:solidFill>
                  <a:srgbClr val="FFFFFF"/>
                </a:solidFill>
                <a:latin typeface="Arial"/>
                <a:cs typeface="Arial"/>
              </a:rPr>
              <a:t>800</a:t>
            </a:r>
            <a:r>
              <a:rPr dirty="0" sz="3500" spc="195" b="1">
                <a:solidFill>
                  <a:srgbClr val="F59D0A"/>
                </a:solidFill>
                <a:latin typeface="Arial"/>
                <a:cs typeface="Arial"/>
              </a:rPr>
              <a:t>+</a:t>
            </a:r>
            <a:endParaRPr sz="3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000" spc="10" b="1">
                <a:solidFill>
                  <a:srgbClr val="FEFEFE"/>
                </a:solidFill>
                <a:latin typeface="Arial"/>
                <a:cs typeface="Arial"/>
              </a:rPr>
              <a:t>ENTREPRI</a:t>
            </a:r>
            <a:r>
              <a:rPr dirty="0" sz="1000" spc="-125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00" spc="10" b="1">
                <a:solidFill>
                  <a:srgbClr val="FEFEFE"/>
                </a:solidFill>
                <a:latin typeface="Arial"/>
                <a:cs typeface="Arial"/>
              </a:rPr>
              <a:t>SES</a:t>
            </a:r>
            <a:r>
              <a:rPr dirty="0" sz="1000" spc="175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00" spc="10" b="1">
                <a:solidFill>
                  <a:srgbClr val="FEFEFE"/>
                </a:solidFill>
                <a:latin typeface="Arial"/>
                <a:cs typeface="Arial"/>
              </a:rPr>
              <a:t>PARTENAI</a:t>
            </a:r>
            <a:r>
              <a:rPr dirty="0" sz="1000" spc="-125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FEFEFE"/>
                </a:solidFill>
                <a:latin typeface="Arial"/>
                <a:cs typeface="Arial"/>
              </a:rPr>
              <a:t>RES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96719" y="4203088"/>
            <a:ext cx="1665605" cy="836930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3500" spc="-175" b="1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dirty="0" sz="3500" spc="-5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500" spc="225" b="1">
                <a:solidFill>
                  <a:srgbClr val="FFFFFF"/>
                </a:solidFill>
                <a:latin typeface="Arial"/>
                <a:cs typeface="Arial"/>
              </a:rPr>
              <a:t>000</a:t>
            </a:r>
            <a:r>
              <a:rPr dirty="0" sz="3500" spc="225" b="1">
                <a:solidFill>
                  <a:srgbClr val="F59D0A"/>
                </a:solidFill>
                <a:latin typeface="Arial"/>
                <a:cs typeface="Arial"/>
              </a:rPr>
              <a:t>+</a:t>
            </a:r>
            <a:endParaRPr sz="3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000" b="1">
                <a:solidFill>
                  <a:srgbClr val="FEFEFE"/>
                </a:solidFill>
                <a:latin typeface="Arial"/>
                <a:cs typeface="Arial"/>
              </a:rPr>
              <a:t>MI</a:t>
            </a:r>
            <a:r>
              <a:rPr dirty="0" sz="1000" spc="-105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EFEFE"/>
                </a:solidFill>
                <a:latin typeface="Arial"/>
                <a:cs typeface="Arial"/>
              </a:rPr>
              <a:t>SSI</a:t>
            </a:r>
            <a:r>
              <a:rPr dirty="0" sz="1000" spc="-105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EFEFE"/>
                </a:solidFill>
                <a:latin typeface="Arial"/>
                <a:cs typeface="Arial"/>
              </a:rPr>
              <a:t>ONS</a:t>
            </a:r>
            <a:r>
              <a:rPr dirty="0" sz="1000" spc="225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EFEFE"/>
                </a:solidFill>
                <a:latin typeface="Arial"/>
                <a:cs typeface="Arial"/>
              </a:rPr>
              <a:t>RÉALI</a:t>
            </a:r>
            <a:r>
              <a:rPr dirty="0" sz="1000" spc="-105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FEFEFE"/>
                </a:solidFill>
                <a:latin typeface="Arial"/>
                <a:cs typeface="Arial"/>
              </a:rPr>
              <a:t>SÉES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505699" y="5219699"/>
            <a:ext cx="3752850" cy="276225"/>
            <a:chOff x="7505699" y="5219699"/>
            <a:chExt cx="3752850" cy="276225"/>
          </a:xfrm>
        </p:grpSpPr>
        <p:sp>
          <p:nvSpPr>
            <p:cNvPr id="29" name="object 29"/>
            <p:cNvSpPr/>
            <p:nvPr/>
          </p:nvSpPr>
          <p:spPr>
            <a:xfrm>
              <a:off x="7505699" y="5219699"/>
              <a:ext cx="3752850" cy="9525"/>
            </a:xfrm>
            <a:custGeom>
              <a:avLst/>
              <a:gdLst/>
              <a:ahLst/>
              <a:cxnLst/>
              <a:rect l="l" t="t" r="r" b="b"/>
              <a:pathLst>
                <a:path w="3752850" h="9525">
                  <a:moveTo>
                    <a:pt x="37528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3752849" y="0"/>
                  </a:lnTo>
                  <a:lnTo>
                    <a:pt x="3752849" y="9524"/>
                  </a:lnTo>
                  <a:close/>
                </a:path>
              </a:pathLst>
            </a:custGeom>
            <a:solidFill>
              <a:srgbClr val="FFFFFF">
                <a:alpha val="120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518945" y="5381624"/>
              <a:ext cx="114300" cy="11430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7706269" y="5332266"/>
            <a:ext cx="2472055" cy="1727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>
                <a:solidFill>
                  <a:srgbClr val="FEFEFE"/>
                </a:solidFill>
                <a:latin typeface="Microsoft Sans Serif"/>
                <a:cs typeface="Microsoft Sans Serif"/>
              </a:rPr>
              <a:t>Chiffres</a:t>
            </a:r>
            <a:r>
              <a:rPr dirty="0" sz="850" spc="4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FEFEFE"/>
                </a:solidFill>
                <a:latin typeface="Microsoft Sans Serif"/>
                <a:cs typeface="Microsoft Sans Serif"/>
              </a:rPr>
              <a:t>affichés</a:t>
            </a:r>
            <a:r>
              <a:rPr dirty="0" sz="850" spc="5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FEFEFE"/>
                </a:solidFill>
                <a:latin typeface="Microsoft Sans Serif"/>
                <a:cs typeface="Microsoft Sans Serif"/>
              </a:rPr>
              <a:t>sur</a:t>
            </a:r>
            <a:r>
              <a:rPr dirty="0" sz="850" spc="3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FEFEFE"/>
                </a:solidFill>
                <a:latin typeface="Microsoft Sans Serif"/>
                <a:cs typeface="Microsoft Sans Serif"/>
              </a:rPr>
              <a:t>le</a:t>
            </a:r>
            <a:r>
              <a:rPr dirty="0" sz="850" spc="4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FEFEFE"/>
                </a:solidFill>
                <a:latin typeface="Microsoft Sans Serif"/>
                <a:cs typeface="Microsoft Sans Serif"/>
              </a:rPr>
              <a:t>site</a:t>
            </a:r>
            <a:r>
              <a:rPr dirty="0" sz="850" spc="4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FEFEFE"/>
                </a:solidFill>
                <a:latin typeface="Microsoft Sans Serif"/>
                <a:cs typeface="Microsoft Sans Serif"/>
              </a:rPr>
              <a:t>(</a:t>
            </a:r>
            <a:r>
              <a:rPr dirty="0" sz="850">
                <a:solidFill>
                  <a:srgbClr val="FEFEFE"/>
                </a:solidFill>
                <a:latin typeface="Microsoft Sans Serif"/>
                <a:cs typeface="Microsoft Sans Serif"/>
              </a:rPr>
              <a:t>animateurs</a:t>
            </a:r>
            <a:r>
              <a:rPr dirty="0" sz="850" spc="4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FEFEFE"/>
                </a:solidFill>
                <a:latin typeface="Microsoft Sans Serif"/>
                <a:cs typeface="Microsoft Sans Serif"/>
              </a:rPr>
              <a:t>au</a:t>
            </a:r>
            <a:r>
              <a:rPr dirty="0" sz="850" spc="7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FEFEFE"/>
                </a:solidFill>
                <a:latin typeface="Microsoft Sans Serif"/>
                <a:cs typeface="Microsoft Sans Serif"/>
              </a:rPr>
              <a:t>scroll</a:t>
            </a:r>
            <a:r>
              <a:rPr dirty="0" sz="950" spc="-10">
                <a:solidFill>
                  <a:srgbClr val="FEFEFE"/>
                </a:solidFill>
                <a:latin typeface="Microsoft Sans Serif"/>
                <a:cs typeface="Microsoft Sans Serif"/>
              </a:rPr>
              <a:t>).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73100" y="6474593"/>
            <a:ext cx="1210310" cy="161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AfriTalent By</a:t>
            </a:r>
            <a:r>
              <a:rPr dirty="0" sz="950" spc="-10">
                <a:solidFill>
                  <a:srgbClr val="5C6A81"/>
                </a:solidFill>
                <a:latin typeface="Microsoft Sans Serif"/>
                <a:cs typeface="Microsoft Sans Serif"/>
              </a:rPr>
              <a:t> Agent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23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25717" y="6474593"/>
            <a:ext cx="2992120" cy="161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Contact</a:t>
            </a:r>
            <a:r>
              <a:rPr dirty="0" sz="95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:</a:t>
            </a:r>
            <a:r>
              <a:rPr dirty="0" sz="1050" spc="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40">
                <a:solidFill>
                  <a:srgbClr val="5C6A81"/>
                </a:solidFill>
                <a:latin typeface="Microsoft Sans Serif"/>
                <a:cs typeface="Microsoft Sans Serif"/>
                <a:hlinkClick r:id="rId12"/>
              </a:rPr>
              <a:t>agent</a:t>
            </a:r>
            <a:r>
              <a:rPr dirty="0" sz="1050" spc="-40">
                <a:solidFill>
                  <a:srgbClr val="5C6A81"/>
                </a:solidFill>
                <a:latin typeface="Microsoft Sans Serif"/>
                <a:cs typeface="Microsoft Sans Serif"/>
                <a:hlinkClick r:id="rId12"/>
              </a:rPr>
              <a:t>210601@</a:t>
            </a:r>
            <a:r>
              <a:rPr dirty="0" sz="950" spc="-40">
                <a:solidFill>
                  <a:srgbClr val="5C6A81"/>
                </a:solidFill>
                <a:latin typeface="Microsoft Sans Serif"/>
                <a:cs typeface="Microsoft Sans Serif"/>
                <a:hlinkClick r:id="rId12"/>
              </a:rPr>
              <a:t>gmail</a:t>
            </a:r>
            <a:r>
              <a:rPr dirty="0" sz="1050" spc="-40">
                <a:solidFill>
                  <a:srgbClr val="5C6A81"/>
                </a:solidFill>
                <a:latin typeface="Microsoft Sans Serif"/>
                <a:cs typeface="Microsoft Sans Serif"/>
                <a:hlinkClick r:id="rId12"/>
              </a:rPr>
              <a:t>.</a:t>
            </a:r>
            <a:r>
              <a:rPr dirty="0" sz="950" spc="-40">
                <a:solidFill>
                  <a:srgbClr val="5C6A81"/>
                </a:solidFill>
                <a:latin typeface="Microsoft Sans Serif"/>
                <a:cs typeface="Microsoft Sans Serif"/>
                <a:hlinkClick r:id="rId12"/>
              </a:rPr>
              <a:t>com</a:t>
            </a:r>
            <a:r>
              <a:rPr dirty="0" sz="95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dirty="0" sz="1050" spc="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5">
                <a:solidFill>
                  <a:srgbClr val="5C6A81"/>
                </a:solidFill>
                <a:latin typeface="Microsoft Sans Serif"/>
                <a:cs typeface="Microsoft Sans Serif"/>
              </a:rPr>
              <a:t>+221</a:t>
            </a:r>
            <a:r>
              <a:rPr dirty="0" sz="10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85">
                <a:solidFill>
                  <a:srgbClr val="5C6A81"/>
                </a:solidFill>
                <a:latin typeface="Microsoft Sans Serif"/>
                <a:cs typeface="Microsoft Sans Serif"/>
              </a:rPr>
              <a:t>71</a:t>
            </a:r>
            <a:r>
              <a:rPr dirty="0" sz="10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008</a:t>
            </a:r>
            <a:r>
              <a:rPr dirty="0" sz="105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00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86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51282" y="566061"/>
            <a:ext cx="855344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b="1">
                <a:solidFill>
                  <a:srgbClr val="5C6A81"/>
                </a:solidFill>
                <a:latin typeface="Arial"/>
                <a:cs typeface="Arial"/>
              </a:rPr>
              <a:t>Slide</a:t>
            </a:r>
            <a:r>
              <a:rPr dirty="0" sz="1150" spc="30" b="1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dirty="0" sz="1100" spc="85" b="1">
                <a:solidFill>
                  <a:srgbClr val="5C6A81"/>
                </a:solidFill>
                <a:latin typeface="Arial"/>
                <a:cs typeface="Arial"/>
              </a:rPr>
              <a:t>03</a:t>
            </a:r>
            <a:r>
              <a:rPr dirty="0" sz="1100" spc="55" b="1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dirty="0" sz="1100" spc="110" b="1">
                <a:solidFill>
                  <a:srgbClr val="5C6A81"/>
                </a:solidFill>
                <a:latin typeface="Arial"/>
                <a:cs typeface="Arial"/>
              </a:rPr>
              <a:t>/</a:t>
            </a:r>
            <a:r>
              <a:rPr dirty="0" sz="1100" spc="35" b="1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dirty="0" sz="1100" spc="-130" b="1">
                <a:solidFill>
                  <a:srgbClr val="5C6A81"/>
                </a:solidFill>
                <a:latin typeface="Arial"/>
                <a:cs typeface="Arial"/>
              </a:rPr>
              <a:t>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85799" y="1790699"/>
            <a:ext cx="533400" cy="38100"/>
          </a:xfrm>
          <a:custGeom>
            <a:avLst/>
            <a:gdLst/>
            <a:ahLst/>
            <a:cxnLst/>
            <a:rect l="l" t="t" r="r" b="b"/>
            <a:pathLst>
              <a:path w="533400" h="38100">
                <a:moveTo>
                  <a:pt x="5168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9049"/>
                </a:lnTo>
                <a:lnTo>
                  <a:pt x="0" y="16523"/>
                </a:lnTo>
                <a:lnTo>
                  <a:pt x="16523" y="0"/>
                </a:lnTo>
                <a:lnTo>
                  <a:pt x="516876" y="0"/>
                </a:lnTo>
                <a:lnTo>
                  <a:pt x="533399" y="16523"/>
                </a:lnTo>
                <a:lnTo>
                  <a:pt x="533399" y="21576"/>
                </a:lnTo>
                <a:lnTo>
                  <a:pt x="519306" y="37616"/>
                </a:lnTo>
                <a:lnTo>
                  <a:pt x="516876" y="38099"/>
                </a:lnTo>
                <a:close/>
              </a:path>
            </a:pathLst>
          </a:custGeom>
          <a:solidFill>
            <a:srgbClr val="F59D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73100" y="1045765"/>
            <a:ext cx="4433570" cy="6762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b="1">
                <a:solidFill>
                  <a:srgbClr val="2453D5"/>
                </a:solidFill>
                <a:latin typeface="Arial"/>
                <a:cs typeface="Arial"/>
              </a:rPr>
              <a:t>VUE</a:t>
            </a:r>
            <a:r>
              <a:rPr dirty="0" sz="950" spc="229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950" spc="-30" b="1">
                <a:solidFill>
                  <a:srgbClr val="2453D5"/>
                </a:solidFill>
                <a:latin typeface="Arial"/>
                <a:cs typeface="Arial"/>
              </a:rPr>
              <a:t>D</a:t>
            </a:r>
            <a:r>
              <a:rPr dirty="0" sz="950" spc="-16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050" spc="-55">
                <a:solidFill>
                  <a:srgbClr val="2453D5"/>
                </a:solidFill>
                <a:latin typeface="Arial Black"/>
                <a:cs typeface="Arial Black"/>
              </a:rPr>
              <a:t>'</a:t>
            </a:r>
            <a:r>
              <a:rPr dirty="0" sz="1050" spc="-125">
                <a:solidFill>
                  <a:srgbClr val="2453D5"/>
                </a:solidFill>
                <a:latin typeface="Arial Black"/>
                <a:cs typeface="Arial Black"/>
              </a:rPr>
              <a:t> </a:t>
            </a:r>
            <a:r>
              <a:rPr dirty="0" sz="950" spc="-10" b="1">
                <a:solidFill>
                  <a:srgbClr val="2453D5"/>
                </a:solidFill>
                <a:latin typeface="Arial"/>
                <a:cs typeface="Arial"/>
              </a:rPr>
              <a:t>ENSEMBLE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150" spc="420" b="1">
                <a:solidFill>
                  <a:srgbClr val="121725"/>
                </a:solidFill>
                <a:latin typeface="Trebuchet MS"/>
                <a:cs typeface="Trebuchet MS"/>
              </a:rPr>
              <a:t>À</a:t>
            </a:r>
            <a:r>
              <a:rPr dirty="0" sz="3150" spc="-625" b="1">
                <a:solidFill>
                  <a:srgbClr val="121725"/>
                </a:solidFill>
                <a:latin typeface="Trebuchet MS"/>
                <a:cs typeface="Trebuchet MS"/>
              </a:rPr>
              <a:t> </a:t>
            </a:r>
            <a:r>
              <a:rPr dirty="0" sz="3150" spc="-105" b="1">
                <a:solidFill>
                  <a:srgbClr val="121725"/>
                </a:solidFill>
                <a:latin typeface="Trebuchet MS"/>
                <a:cs typeface="Trebuchet MS"/>
              </a:rPr>
              <a:t>quoi</a:t>
            </a:r>
            <a:r>
              <a:rPr dirty="0" sz="3150" spc="-375" b="1">
                <a:solidFill>
                  <a:srgbClr val="121725"/>
                </a:solidFill>
                <a:latin typeface="Trebuchet MS"/>
                <a:cs typeface="Trebuchet MS"/>
              </a:rPr>
              <a:t> </a:t>
            </a:r>
            <a:r>
              <a:rPr dirty="0" sz="3150" spc="-50" b="1">
                <a:solidFill>
                  <a:srgbClr val="121725"/>
                </a:solidFill>
                <a:latin typeface="Trebuchet MS"/>
                <a:cs typeface="Trebuchet MS"/>
              </a:rPr>
              <a:t>ressemble</a:t>
            </a:r>
            <a:r>
              <a:rPr dirty="0" sz="3150" spc="-550" b="1">
                <a:solidFill>
                  <a:srgbClr val="121725"/>
                </a:solidFill>
                <a:latin typeface="Trebuchet MS"/>
                <a:cs typeface="Trebuchet MS"/>
              </a:rPr>
              <a:t> </a:t>
            </a:r>
            <a:r>
              <a:rPr dirty="0" sz="3150" spc="-90" b="1">
                <a:solidFill>
                  <a:srgbClr val="121725"/>
                </a:solidFill>
                <a:latin typeface="Trebuchet MS"/>
                <a:cs typeface="Trebuchet MS"/>
              </a:rPr>
              <a:t>le</a:t>
            </a:r>
            <a:r>
              <a:rPr dirty="0" sz="3150" spc="-550" b="1">
                <a:solidFill>
                  <a:srgbClr val="121725"/>
                </a:solidFill>
                <a:latin typeface="Trebuchet MS"/>
                <a:cs typeface="Trebuchet MS"/>
              </a:rPr>
              <a:t> </a:t>
            </a:r>
            <a:r>
              <a:rPr dirty="0" sz="3150" spc="-40" b="1">
                <a:solidFill>
                  <a:srgbClr val="121725"/>
                </a:solidFill>
                <a:latin typeface="Trebuchet MS"/>
                <a:cs typeface="Trebuchet MS"/>
              </a:rPr>
              <a:t>site</a:t>
            </a:r>
            <a:r>
              <a:rPr dirty="0" sz="3150" spc="-550" b="1">
                <a:solidFill>
                  <a:srgbClr val="121725"/>
                </a:solidFill>
                <a:latin typeface="Trebuchet MS"/>
                <a:cs typeface="Trebuchet MS"/>
              </a:rPr>
              <a:t> </a:t>
            </a:r>
            <a:r>
              <a:rPr dirty="0" sz="3000" spc="-50" b="1">
                <a:solidFill>
                  <a:srgbClr val="121725"/>
                </a:solidFill>
                <a:latin typeface="Arial"/>
                <a:cs typeface="Arial"/>
              </a:rPr>
              <a:t>?</a:t>
            </a:r>
            <a:endParaRPr sz="3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100" y="1934964"/>
            <a:ext cx="8324850" cy="435609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20"/>
              </a:spcBef>
            </a:pP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AfriTalent</a:t>
            </a:r>
            <a:r>
              <a:rPr dirty="0" sz="120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est</a:t>
            </a:r>
            <a:r>
              <a:rPr dirty="0" sz="120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un</a:t>
            </a:r>
            <a:r>
              <a:rPr dirty="0" sz="1200" spc="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site</a:t>
            </a:r>
            <a:r>
              <a:rPr dirty="0" sz="120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vitrine</a:t>
            </a:r>
            <a:r>
              <a:rPr dirty="0" sz="120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moderne</a:t>
            </a:r>
            <a:r>
              <a:rPr dirty="0" sz="120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dirty="0" sz="120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professionnel</a:t>
            </a:r>
            <a:r>
              <a:rPr dirty="0" sz="130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300" spc="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à</a:t>
            </a:r>
            <a:r>
              <a:rPr dirty="0" sz="120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l</a:t>
            </a:r>
            <a:r>
              <a:rPr dirty="0" sz="130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interface</a:t>
            </a:r>
            <a:r>
              <a:rPr dirty="0" sz="120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claire</a:t>
            </a:r>
            <a:r>
              <a:rPr dirty="0" sz="120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dirty="0" sz="120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5C6A81"/>
                </a:solidFill>
                <a:latin typeface="Microsoft Sans Serif"/>
                <a:cs typeface="Microsoft Sans Serif"/>
              </a:rPr>
              <a:t>épurée</a:t>
            </a:r>
            <a:r>
              <a:rPr dirty="0" sz="1300" spc="-1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300" spc="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conçu</a:t>
            </a:r>
            <a:r>
              <a:rPr dirty="0" sz="120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pour</a:t>
            </a:r>
            <a:r>
              <a:rPr dirty="0" sz="12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mettre</a:t>
            </a:r>
            <a:r>
              <a:rPr dirty="0" sz="120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en</a:t>
            </a:r>
            <a:r>
              <a:rPr dirty="0" sz="1200" spc="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valeur</a:t>
            </a:r>
            <a:r>
              <a:rPr dirty="0" sz="12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les </a:t>
            </a:r>
            <a:r>
              <a:rPr dirty="0" sz="1200" spc="-10">
                <a:solidFill>
                  <a:srgbClr val="5C6A81"/>
                </a:solidFill>
                <a:latin typeface="Microsoft Sans Serif"/>
                <a:cs typeface="Microsoft Sans Serif"/>
              </a:rPr>
              <a:t>talents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tech</a:t>
            </a:r>
            <a:r>
              <a:rPr dirty="0" sz="1200" spc="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5C6A81"/>
                </a:solidFill>
                <a:latin typeface="Microsoft Sans Serif"/>
                <a:cs typeface="Microsoft Sans Serif"/>
              </a:rPr>
              <a:t>africains</a:t>
            </a:r>
            <a:r>
              <a:rPr dirty="0" sz="130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799" y="533400"/>
            <a:ext cx="266699" cy="2666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53318" y="534987"/>
            <a:ext cx="2249805" cy="23685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4005" algn="l"/>
              </a:tabLst>
            </a:pPr>
            <a:r>
              <a:rPr dirty="0" sz="1100" spc="3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300" spc="-20" b="1">
                <a:solidFill>
                  <a:srgbClr val="2453D5"/>
                </a:solidFill>
                <a:latin typeface="Arial"/>
                <a:cs typeface="Arial"/>
              </a:rPr>
              <a:t>AfriTalent</a:t>
            </a:r>
            <a:r>
              <a:rPr dirty="0" sz="1300" spc="-8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350" spc="-50" b="1">
                <a:solidFill>
                  <a:srgbClr val="2453D5"/>
                </a:solidFill>
                <a:latin typeface="Arial"/>
                <a:cs typeface="Arial"/>
              </a:rPr>
              <a:t>—</a:t>
            </a:r>
            <a:r>
              <a:rPr dirty="0" sz="1350" spc="-21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300" spc="-25" b="1">
                <a:solidFill>
                  <a:srgbClr val="2453D5"/>
                </a:solidFill>
                <a:latin typeface="Arial"/>
                <a:cs typeface="Arial"/>
              </a:rPr>
              <a:t>Présentation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249" y="552449"/>
            <a:ext cx="76199" cy="7619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603504" y="2499360"/>
            <a:ext cx="10985500" cy="4154804"/>
            <a:chOff x="603504" y="2499360"/>
            <a:chExt cx="10985500" cy="4154804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504" y="2499360"/>
              <a:ext cx="10984991" cy="415442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0599" y="2857499"/>
              <a:ext cx="190500" cy="16510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387475" y="2768897"/>
            <a:ext cx="1308100" cy="276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65" b="1">
                <a:solidFill>
                  <a:srgbClr val="121725"/>
                </a:solidFill>
                <a:latin typeface="Arial"/>
                <a:cs typeface="Arial"/>
              </a:rPr>
              <a:t>Page</a:t>
            </a:r>
            <a:r>
              <a:rPr dirty="0" sz="1550" spc="-15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550" spc="-35" b="1">
                <a:solidFill>
                  <a:srgbClr val="121725"/>
                </a:solidFill>
                <a:latin typeface="Arial"/>
                <a:cs typeface="Arial"/>
              </a:rPr>
              <a:t>d</a:t>
            </a:r>
            <a:r>
              <a:rPr dirty="0" sz="1650" spc="-35">
                <a:solidFill>
                  <a:srgbClr val="121725"/>
                </a:solidFill>
                <a:latin typeface="Arial Black"/>
                <a:cs typeface="Arial Black"/>
              </a:rPr>
              <a:t>'</a:t>
            </a:r>
            <a:r>
              <a:rPr dirty="0" sz="1550" spc="-35" b="1">
                <a:solidFill>
                  <a:srgbClr val="121725"/>
                </a:solidFill>
                <a:latin typeface="Arial"/>
                <a:cs typeface="Arial"/>
              </a:rPr>
              <a:t>accueil</a:t>
            </a:r>
            <a:endParaRPr sz="15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3124" y="3190276"/>
            <a:ext cx="4883785" cy="6254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95"/>
              </a:spcBef>
            </a:pP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Hero</a:t>
            </a:r>
            <a:r>
              <a:rPr dirty="0" sz="1100" spc="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percutant</a:t>
            </a:r>
            <a:r>
              <a:rPr dirty="0" sz="1100" spc="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avec</a:t>
            </a:r>
            <a:r>
              <a:rPr dirty="0" sz="1100" spc="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slogan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200" spc="7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image</a:t>
            </a:r>
            <a:r>
              <a:rPr dirty="0" sz="1100" spc="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dirty="0" sz="1100" spc="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collaboration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200" spc="7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boutons</a:t>
            </a:r>
            <a:r>
              <a:rPr dirty="0" sz="1100" spc="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d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action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dirty="0" sz="1200" spc="7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Bande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dirty="0" sz="110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statistiques</a:t>
            </a:r>
            <a:r>
              <a:rPr dirty="0" sz="1100" spc="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animées</a:t>
            </a:r>
            <a:r>
              <a:rPr dirty="0" sz="1200" spc="-1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200" spc="6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section</a:t>
            </a:r>
            <a:r>
              <a:rPr dirty="0" sz="1100" spc="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méthode</a:t>
            </a:r>
            <a:r>
              <a:rPr dirty="0" sz="1100" spc="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en</a:t>
            </a:r>
            <a:r>
              <a:rPr dirty="0" sz="1100" spc="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4</a:t>
            </a:r>
            <a:r>
              <a:rPr dirty="0" sz="120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cartes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200" spc="6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section</a:t>
            </a:r>
            <a:r>
              <a:rPr dirty="0" sz="1100" spc="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60">
                <a:solidFill>
                  <a:srgbClr val="5C6A81"/>
                </a:solidFill>
                <a:latin typeface="Microsoft Sans Serif"/>
                <a:cs typeface="Microsoft Sans Serif"/>
              </a:rPr>
              <a:t>«</a:t>
            </a:r>
            <a:r>
              <a:rPr dirty="0" sz="120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Pour</a:t>
            </a:r>
            <a:r>
              <a:rPr dirty="0" sz="110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qui</a:t>
            </a:r>
            <a:r>
              <a:rPr dirty="0" sz="1100" spc="6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55">
                <a:solidFill>
                  <a:srgbClr val="5C6A81"/>
                </a:solidFill>
                <a:latin typeface="Microsoft Sans Serif"/>
                <a:cs typeface="Microsoft Sans Serif"/>
              </a:rPr>
              <a:t>?</a:t>
            </a:r>
            <a:r>
              <a:rPr dirty="0" sz="120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50">
                <a:solidFill>
                  <a:srgbClr val="5C6A81"/>
                </a:solidFill>
                <a:latin typeface="Microsoft Sans Serif"/>
                <a:cs typeface="Microsoft Sans Serif"/>
              </a:rPr>
              <a:t>»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en</a:t>
            </a:r>
            <a:r>
              <a:rPr dirty="0" sz="11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2</a:t>
            </a:r>
            <a:r>
              <a:rPr dirty="0" sz="1200" spc="-5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blocs</a:t>
            </a:r>
            <a:r>
              <a:rPr dirty="0" sz="120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41143" y="2676480"/>
            <a:ext cx="14668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spc="-25" b="1">
                <a:solidFill>
                  <a:srgbClr val="5C6A81"/>
                </a:solidFill>
                <a:latin typeface="Arial"/>
                <a:cs typeface="Arial"/>
              </a:rPr>
              <a:t>01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71550" y="2847974"/>
            <a:ext cx="8415655" cy="2124075"/>
            <a:chOff x="971550" y="2847974"/>
            <a:chExt cx="8415655" cy="2124075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67474" y="2847974"/>
              <a:ext cx="190500" cy="1905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15437" y="2857499"/>
              <a:ext cx="171450" cy="1714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1550" y="4806949"/>
              <a:ext cx="228600" cy="1587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38562" y="4800599"/>
              <a:ext cx="171450" cy="17145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6864349" y="2809312"/>
            <a:ext cx="155765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70" b="1">
                <a:solidFill>
                  <a:srgbClr val="121725"/>
                </a:solidFill>
                <a:latin typeface="Arial"/>
                <a:cs typeface="Arial"/>
              </a:rPr>
              <a:t>Impression</a:t>
            </a:r>
            <a:r>
              <a:rPr dirty="0" sz="1400" spc="-4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121725"/>
                </a:solidFill>
                <a:latin typeface="Arial"/>
                <a:cs typeface="Arial"/>
              </a:rPr>
              <a:t>visuelle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50000" y="3189164"/>
            <a:ext cx="1971675" cy="79692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>
              <a:lnSpc>
                <a:spcPct val="110500"/>
              </a:lnSpc>
              <a:spcBef>
                <a:spcPts val="65"/>
              </a:spcBef>
            </a:pP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Design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contemporain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5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couleurs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vives</a:t>
            </a:r>
            <a:r>
              <a:rPr dirty="0" sz="1100" spc="-5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(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bleu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/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orange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/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vert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),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typographie</a:t>
            </a:r>
            <a:r>
              <a:rPr dirty="0" sz="1100" spc="-5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Inter</a:t>
            </a:r>
            <a:r>
              <a:rPr dirty="0" sz="1150" spc="-2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mode</a:t>
            </a:r>
            <a:r>
              <a:rPr dirty="0" sz="1100" spc="-5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sombre disponible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58744" y="2676480"/>
            <a:ext cx="170180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spc="60" b="1">
                <a:solidFill>
                  <a:srgbClr val="5C6A81"/>
                </a:solidFill>
                <a:latin typeface="Arial"/>
                <a:cs typeface="Arial"/>
              </a:rPr>
              <a:t>02</a:t>
            </a:r>
            <a:endParaRPr sz="8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602786" y="2809312"/>
            <a:ext cx="104203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5" b="1">
                <a:solidFill>
                  <a:srgbClr val="121725"/>
                </a:solidFill>
                <a:latin typeface="Arial"/>
                <a:cs typeface="Arial"/>
              </a:rPr>
              <a:t>Organisation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088436" y="3189164"/>
            <a:ext cx="2197100" cy="5969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90"/>
              </a:spcBef>
            </a:pP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Navbar</a:t>
            </a:r>
            <a:r>
              <a:rPr dirty="0" sz="1100" spc="-5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fixe</a:t>
            </a:r>
            <a:r>
              <a:rPr dirty="0" sz="1100" spc="-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en</a:t>
            </a:r>
            <a:r>
              <a:rPr dirty="0" sz="11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haut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contenu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 central</a:t>
            </a:r>
            <a:r>
              <a:rPr dirty="0" sz="110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structuré</a:t>
            </a:r>
            <a:r>
              <a:rPr dirty="0" sz="1100" spc="-5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en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sections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,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footer sombre</a:t>
            </a:r>
            <a:r>
              <a:rPr dirty="0" sz="1100" spc="-5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en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 bas</a:t>
            </a:r>
            <a:r>
              <a:rPr dirty="0" sz="1150" spc="-2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195546" y="2676480"/>
            <a:ext cx="17335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spc="70" b="1">
                <a:solidFill>
                  <a:srgbClr val="5C6A81"/>
                </a:solidFill>
                <a:latin typeface="Arial"/>
                <a:cs typeface="Arial"/>
              </a:rPr>
              <a:t>03</a:t>
            </a:r>
            <a:endParaRPr sz="8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87475" y="4752412"/>
            <a:ext cx="94932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 b="1">
                <a:solidFill>
                  <a:srgbClr val="121725"/>
                </a:solidFill>
                <a:latin typeface="Arial"/>
                <a:cs typeface="Arial"/>
              </a:rPr>
              <a:t>Responsive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73124" y="5122739"/>
            <a:ext cx="2165985" cy="6159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111400"/>
              </a:lnSpc>
              <a:spcBef>
                <a:spcPts val="130"/>
              </a:spcBef>
            </a:pP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Adaptation</a:t>
            </a:r>
            <a:r>
              <a:rPr dirty="0" sz="110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mobile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tablette</a:t>
            </a:r>
            <a:r>
              <a:rPr dirty="0" sz="1100" spc="-6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5">
                <a:solidFill>
                  <a:srgbClr val="5C6A81"/>
                </a:solidFill>
                <a:latin typeface="Microsoft Sans Serif"/>
                <a:cs typeface="Microsoft Sans Serif"/>
              </a:rPr>
              <a:t>et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desktop</a:t>
            </a:r>
            <a:r>
              <a:rPr dirty="0" sz="115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dirty="0" sz="115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Menu</a:t>
            </a:r>
            <a:r>
              <a:rPr dirty="0" sz="110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hamburger</a:t>
            </a:r>
            <a:r>
              <a:rPr dirty="0" sz="1100" spc="-6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sur</a:t>
            </a:r>
            <a:r>
              <a:rPr dirty="0" sz="1100" spc="-6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petit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écran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76959" y="4619580"/>
            <a:ext cx="17716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spc="85" b="1">
                <a:solidFill>
                  <a:srgbClr val="5C6A81"/>
                </a:solidFill>
                <a:latin typeface="Arial"/>
                <a:cs typeface="Arial"/>
              </a:rPr>
              <a:t>04</a:t>
            </a:r>
            <a:endParaRPr sz="8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125912" y="4731428"/>
            <a:ext cx="2820035" cy="2647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50" spc="-45" b="1">
                <a:solidFill>
                  <a:srgbClr val="121725"/>
                </a:solidFill>
                <a:latin typeface="Arial"/>
                <a:cs typeface="Arial"/>
              </a:rPr>
              <a:t>Palette</a:t>
            </a:r>
            <a:r>
              <a:rPr dirty="0" sz="1550" spc="-14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550" spc="-20" b="1">
                <a:solidFill>
                  <a:srgbClr val="121725"/>
                </a:solidFill>
                <a:latin typeface="Arial"/>
                <a:cs typeface="Arial"/>
              </a:rPr>
              <a:t>de</a:t>
            </a:r>
            <a:r>
              <a:rPr dirty="0" sz="1550" spc="-14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550" spc="-50" b="1">
                <a:solidFill>
                  <a:srgbClr val="121725"/>
                </a:solidFill>
                <a:latin typeface="Arial"/>
                <a:cs typeface="Arial"/>
              </a:rPr>
              <a:t>couleurs</a:t>
            </a:r>
            <a:r>
              <a:rPr dirty="0" sz="1550" spc="-13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550" spc="-25" b="1">
                <a:solidFill>
                  <a:srgbClr val="121725"/>
                </a:solidFill>
                <a:latin typeface="Arial"/>
                <a:cs typeface="Arial"/>
              </a:rPr>
              <a:t>authentique</a:t>
            </a:r>
            <a:endParaRPr sz="15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706812" y="5585755"/>
            <a:ext cx="670560" cy="363855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950" spc="-10" b="1">
                <a:solidFill>
                  <a:srgbClr val="121725"/>
                </a:solidFill>
                <a:latin typeface="Courier New"/>
                <a:cs typeface="Courier New"/>
              </a:rPr>
              <a:t>#2454d6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850" spc="-20">
                <a:solidFill>
                  <a:srgbClr val="5C6A81"/>
                </a:solidFill>
                <a:latin typeface="Microsoft Sans Serif"/>
                <a:cs typeface="Microsoft Sans Serif"/>
              </a:rPr>
              <a:t>Bleu</a:t>
            </a:r>
            <a:r>
              <a:rPr dirty="0" sz="850" spc="-10">
                <a:solidFill>
                  <a:srgbClr val="5C6A81"/>
                </a:solidFill>
                <a:latin typeface="Microsoft Sans Serif"/>
                <a:cs typeface="Microsoft Sans Serif"/>
              </a:rPr>
              <a:t> principal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655865" y="5585755"/>
            <a:ext cx="731520" cy="363855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950" spc="-10" b="1">
                <a:solidFill>
                  <a:srgbClr val="121725"/>
                </a:solidFill>
                <a:latin typeface="Courier New"/>
                <a:cs typeface="Courier New"/>
              </a:rPr>
              <a:t>#f59e0b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850" spc="-10">
                <a:solidFill>
                  <a:srgbClr val="5C6A81"/>
                </a:solidFill>
                <a:latin typeface="Microsoft Sans Serif"/>
                <a:cs typeface="Microsoft Sans Serif"/>
              </a:rPr>
              <a:t>Orange</a:t>
            </a:r>
            <a:r>
              <a:rPr dirty="0" sz="85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5C6A81"/>
                </a:solidFill>
                <a:latin typeface="Microsoft Sans Serif"/>
                <a:cs typeface="Microsoft Sans Serif"/>
              </a:rPr>
              <a:t>accent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604917" y="5585755"/>
            <a:ext cx="593090" cy="363855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950" spc="-10" b="1">
                <a:solidFill>
                  <a:srgbClr val="121725"/>
                </a:solidFill>
                <a:latin typeface="Courier New"/>
                <a:cs typeface="Courier New"/>
              </a:rPr>
              <a:t>#0f9f6e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850">
                <a:solidFill>
                  <a:srgbClr val="5C6A81"/>
                </a:solidFill>
                <a:latin typeface="Microsoft Sans Serif"/>
                <a:cs typeface="Microsoft Sans Serif"/>
              </a:rPr>
              <a:t>Vert</a:t>
            </a:r>
            <a:r>
              <a:rPr dirty="0" sz="85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5C6A81"/>
                </a:solidFill>
                <a:latin typeface="Microsoft Sans Serif"/>
                <a:cs typeface="Microsoft Sans Serif"/>
              </a:rPr>
              <a:t>succès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553971" y="5585755"/>
            <a:ext cx="755650" cy="363855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950" spc="-10" b="1">
                <a:solidFill>
                  <a:srgbClr val="121725"/>
                </a:solidFill>
                <a:latin typeface="Courier New"/>
                <a:cs typeface="Courier New"/>
              </a:rPr>
              <a:t>#111827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850" spc="-20">
                <a:solidFill>
                  <a:srgbClr val="5C6A81"/>
                </a:solidFill>
                <a:latin typeface="Microsoft Sans Serif"/>
                <a:cs typeface="Microsoft Sans Serif"/>
              </a:rPr>
              <a:t>Bleu</a:t>
            </a:r>
            <a:r>
              <a:rPr dirty="0" sz="850" spc="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850">
                <a:solidFill>
                  <a:srgbClr val="5C6A81"/>
                </a:solidFill>
                <a:latin typeface="Microsoft Sans Serif"/>
                <a:cs typeface="Microsoft Sans Serif"/>
              </a:rPr>
              <a:t>nuit</a:t>
            </a:r>
            <a:r>
              <a:rPr dirty="0" sz="85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5C6A81"/>
                </a:solidFill>
                <a:latin typeface="Microsoft Sans Serif"/>
                <a:cs typeface="Microsoft Sans Serif"/>
              </a:rPr>
              <a:t>footer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611562" y="6156139"/>
            <a:ext cx="4694555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Une palette</a:t>
            </a:r>
            <a:r>
              <a:rPr dirty="0" sz="110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cohérente</a:t>
            </a:r>
            <a:r>
              <a:rPr dirty="0" sz="1100" spc="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qui</a:t>
            </a:r>
            <a:r>
              <a:rPr dirty="0" sz="1100" spc="6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évoque</a:t>
            </a:r>
            <a:r>
              <a:rPr dirty="0" sz="110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la</a:t>
            </a:r>
            <a:r>
              <a:rPr dirty="0" sz="1100" spc="5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technologie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200" spc="6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l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énergie</a:t>
            </a:r>
            <a:r>
              <a:rPr dirty="0" sz="110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dirty="0" sz="110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la</a:t>
            </a:r>
            <a:r>
              <a:rPr dirty="0" sz="1100" spc="5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confiance</a:t>
            </a:r>
            <a:r>
              <a:rPr dirty="0" sz="120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197927" y="4619580"/>
            <a:ext cx="17081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spc="60" b="1">
                <a:solidFill>
                  <a:srgbClr val="5C6A81"/>
                </a:solidFill>
                <a:latin typeface="Arial"/>
                <a:cs typeface="Arial"/>
              </a:rPr>
              <a:t>05</a:t>
            </a:r>
            <a:endParaRPr sz="85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85799" y="6334124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10820399" y="9524"/>
                </a:moveTo>
                <a:lnTo>
                  <a:pt x="0" y="9524"/>
                </a:lnTo>
                <a:lnTo>
                  <a:pt x="0" y="0"/>
                </a:lnTo>
                <a:lnTo>
                  <a:pt x="10820399" y="0"/>
                </a:lnTo>
                <a:lnTo>
                  <a:pt x="10820399" y="9524"/>
                </a:lnTo>
                <a:close/>
              </a:path>
            </a:pathLst>
          </a:custGeom>
          <a:solidFill>
            <a:srgbClr val="E4E8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673100" y="6474593"/>
            <a:ext cx="1210310" cy="161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AfriTalent By</a:t>
            </a:r>
            <a:r>
              <a:rPr dirty="0" sz="950" spc="-10">
                <a:solidFill>
                  <a:srgbClr val="5C6A81"/>
                </a:solidFill>
                <a:latin typeface="Microsoft Sans Serif"/>
                <a:cs typeface="Microsoft Sans Serif"/>
              </a:rPr>
              <a:t> Agent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23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525717" y="6474593"/>
            <a:ext cx="2992120" cy="161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Contact</a:t>
            </a:r>
            <a:r>
              <a:rPr dirty="0" sz="95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:</a:t>
            </a:r>
            <a:r>
              <a:rPr dirty="0" sz="1050" spc="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40">
                <a:solidFill>
                  <a:srgbClr val="5C6A81"/>
                </a:solidFill>
                <a:latin typeface="Microsoft Sans Serif"/>
                <a:cs typeface="Microsoft Sans Serif"/>
                <a:hlinkClick r:id="rId10"/>
              </a:rPr>
              <a:t>agent</a:t>
            </a:r>
            <a:r>
              <a:rPr dirty="0" sz="1050" spc="-40">
                <a:solidFill>
                  <a:srgbClr val="5C6A81"/>
                </a:solidFill>
                <a:latin typeface="Microsoft Sans Serif"/>
                <a:cs typeface="Microsoft Sans Serif"/>
                <a:hlinkClick r:id="rId10"/>
              </a:rPr>
              <a:t>210601@</a:t>
            </a:r>
            <a:r>
              <a:rPr dirty="0" sz="950" spc="-40">
                <a:solidFill>
                  <a:srgbClr val="5C6A81"/>
                </a:solidFill>
                <a:latin typeface="Microsoft Sans Serif"/>
                <a:cs typeface="Microsoft Sans Serif"/>
                <a:hlinkClick r:id="rId10"/>
              </a:rPr>
              <a:t>gmail</a:t>
            </a:r>
            <a:r>
              <a:rPr dirty="0" sz="1050" spc="-40">
                <a:solidFill>
                  <a:srgbClr val="5C6A81"/>
                </a:solidFill>
                <a:latin typeface="Microsoft Sans Serif"/>
                <a:cs typeface="Microsoft Sans Serif"/>
                <a:hlinkClick r:id="rId10"/>
              </a:rPr>
              <a:t>.</a:t>
            </a:r>
            <a:r>
              <a:rPr dirty="0" sz="950" spc="-40">
                <a:solidFill>
                  <a:srgbClr val="5C6A81"/>
                </a:solidFill>
                <a:latin typeface="Microsoft Sans Serif"/>
                <a:cs typeface="Microsoft Sans Serif"/>
                <a:hlinkClick r:id="rId10"/>
              </a:rPr>
              <a:t>com</a:t>
            </a:r>
            <a:r>
              <a:rPr dirty="0" sz="95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dirty="0" sz="1050" spc="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5">
                <a:solidFill>
                  <a:srgbClr val="5C6A81"/>
                </a:solidFill>
                <a:latin typeface="Microsoft Sans Serif"/>
                <a:cs typeface="Microsoft Sans Serif"/>
              </a:rPr>
              <a:t>+221</a:t>
            </a:r>
            <a:r>
              <a:rPr dirty="0" sz="10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85">
                <a:solidFill>
                  <a:srgbClr val="5C6A81"/>
                </a:solidFill>
                <a:latin typeface="Microsoft Sans Serif"/>
                <a:cs typeface="Microsoft Sans Serif"/>
              </a:rPr>
              <a:t>71</a:t>
            </a:r>
            <a:r>
              <a:rPr dirty="0" sz="10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008</a:t>
            </a:r>
            <a:r>
              <a:rPr dirty="0" sz="105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00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86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47263" y="566061"/>
            <a:ext cx="85979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b="1">
                <a:solidFill>
                  <a:srgbClr val="5C6A81"/>
                </a:solidFill>
                <a:latin typeface="Arial"/>
                <a:cs typeface="Arial"/>
              </a:rPr>
              <a:t>Slide</a:t>
            </a:r>
            <a:r>
              <a:rPr dirty="0" sz="1150" spc="25" b="1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dirty="0" sz="1100" spc="105" b="1">
                <a:solidFill>
                  <a:srgbClr val="5C6A81"/>
                </a:solidFill>
                <a:latin typeface="Arial"/>
                <a:cs typeface="Arial"/>
              </a:rPr>
              <a:t>04</a:t>
            </a:r>
            <a:r>
              <a:rPr dirty="0" sz="1100" spc="50" b="1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dirty="0" sz="1100" spc="110" b="1">
                <a:solidFill>
                  <a:srgbClr val="5C6A81"/>
                </a:solidFill>
                <a:latin typeface="Arial"/>
                <a:cs typeface="Arial"/>
              </a:rPr>
              <a:t>/</a:t>
            </a:r>
            <a:r>
              <a:rPr dirty="0" sz="1100" spc="30" b="1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dirty="0" sz="1100" spc="-125" b="1">
                <a:solidFill>
                  <a:srgbClr val="5C6A81"/>
                </a:solidFill>
                <a:latin typeface="Arial"/>
                <a:cs typeface="Arial"/>
              </a:rPr>
              <a:t>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85799" y="1790699"/>
            <a:ext cx="533400" cy="38100"/>
          </a:xfrm>
          <a:custGeom>
            <a:avLst/>
            <a:gdLst/>
            <a:ahLst/>
            <a:cxnLst/>
            <a:rect l="l" t="t" r="r" b="b"/>
            <a:pathLst>
              <a:path w="533400" h="38100">
                <a:moveTo>
                  <a:pt x="5168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9049"/>
                </a:lnTo>
                <a:lnTo>
                  <a:pt x="0" y="16523"/>
                </a:lnTo>
                <a:lnTo>
                  <a:pt x="16523" y="0"/>
                </a:lnTo>
                <a:lnTo>
                  <a:pt x="516876" y="0"/>
                </a:lnTo>
                <a:lnTo>
                  <a:pt x="533399" y="16523"/>
                </a:lnTo>
                <a:lnTo>
                  <a:pt x="533399" y="21576"/>
                </a:lnTo>
                <a:lnTo>
                  <a:pt x="519306" y="37616"/>
                </a:lnTo>
                <a:lnTo>
                  <a:pt x="516876" y="38099"/>
                </a:lnTo>
                <a:close/>
              </a:path>
            </a:pathLst>
          </a:custGeom>
          <a:solidFill>
            <a:srgbClr val="F59D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73100" y="1056648"/>
            <a:ext cx="160020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90" b="1">
                <a:solidFill>
                  <a:srgbClr val="2453D5"/>
                </a:solidFill>
                <a:latin typeface="Arial"/>
                <a:cs typeface="Arial"/>
              </a:rPr>
              <a:t>COMMENT</a:t>
            </a:r>
            <a:r>
              <a:rPr dirty="0" sz="950" spc="125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950" spc="50" b="1">
                <a:solidFill>
                  <a:srgbClr val="2453D5"/>
                </a:solidFill>
                <a:latin typeface="Arial"/>
                <a:cs typeface="Arial"/>
              </a:rPr>
              <a:t>ÇA</a:t>
            </a:r>
            <a:r>
              <a:rPr dirty="0" sz="950" spc="105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950" spc="50" b="1">
                <a:solidFill>
                  <a:srgbClr val="2453D5"/>
                </a:solidFill>
                <a:latin typeface="Arial"/>
                <a:cs typeface="Arial"/>
              </a:rPr>
              <a:t>MARCHE</a:t>
            </a:r>
            <a:endParaRPr sz="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100" y="1214536"/>
            <a:ext cx="4585970" cy="5073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150" spc="-175" b="1">
                <a:solidFill>
                  <a:srgbClr val="121725"/>
                </a:solidFill>
                <a:latin typeface="Arial"/>
                <a:cs typeface="Arial"/>
              </a:rPr>
              <a:t>Le</a:t>
            </a:r>
            <a:r>
              <a:rPr dirty="0" sz="3150" spc="-46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3150" spc="-100" b="1">
                <a:solidFill>
                  <a:srgbClr val="121725"/>
                </a:solidFill>
                <a:latin typeface="Arial"/>
                <a:cs typeface="Arial"/>
              </a:rPr>
              <a:t>fonctionnement</a:t>
            </a:r>
            <a:r>
              <a:rPr dirty="0" sz="3150" spc="-44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3150" spc="-114" b="1">
                <a:solidFill>
                  <a:srgbClr val="121725"/>
                </a:solidFill>
                <a:latin typeface="Arial"/>
                <a:cs typeface="Arial"/>
              </a:rPr>
              <a:t>du</a:t>
            </a:r>
            <a:r>
              <a:rPr dirty="0" sz="3150" spc="-39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3150" spc="-20" b="1">
                <a:solidFill>
                  <a:srgbClr val="121725"/>
                </a:solidFill>
                <a:latin typeface="Arial"/>
                <a:cs typeface="Arial"/>
              </a:rPr>
              <a:t>site</a:t>
            </a:r>
            <a:endParaRPr sz="31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100" y="1934964"/>
            <a:ext cx="6652895" cy="22606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200" spc="-10">
                <a:solidFill>
                  <a:srgbClr val="5C6A81"/>
                </a:solidFill>
                <a:latin typeface="Microsoft Sans Serif"/>
                <a:cs typeface="Microsoft Sans Serif"/>
              </a:rPr>
              <a:t>L</a:t>
            </a:r>
            <a:r>
              <a:rPr dirty="0" sz="1300" spc="-1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dirty="0" sz="1200" spc="-10">
                <a:solidFill>
                  <a:srgbClr val="5C6A81"/>
                </a:solidFill>
                <a:latin typeface="Microsoft Sans Serif"/>
                <a:cs typeface="Microsoft Sans Serif"/>
              </a:rPr>
              <a:t>utilisateur</a:t>
            </a:r>
            <a:r>
              <a:rPr dirty="0" sz="120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accède</a:t>
            </a:r>
            <a:r>
              <a:rPr dirty="0" sz="120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aux</a:t>
            </a:r>
            <a:r>
              <a:rPr dirty="0" sz="120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informations</a:t>
            </a:r>
            <a:r>
              <a:rPr dirty="0" sz="120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via</a:t>
            </a:r>
            <a:r>
              <a:rPr dirty="0" sz="1200" spc="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une</a:t>
            </a:r>
            <a:r>
              <a:rPr dirty="0" sz="120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navigation</a:t>
            </a:r>
            <a:r>
              <a:rPr dirty="0" sz="120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simple</a:t>
            </a:r>
            <a:r>
              <a:rPr dirty="0" sz="120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dirty="0" sz="120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structurée</a:t>
            </a:r>
            <a:r>
              <a:rPr dirty="0" sz="120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en</a:t>
            </a:r>
            <a:r>
              <a:rPr dirty="0" sz="120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5C6A81"/>
                </a:solidFill>
                <a:latin typeface="Microsoft Sans Serif"/>
                <a:cs typeface="Microsoft Sans Serif"/>
              </a:rPr>
              <a:t>5</a:t>
            </a:r>
            <a:r>
              <a:rPr dirty="0" sz="130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pages</a:t>
            </a:r>
            <a:r>
              <a:rPr dirty="0" sz="12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5C6A81"/>
                </a:solidFill>
                <a:latin typeface="Microsoft Sans Serif"/>
                <a:cs typeface="Microsoft Sans Serif"/>
              </a:rPr>
              <a:t>distinctes</a:t>
            </a:r>
            <a:r>
              <a:rPr dirty="0" sz="130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799" y="533400"/>
            <a:ext cx="266699" cy="2666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53318" y="534987"/>
            <a:ext cx="2249805" cy="23685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4005" algn="l"/>
              </a:tabLst>
            </a:pPr>
            <a:r>
              <a:rPr dirty="0" sz="1100" spc="3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300" spc="-20" b="1">
                <a:solidFill>
                  <a:srgbClr val="2453D5"/>
                </a:solidFill>
                <a:latin typeface="Arial"/>
                <a:cs typeface="Arial"/>
              </a:rPr>
              <a:t>AfriTalent</a:t>
            </a:r>
            <a:r>
              <a:rPr dirty="0" sz="1300" spc="-8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350" spc="-50" b="1">
                <a:solidFill>
                  <a:srgbClr val="2453D5"/>
                </a:solidFill>
                <a:latin typeface="Arial"/>
                <a:cs typeface="Arial"/>
              </a:rPr>
              <a:t>—</a:t>
            </a:r>
            <a:r>
              <a:rPr dirty="0" sz="1350" spc="-21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300" spc="-25" b="1">
                <a:solidFill>
                  <a:srgbClr val="2453D5"/>
                </a:solidFill>
                <a:latin typeface="Arial"/>
                <a:cs typeface="Arial"/>
              </a:rPr>
              <a:t>Présentation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249" y="552449"/>
            <a:ext cx="76199" cy="76199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5799" y="5114924"/>
            <a:ext cx="10820400" cy="590550"/>
            <a:chOff x="685799" y="5114924"/>
            <a:chExt cx="10820400" cy="59055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799" y="5114924"/>
              <a:ext cx="10820399" cy="59054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5799" y="5114924"/>
              <a:ext cx="10820400" cy="590550"/>
            </a:xfrm>
            <a:custGeom>
              <a:avLst/>
              <a:gdLst/>
              <a:ahLst/>
              <a:cxnLst/>
              <a:rect l="l" t="t" r="r" b="b"/>
              <a:pathLst>
                <a:path w="10820400" h="590550">
                  <a:moveTo>
                    <a:pt x="10706099" y="590549"/>
                  </a:moveTo>
                  <a:lnTo>
                    <a:pt x="114299" y="590549"/>
                  </a:lnTo>
                  <a:lnTo>
                    <a:pt x="103040" y="590005"/>
                  </a:lnTo>
                  <a:lnTo>
                    <a:pt x="60364" y="577037"/>
                  </a:lnTo>
                  <a:lnTo>
                    <a:pt x="25900" y="548725"/>
                  </a:lnTo>
                  <a:lnTo>
                    <a:pt x="4894" y="509379"/>
                  </a:lnTo>
                  <a:lnTo>
                    <a:pt x="0" y="47624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699"/>
                  </a:lnTo>
                  <a:lnTo>
                    <a:pt x="114299" y="0"/>
                  </a:lnTo>
                  <a:lnTo>
                    <a:pt x="10706099" y="0"/>
                  </a:lnTo>
                  <a:lnTo>
                    <a:pt x="10717359" y="543"/>
                  </a:lnTo>
                  <a:lnTo>
                    <a:pt x="10728402" y="2174"/>
                  </a:lnTo>
                  <a:lnTo>
                    <a:pt x="10739228" y="4893"/>
                  </a:lnTo>
                  <a:lnTo>
                    <a:pt x="10749839" y="8699"/>
                  </a:lnTo>
                  <a:lnTo>
                    <a:pt x="10751588" y="9524"/>
                  </a:lnTo>
                  <a:lnTo>
                    <a:pt x="107420" y="9524"/>
                  </a:lnTo>
                  <a:lnTo>
                    <a:pt x="100606" y="10195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483129"/>
                  </a:lnTo>
                  <a:lnTo>
                    <a:pt x="20133" y="522701"/>
                  </a:lnTo>
                  <a:lnTo>
                    <a:pt x="45077" y="555201"/>
                  </a:lnTo>
                  <a:lnTo>
                    <a:pt x="80560" y="575682"/>
                  </a:lnTo>
                  <a:lnTo>
                    <a:pt x="107420" y="581024"/>
                  </a:lnTo>
                  <a:lnTo>
                    <a:pt x="10751583" y="581024"/>
                  </a:lnTo>
                  <a:lnTo>
                    <a:pt x="10749838" y="581848"/>
                  </a:lnTo>
                  <a:lnTo>
                    <a:pt x="10739228" y="585655"/>
                  </a:lnTo>
                  <a:lnTo>
                    <a:pt x="10728402" y="588374"/>
                  </a:lnTo>
                  <a:lnTo>
                    <a:pt x="10717359" y="590005"/>
                  </a:lnTo>
                  <a:lnTo>
                    <a:pt x="10706099" y="590549"/>
                  </a:lnTo>
                  <a:close/>
                </a:path>
                <a:path w="10820400" h="590550">
                  <a:moveTo>
                    <a:pt x="10751583" y="581024"/>
                  </a:moveTo>
                  <a:lnTo>
                    <a:pt x="10712979" y="581024"/>
                  </a:lnTo>
                  <a:lnTo>
                    <a:pt x="10719792" y="580353"/>
                  </a:lnTo>
                  <a:lnTo>
                    <a:pt x="10733286" y="577669"/>
                  </a:lnTo>
                  <a:lnTo>
                    <a:pt x="10770028" y="559544"/>
                  </a:lnTo>
                  <a:lnTo>
                    <a:pt x="10797037" y="528739"/>
                  </a:lnTo>
                  <a:lnTo>
                    <a:pt x="10810202" y="489943"/>
                  </a:lnTo>
                  <a:lnTo>
                    <a:pt x="10810874" y="483129"/>
                  </a:lnTo>
                  <a:lnTo>
                    <a:pt x="10810874" y="107420"/>
                  </a:lnTo>
                  <a:lnTo>
                    <a:pt x="10800264" y="67848"/>
                  </a:lnTo>
                  <a:lnTo>
                    <a:pt x="10775321" y="35348"/>
                  </a:lnTo>
                  <a:lnTo>
                    <a:pt x="10739838" y="14867"/>
                  </a:lnTo>
                  <a:lnTo>
                    <a:pt x="10712979" y="9524"/>
                  </a:lnTo>
                  <a:lnTo>
                    <a:pt x="10751588" y="9524"/>
                  </a:lnTo>
                  <a:lnTo>
                    <a:pt x="10786921" y="33477"/>
                  </a:lnTo>
                  <a:lnTo>
                    <a:pt x="10811697" y="70558"/>
                  </a:lnTo>
                  <a:lnTo>
                    <a:pt x="10820399" y="114299"/>
                  </a:lnTo>
                  <a:lnTo>
                    <a:pt x="10820399" y="476249"/>
                  </a:lnTo>
                  <a:lnTo>
                    <a:pt x="10819855" y="487509"/>
                  </a:lnTo>
                  <a:lnTo>
                    <a:pt x="10806886" y="530184"/>
                  </a:lnTo>
                  <a:lnTo>
                    <a:pt x="10778575" y="564649"/>
                  </a:lnTo>
                  <a:lnTo>
                    <a:pt x="10760033" y="577037"/>
                  </a:lnTo>
                  <a:lnTo>
                    <a:pt x="10751583" y="581024"/>
                  </a:lnTo>
                  <a:close/>
                </a:path>
              </a:pathLst>
            </a:custGeom>
            <a:solidFill>
              <a:srgbClr val="F59D0A">
                <a:alpha val="2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66774" y="523874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53904" y="342899"/>
                  </a:moveTo>
                  <a:lnTo>
                    <a:pt x="88995" y="342899"/>
                  </a:lnTo>
                  <a:lnTo>
                    <a:pt x="82801" y="342288"/>
                  </a:lnTo>
                  <a:lnTo>
                    <a:pt x="37131" y="323372"/>
                  </a:lnTo>
                  <a:lnTo>
                    <a:pt x="9643" y="289878"/>
                  </a:lnTo>
                  <a:lnTo>
                    <a:pt x="0" y="253903"/>
                  </a:lnTo>
                  <a:lnTo>
                    <a:pt x="0" y="247649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2" y="12577"/>
                  </a:lnTo>
                  <a:lnTo>
                    <a:pt x="88995" y="0"/>
                  </a:lnTo>
                  <a:lnTo>
                    <a:pt x="253904" y="0"/>
                  </a:lnTo>
                  <a:lnTo>
                    <a:pt x="295367" y="12577"/>
                  </a:lnTo>
                  <a:lnTo>
                    <a:pt x="330321" y="47531"/>
                  </a:lnTo>
                  <a:lnTo>
                    <a:pt x="342899" y="88995"/>
                  </a:lnTo>
                  <a:lnTo>
                    <a:pt x="342899" y="253903"/>
                  </a:lnTo>
                  <a:lnTo>
                    <a:pt x="330321" y="295367"/>
                  </a:lnTo>
                  <a:lnTo>
                    <a:pt x="295367" y="330321"/>
                  </a:lnTo>
                  <a:lnTo>
                    <a:pt x="260098" y="342288"/>
                  </a:lnTo>
                  <a:lnTo>
                    <a:pt x="253904" y="342899"/>
                  </a:lnTo>
                  <a:close/>
                </a:path>
              </a:pathLst>
            </a:custGeom>
            <a:solidFill>
              <a:srgbClr val="F59D0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4724" y="5321299"/>
              <a:ext cx="127000" cy="17780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330325" y="5294927"/>
            <a:ext cx="6390640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b="1">
                <a:solidFill>
                  <a:srgbClr val="B46F08"/>
                </a:solidFill>
                <a:latin typeface="Arial"/>
                <a:cs typeface="Arial"/>
              </a:rPr>
              <a:t>ASTUCE</a:t>
            </a:r>
            <a:r>
              <a:rPr dirty="0" sz="900" spc="5" b="1">
                <a:solidFill>
                  <a:srgbClr val="B46F08"/>
                </a:solidFill>
                <a:latin typeface="Arial"/>
                <a:cs typeface="Arial"/>
              </a:rPr>
              <a:t> </a:t>
            </a:r>
            <a:r>
              <a:rPr dirty="0" sz="900" spc="60" b="1">
                <a:solidFill>
                  <a:srgbClr val="B46F08"/>
                </a:solidFill>
                <a:latin typeface="Arial"/>
                <a:cs typeface="Arial"/>
              </a:rPr>
              <a:t>UX</a:t>
            </a:r>
            <a:r>
              <a:rPr dirty="0" sz="900" spc="300" b="1">
                <a:solidFill>
                  <a:srgbClr val="B46F0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Bouton thème</a:t>
            </a:r>
            <a:r>
              <a:rPr dirty="0" sz="1100" spc="-4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121725"/>
                </a:solidFill>
                <a:latin typeface="Microsoft Sans Serif"/>
                <a:cs typeface="Microsoft Sans Serif"/>
              </a:rPr>
              <a:t>(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clair</a:t>
            </a:r>
            <a:r>
              <a:rPr dirty="0" sz="1150" spc="-10">
                <a:solidFill>
                  <a:srgbClr val="121725"/>
                </a:solidFill>
                <a:latin typeface="Microsoft Sans Serif"/>
                <a:cs typeface="Microsoft Sans Serif"/>
              </a:rPr>
              <a:t>/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sombre</a:t>
            </a:r>
            <a:r>
              <a:rPr dirty="0" sz="1150" spc="-10">
                <a:solidFill>
                  <a:srgbClr val="121725"/>
                </a:solidFill>
                <a:latin typeface="Microsoft Sans Serif"/>
                <a:cs typeface="Microsoft Sans Serif"/>
              </a:rPr>
              <a:t>)</a:t>
            </a:r>
            <a:r>
              <a:rPr dirty="0" sz="1150" spc="3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en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haut</a:t>
            </a:r>
            <a:r>
              <a:rPr dirty="0" sz="1100" spc="-4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à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droite</a:t>
            </a:r>
            <a:r>
              <a:rPr dirty="0" sz="1150">
                <a:solidFill>
                  <a:srgbClr val="121725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1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et</a:t>
            </a:r>
            <a:r>
              <a:rPr dirty="0" sz="1100" spc="-5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bouton</a:t>
            </a:r>
            <a:r>
              <a:rPr dirty="0" sz="1100" spc="-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retour</a:t>
            </a:r>
            <a:r>
              <a:rPr dirty="0" sz="1100" spc="-4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en</a:t>
            </a:r>
            <a:r>
              <a:rPr dirty="0" sz="1100" spc="-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haut</a:t>
            </a:r>
            <a:r>
              <a:rPr dirty="0" sz="1100" spc="-5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qui</a:t>
            </a:r>
            <a:r>
              <a:rPr dirty="0" sz="1100" spc="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apparaît</a:t>
            </a:r>
            <a:r>
              <a:rPr dirty="0" sz="1100" spc="-4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au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 scroll</a:t>
            </a:r>
            <a:r>
              <a:rPr dirty="0" sz="1150" spc="-10">
                <a:solidFill>
                  <a:srgbClr val="121725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99872" y="2538983"/>
            <a:ext cx="11192510" cy="2627630"/>
            <a:chOff x="499872" y="2538983"/>
            <a:chExt cx="11192510" cy="2627630"/>
          </a:xfrm>
        </p:grpSpPr>
        <p:sp>
          <p:nvSpPr>
            <p:cNvPr id="17" name="object 17"/>
            <p:cNvSpPr/>
            <p:nvPr/>
          </p:nvSpPr>
          <p:spPr>
            <a:xfrm>
              <a:off x="1333487" y="3219462"/>
              <a:ext cx="6751955" cy="19050"/>
            </a:xfrm>
            <a:custGeom>
              <a:avLst/>
              <a:gdLst/>
              <a:ahLst/>
              <a:cxnLst/>
              <a:rect l="l" t="t" r="r" b="b"/>
              <a:pathLst>
                <a:path w="6751955" h="19050">
                  <a:moveTo>
                    <a:pt x="5715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57150" y="19050"/>
                  </a:lnTo>
                  <a:lnTo>
                    <a:pt x="57150" y="0"/>
                  </a:lnTo>
                  <a:close/>
                </a:path>
                <a:path w="6751955" h="19050">
                  <a:moveTo>
                    <a:pt x="152793" y="0"/>
                  </a:moveTo>
                  <a:lnTo>
                    <a:pt x="95643" y="0"/>
                  </a:lnTo>
                  <a:lnTo>
                    <a:pt x="95643" y="19050"/>
                  </a:lnTo>
                  <a:lnTo>
                    <a:pt x="152793" y="19050"/>
                  </a:lnTo>
                  <a:lnTo>
                    <a:pt x="152793" y="0"/>
                  </a:lnTo>
                  <a:close/>
                </a:path>
                <a:path w="6751955" h="19050">
                  <a:moveTo>
                    <a:pt x="248424" y="0"/>
                  </a:moveTo>
                  <a:lnTo>
                    <a:pt x="191274" y="0"/>
                  </a:lnTo>
                  <a:lnTo>
                    <a:pt x="191274" y="19050"/>
                  </a:lnTo>
                  <a:lnTo>
                    <a:pt x="248424" y="19050"/>
                  </a:lnTo>
                  <a:lnTo>
                    <a:pt x="248424" y="0"/>
                  </a:lnTo>
                  <a:close/>
                </a:path>
                <a:path w="6751955" h="19050">
                  <a:moveTo>
                    <a:pt x="344055" y="0"/>
                  </a:moveTo>
                  <a:lnTo>
                    <a:pt x="286905" y="0"/>
                  </a:lnTo>
                  <a:lnTo>
                    <a:pt x="286905" y="19050"/>
                  </a:lnTo>
                  <a:lnTo>
                    <a:pt x="344055" y="19050"/>
                  </a:lnTo>
                  <a:lnTo>
                    <a:pt x="344055" y="0"/>
                  </a:lnTo>
                  <a:close/>
                </a:path>
                <a:path w="6751955" h="19050">
                  <a:moveTo>
                    <a:pt x="439699" y="0"/>
                  </a:moveTo>
                  <a:lnTo>
                    <a:pt x="382549" y="0"/>
                  </a:lnTo>
                  <a:lnTo>
                    <a:pt x="382549" y="19050"/>
                  </a:lnTo>
                  <a:lnTo>
                    <a:pt x="439699" y="19050"/>
                  </a:lnTo>
                  <a:lnTo>
                    <a:pt x="439699" y="0"/>
                  </a:lnTo>
                  <a:close/>
                </a:path>
                <a:path w="6751955" h="19050">
                  <a:moveTo>
                    <a:pt x="535330" y="0"/>
                  </a:moveTo>
                  <a:lnTo>
                    <a:pt x="478180" y="0"/>
                  </a:lnTo>
                  <a:lnTo>
                    <a:pt x="478180" y="19050"/>
                  </a:lnTo>
                  <a:lnTo>
                    <a:pt x="535330" y="19050"/>
                  </a:lnTo>
                  <a:lnTo>
                    <a:pt x="535330" y="0"/>
                  </a:lnTo>
                  <a:close/>
                </a:path>
                <a:path w="6751955" h="19050">
                  <a:moveTo>
                    <a:pt x="630961" y="0"/>
                  </a:moveTo>
                  <a:lnTo>
                    <a:pt x="573811" y="0"/>
                  </a:lnTo>
                  <a:lnTo>
                    <a:pt x="573811" y="19050"/>
                  </a:lnTo>
                  <a:lnTo>
                    <a:pt x="630961" y="19050"/>
                  </a:lnTo>
                  <a:lnTo>
                    <a:pt x="630961" y="0"/>
                  </a:lnTo>
                  <a:close/>
                </a:path>
                <a:path w="6751955" h="19050">
                  <a:moveTo>
                    <a:pt x="726605" y="0"/>
                  </a:moveTo>
                  <a:lnTo>
                    <a:pt x="669455" y="0"/>
                  </a:lnTo>
                  <a:lnTo>
                    <a:pt x="669455" y="19050"/>
                  </a:lnTo>
                  <a:lnTo>
                    <a:pt x="726605" y="19050"/>
                  </a:lnTo>
                  <a:lnTo>
                    <a:pt x="726605" y="0"/>
                  </a:lnTo>
                  <a:close/>
                </a:path>
                <a:path w="6751955" h="19050">
                  <a:moveTo>
                    <a:pt x="822236" y="0"/>
                  </a:moveTo>
                  <a:lnTo>
                    <a:pt x="765086" y="0"/>
                  </a:lnTo>
                  <a:lnTo>
                    <a:pt x="765086" y="19050"/>
                  </a:lnTo>
                  <a:lnTo>
                    <a:pt x="822236" y="19050"/>
                  </a:lnTo>
                  <a:lnTo>
                    <a:pt x="822236" y="0"/>
                  </a:lnTo>
                  <a:close/>
                </a:path>
                <a:path w="6751955" h="19050">
                  <a:moveTo>
                    <a:pt x="917867" y="0"/>
                  </a:moveTo>
                  <a:lnTo>
                    <a:pt x="860717" y="0"/>
                  </a:lnTo>
                  <a:lnTo>
                    <a:pt x="860717" y="19050"/>
                  </a:lnTo>
                  <a:lnTo>
                    <a:pt x="917867" y="19050"/>
                  </a:lnTo>
                  <a:lnTo>
                    <a:pt x="917867" y="0"/>
                  </a:lnTo>
                  <a:close/>
                </a:path>
                <a:path w="6751955" h="19050">
                  <a:moveTo>
                    <a:pt x="1013510" y="0"/>
                  </a:moveTo>
                  <a:lnTo>
                    <a:pt x="956360" y="0"/>
                  </a:lnTo>
                  <a:lnTo>
                    <a:pt x="956360" y="19050"/>
                  </a:lnTo>
                  <a:lnTo>
                    <a:pt x="1013510" y="19050"/>
                  </a:lnTo>
                  <a:lnTo>
                    <a:pt x="1013510" y="0"/>
                  </a:lnTo>
                  <a:close/>
                </a:path>
                <a:path w="6751955" h="19050">
                  <a:moveTo>
                    <a:pt x="1109141" y="0"/>
                  </a:moveTo>
                  <a:lnTo>
                    <a:pt x="1051991" y="0"/>
                  </a:lnTo>
                  <a:lnTo>
                    <a:pt x="1051991" y="19050"/>
                  </a:lnTo>
                  <a:lnTo>
                    <a:pt x="1109141" y="19050"/>
                  </a:lnTo>
                  <a:lnTo>
                    <a:pt x="1109141" y="0"/>
                  </a:lnTo>
                  <a:close/>
                </a:path>
                <a:path w="6751955" h="19050">
                  <a:moveTo>
                    <a:pt x="1204772" y="0"/>
                  </a:moveTo>
                  <a:lnTo>
                    <a:pt x="1147622" y="0"/>
                  </a:lnTo>
                  <a:lnTo>
                    <a:pt x="1147622" y="19050"/>
                  </a:lnTo>
                  <a:lnTo>
                    <a:pt x="1204772" y="19050"/>
                  </a:lnTo>
                  <a:lnTo>
                    <a:pt x="1204772" y="0"/>
                  </a:lnTo>
                  <a:close/>
                </a:path>
                <a:path w="6751955" h="19050">
                  <a:moveTo>
                    <a:pt x="1300403" y="0"/>
                  </a:moveTo>
                  <a:lnTo>
                    <a:pt x="1243253" y="0"/>
                  </a:lnTo>
                  <a:lnTo>
                    <a:pt x="1243253" y="19050"/>
                  </a:lnTo>
                  <a:lnTo>
                    <a:pt x="1300403" y="19050"/>
                  </a:lnTo>
                  <a:lnTo>
                    <a:pt x="1300403" y="0"/>
                  </a:lnTo>
                  <a:close/>
                </a:path>
                <a:path w="6751955" h="19050">
                  <a:moveTo>
                    <a:pt x="1396047" y="0"/>
                  </a:moveTo>
                  <a:lnTo>
                    <a:pt x="1338897" y="0"/>
                  </a:lnTo>
                  <a:lnTo>
                    <a:pt x="1338897" y="19050"/>
                  </a:lnTo>
                  <a:lnTo>
                    <a:pt x="1396047" y="19050"/>
                  </a:lnTo>
                  <a:lnTo>
                    <a:pt x="1396047" y="0"/>
                  </a:lnTo>
                  <a:close/>
                </a:path>
                <a:path w="6751955" h="19050">
                  <a:moveTo>
                    <a:pt x="1491678" y="0"/>
                  </a:moveTo>
                  <a:lnTo>
                    <a:pt x="1434528" y="0"/>
                  </a:lnTo>
                  <a:lnTo>
                    <a:pt x="1434528" y="19050"/>
                  </a:lnTo>
                  <a:lnTo>
                    <a:pt x="1491678" y="19050"/>
                  </a:lnTo>
                  <a:lnTo>
                    <a:pt x="1491678" y="0"/>
                  </a:lnTo>
                  <a:close/>
                </a:path>
                <a:path w="6751955" h="19050">
                  <a:moveTo>
                    <a:pt x="1587309" y="0"/>
                  </a:moveTo>
                  <a:lnTo>
                    <a:pt x="1530159" y="0"/>
                  </a:lnTo>
                  <a:lnTo>
                    <a:pt x="1530159" y="19050"/>
                  </a:lnTo>
                  <a:lnTo>
                    <a:pt x="1587309" y="19050"/>
                  </a:lnTo>
                  <a:lnTo>
                    <a:pt x="1587309" y="0"/>
                  </a:lnTo>
                  <a:close/>
                </a:path>
                <a:path w="6751955" h="19050">
                  <a:moveTo>
                    <a:pt x="1682953" y="0"/>
                  </a:moveTo>
                  <a:lnTo>
                    <a:pt x="1625803" y="0"/>
                  </a:lnTo>
                  <a:lnTo>
                    <a:pt x="1625803" y="19050"/>
                  </a:lnTo>
                  <a:lnTo>
                    <a:pt x="1682953" y="19050"/>
                  </a:lnTo>
                  <a:lnTo>
                    <a:pt x="1682953" y="0"/>
                  </a:lnTo>
                  <a:close/>
                </a:path>
                <a:path w="6751955" h="19050">
                  <a:moveTo>
                    <a:pt x="1778584" y="0"/>
                  </a:moveTo>
                  <a:lnTo>
                    <a:pt x="1721434" y="0"/>
                  </a:lnTo>
                  <a:lnTo>
                    <a:pt x="1721434" y="19050"/>
                  </a:lnTo>
                  <a:lnTo>
                    <a:pt x="1778584" y="19050"/>
                  </a:lnTo>
                  <a:lnTo>
                    <a:pt x="1778584" y="0"/>
                  </a:lnTo>
                  <a:close/>
                </a:path>
                <a:path w="6751955" h="19050">
                  <a:moveTo>
                    <a:pt x="1874215" y="0"/>
                  </a:moveTo>
                  <a:lnTo>
                    <a:pt x="1817065" y="0"/>
                  </a:lnTo>
                  <a:lnTo>
                    <a:pt x="1817065" y="19050"/>
                  </a:lnTo>
                  <a:lnTo>
                    <a:pt x="1874215" y="19050"/>
                  </a:lnTo>
                  <a:lnTo>
                    <a:pt x="1874215" y="0"/>
                  </a:lnTo>
                  <a:close/>
                </a:path>
                <a:path w="6751955" h="19050">
                  <a:moveTo>
                    <a:pt x="1969858" y="0"/>
                  </a:moveTo>
                  <a:lnTo>
                    <a:pt x="1912708" y="0"/>
                  </a:lnTo>
                  <a:lnTo>
                    <a:pt x="1912708" y="19050"/>
                  </a:lnTo>
                  <a:lnTo>
                    <a:pt x="1969858" y="19050"/>
                  </a:lnTo>
                  <a:lnTo>
                    <a:pt x="1969858" y="0"/>
                  </a:lnTo>
                  <a:close/>
                </a:path>
                <a:path w="6751955" h="19050">
                  <a:moveTo>
                    <a:pt x="2065489" y="0"/>
                  </a:moveTo>
                  <a:lnTo>
                    <a:pt x="2008339" y="0"/>
                  </a:lnTo>
                  <a:lnTo>
                    <a:pt x="2008339" y="19050"/>
                  </a:lnTo>
                  <a:lnTo>
                    <a:pt x="2065489" y="19050"/>
                  </a:lnTo>
                  <a:lnTo>
                    <a:pt x="2065489" y="0"/>
                  </a:lnTo>
                  <a:close/>
                </a:path>
                <a:path w="6751955" h="19050">
                  <a:moveTo>
                    <a:pt x="2161121" y="0"/>
                  </a:moveTo>
                  <a:lnTo>
                    <a:pt x="2103970" y="0"/>
                  </a:lnTo>
                  <a:lnTo>
                    <a:pt x="2103970" y="19050"/>
                  </a:lnTo>
                  <a:lnTo>
                    <a:pt x="2161121" y="19050"/>
                  </a:lnTo>
                  <a:lnTo>
                    <a:pt x="2161121" y="0"/>
                  </a:lnTo>
                  <a:close/>
                </a:path>
                <a:path w="6751955" h="19050">
                  <a:moveTo>
                    <a:pt x="2256752" y="0"/>
                  </a:moveTo>
                  <a:lnTo>
                    <a:pt x="2199602" y="0"/>
                  </a:lnTo>
                  <a:lnTo>
                    <a:pt x="2199602" y="19050"/>
                  </a:lnTo>
                  <a:lnTo>
                    <a:pt x="2256752" y="19050"/>
                  </a:lnTo>
                  <a:lnTo>
                    <a:pt x="2256752" y="0"/>
                  </a:lnTo>
                  <a:close/>
                </a:path>
                <a:path w="6751955" h="19050">
                  <a:moveTo>
                    <a:pt x="2352395" y="0"/>
                  </a:moveTo>
                  <a:lnTo>
                    <a:pt x="2295245" y="0"/>
                  </a:lnTo>
                  <a:lnTo>
                    <a:pt x="2295245" y="19050"/>
                  </a:lnTo>
                  <a:lnTo>
                    <a:pt x="2352395" y="19050"/>
                  </a:lnTo>
                  <a:lnTo>
                    <a:pt x="2352395" y="0"/>
                  </a:lnTo>
                  <a:close/>
                </a:path>
                <a:path w="6751955" h="19050">
                  <a:moveTo>
                    <a:pt x="2448026" y="0"/>
                  </a:moveTo>
                  <a:lnTo>
                    <a:pt x="2390876" y="0"/>
                  </a:lnTo>
                  <a:lnTo>
                    <a:pt x="2390876" y="19050"/>
                  </a:lnTo>
                  <a:lnTo>
                    <a:pt x="2448026" y="19050"/>
                  </a:lnTo>
                  <a:lnTo>
                    <a:pt x="2448026" y="0"/>
                  </a:lnTo>
                  <a:close/>
                </a:path>
                <a:path w="6751955" h="19050">
                  <a:moveTo>
                    <a:pt x="2543657" y="0"/>
                  </a:moveTo>
                  <a:lnTo>
                    <a:pt x="2486507" y="0"/>
                  </a:lnTo>
                  <a:lnTo>
                    <a:pt x="2486507" y="19050"/>
                  </a:lnTo>
                  <a:lnTo>
                    <a:pt x="2543657" y="19050"/>
                  </a:lnTo>
                  <a:lnTo>
                    <a:pt x="2543657" y="0"/>
                  </a:lnTo>
                  <a:close/>
                </a:path>
                <a:path w="6751955" h="19050">
                  <a:moveTo>
                    <a:pt x="2639301" y="0"/>
                  </a:moveTo>
                  <a:lnTo>
                    <a:pt x="2582151" y="0"/>
                  </a:lnTo>
                  <a:lnTo>
                    <a:pt x="2582151" y="19050"/>
                  </a:lnTo>
                  <a:lnTo>
                    <a:pt x="2639301" y="19050"/>
                  </a:lnTo>
                  <a:lnTo>
                    <a:pt x="2639301" y="0"/>
                  </a:lnTo>
                  <a:close/>
                </a:path>
                <a:path w="6751955" h="19050">
                  <a:moveTo>
                    <a:pt x="2734932" y="0"/>
                  </a:moveTo>
                  <a:lnTo>
                    <a:pt x="2677782" y="0"/>
                  </a:lnTo>
                  <a:lnTo>
                    <a:pt x="2677782" y="19050"/>
                  </a:lnTo>
                  <a:lnTo>
                    <a:pt x="2734932" y="19050"/>
                  </a:lnTo>
                  <a:lnTo>
                    <a:pt x="2734932" y="0"/>
                  </a:lnTo>
                  <a:close/>
                </a:path>
                <a:path w="6751955" h="19050">
                  <a:moveTo>
                    <a:pt x="2830563" y="0"/>
                  </a:moveTo>
                  <a:lnTo>
                    <a:pt x="2773413" y="0"/>
                  </a:lnTo>
                  <a:lnTo>
                    <a:pt x="2773413" y="19050"/>
                  </a:lnTo>
                  <a:lnTo>
                    <a:pt x="2830563" y="19050"/>
                  </a:lnTo>
                  <a:lnTo>
                    <a:pt x="2830563" y="0"/>
                  </a:lnTo>
                  <a:close/>
                </a:path>
                <a:path w="6751955" h="19050">
                  <a:moveTo>
                    <a:pt x="2926207" y="0"/>
                  </a:moveTo>
                  <a:lnTo>
                    <a:pt x="2869057" y="0"/>
                  </a:lnTo>
                  <a:lnTo>
                    <a:pt x="2869057" y="19050"/>
                  </a:lnTo>
                  <a:lnTo>
                    <a:pt x="2926207" y="19050"/>
                  </a:lnTo>
                  <a:lnTo>
                    <a:pt x="2926207" y="0"/>
                  </a:lnTo>
                  <a:close/>
                </a:path>
                <a:path w="6751955" h="19050">
                  <a:moveTo>
                    <a:pt x="3021838" y="0"/>
                  </a:moveTo>
                  <a:lnTo>
                    <a:pt x="2964688" y="0"/>
                  </a:lnTo>
                  <a:lnTo>
                    <a:pt x="2964688" y="19050"/>
                  </a:lnTo>
                  <a:lnTo>
                    <a:pt x="3021838" y="19050"/>
                  </a:lnTo>
                  <a:lnTo>
                    <a:pt x="3021838" y="0"/>
                  </a:lnTo>
                  <a:close/>
                </a:path>
                <a:path w="6751955" h="19050">
                  <a:moveTo>
                    <a:pt x="3117469" y="0"/>
                  </a:moveTo>
                  <a:lnTo>
                    <a:pt x="3060319" y="0"/>
                  </a:lnTo>
                  <a:lnTo>
                    <a:pt x="3060319" y="19050"/>
                  </a:lnTo>
                  <a:lnTo>
                    <a:pt x="3117469" y="19050"/>
                  </a:lnTo>
                  <a:lnTo>
                    <a:pt x="3117469" y="0"/>
                  </a:lnTo>
                  <a:close/>
                </a:path>
                <a:path w="6751955" h="19050">
                  <a:moveTo>
                    <a:pt x="3213100" y="0"/>
                  </a:moveTo>
                  <a:lnTo>
                    <a:pt x="3155950" y="0"/>
                  </a:lnTo>
                  <a:lnTo>
                    <a:pt x="3155950" y="19050"/>
                  </a:lnTo>
                  <a:lnTo>
                    <a:pt x="3213100" y="19050"/>
                  </a:lnTo>
                  <a:lnTo>
                    <a:pt x="3213100" y="0"/>
                  </a:lnTo>
                  <a:close/>
                </a:path>
                <a:path w="6751955" h="19050">
                  <a:moveTo>
                    <a:pt x="3308743" y="0"/>
                  </a:moveTo>
                  <a:lnTo>
                    <a:pt x="3251593" y="0"/>
                  </a:lnTo>
                  <a:lnTo>
                    <a:pt x="3251593" y="19050"/>
                  </a:lnTo>
                  <a:lnTo>
                    <a:pt x="3308743" y="19050"/>
                  </a:lnTo>
                  <a:lnTo>
                    <a:pt x="3308743" y="0"/>
                  </a:lnTo>
                  <a:close/>
                </a:path>
                <a:path w="6751955" h="19050">
                  <a:moveTo>
                    <a:pt x="3404374" y="0"/>
                  </a:moveTo>
                  <a:lnTo>
                    <a:pt x="3347224" y="0"/>
                  </a:lnTo>
                  <a:lnTo>
                    <a:pt x="3347224" y="19050"/>
                  </a:lnTo>
                  <a:lnTo>
                    <a:pt x="3404374" y="19050"/>
                  </a:lnTo>
                  <a:lnTo>
                    <a:pt x="3404374" y="0"/>
                  </a:lnTo>
                  <a:close/>
                </a:path>
                <a:path w="6751955" h="19050">
                  <a:moveTo>
                    <a:pt x="3500005" y="0"/>
                  </a:moveTo>
                  <a:lnTo>
                    <a:pt x="3442855" y="0"/>
                  </a:lnTo>
                  <a:lnTo>
                    <a:pt x="3442855" y="19050"/>
                  </a:lnTo>
                  <a:lnTo>
                    <a:pt x="3500005" y="19050"/>
                  </a:lnTo>
                  <a:lnTo>
                    <a:pt x="3500005" y="0"/>
                  </a:lnTo>
                  <a:close/>
                </a:path>
                <a:path w="6751955" h="19050">
                  <a:moveTo>
                    <a:pt x="3595649" y="0"/>
                  </a:moveTo>
                  <a:lnTo>
                    <a:pt x="3538499" y="0"/>
                  </a:lnTo>
                  <a:lnTo>
                    <a:pt x="3538499" y="19050"/>
                  </a:lnTo>
                  <a:lnTo>
                    <a:pt x="3595649" y="19050"/>
                  </a:lnTo>
                  <a:lnTo>
                    <a:pt x="3595649" y="0"/>
                  </a:lnTo>
                  <a:close/>
                </a:path>
                <a:path w="6751955" h="19050">
                  <a:moveTo>
                    <a:pt x="3691280" y="0"/>
                  </a:moveTo>
                  <a:lnTo>
                    <a:pt x="3634130" y="0"/>
                  </a:lnTo>
                  <a:lnTo>
                    <a:pt x="3634130" y="19050"/>
                  </a:lnTo>
                  <a:lnTo>
                    <a:pt x="3691280" y="19050"/>
                  </a:lnTo>
                  <a:lnTo>
                    <a:pt x="3691280" y="0"/>
                  </a:lnTo>
                  <a:close/>
                </a:path>
                <a:path w="6751955" h="19050">
                  <a:moveTo>
                    <a:pt x="3786911" y="0"/>
                  </a:moveTo>
                  <a:lnTo>
                    <a:pt x="3729761" y="0"/>
                  </a:lnTo>
                  <a:lnTo>
                    <a:pt x="3729761" y="19050"/>
                  </a:lnTo>
                  <a:lnTo>
                    <a:pt x="3786911" y="19050"/>
                  </a:lnTo>
                  <a:lnTo>
                    <a:pt x="3786911" y="0"/>
                  </a:lnTo>
                  <a:close/>
                </a:path>
                <a:path w="6751955" h="19050">
                  <a:moveTo>
                    <a:pt x="3882555" y="0"/>
                  </a:moveTo>
                  <a:lnTo>
                    <a:pt x="3825405" y="0"/>
                  </a:lnTo>
                  <a:lnTo>
                    <a:pt x="3825405" y="19050"/>
                  </a:lnTo>
                  <a:lnTo>
                    <a:pt x="3882555" y="19050"/>
                  </a:lnTo>
                  <a:lnTo>
                    <a:pt x="3882555" y="0"/>
                  </a:lnTo>
                  <a:close/>
                </a:path>
                <a:path w="6751955" h="19050">
                  <a:moveTo>
                    <a:pt x="3978186" y="0"/>
                  </a:moveTo>
                  <a:lnTo>
                    <a:pt x="3921036" y="0"/>
                  </a:lnTo>
                  <a:lnTo>
                    <a:pt x="3921036" y="19050"/>
                  </a:lnTo>
                  <a:lnTo>
                    <a:pt x="3978186" y="19050"/>
                  </a:lnTo>
                  <a:lnTo>
                    <a:pt x="3978186" y="0"/>
                  </a:lnTo>
                  <a:close/>
                </a:path>
                <a:path w="6751955" h="19050">
                  <a:moveTo>
                    <a:pt x="4073817" y="0"/>
                  </a:moveTo>
                  <a:lnTo>
                    <a:pt x="4016667" y="0"/>
                  </a:lnTo>
                  <a:lnTo>
                    <a:pt x="4016667" y="19050"/>
                  </a:lnTo>
                  <a:lnTo>
                    <a:pt x="4073817" y="19050"/>
                  </a:lnTo>
                  <a:lnTo>
                    <a:pt x="4073817" y="0"/>
                  </a:lnTo>
                  <a:close/>
                </a:path>
                <a:path w="6751955" h="19050">
                  <a:moveTo>
                    <a:pt x="4169460" y="0"/>
                  </a:moveTo>
                  <a:lnTo>
                    <a:pt x="4112310" y="0"/>
                  </a:lnTo>
                  <a:lnTo>
                    <a:pt x="4112310" y="19050"/>
                  </a:lnTo>
                  <a:lnTo>
                    <a:pt x="4169460" y="19050"/>
                  </a:lnTo>
                  <a:lnTo>
                    <a:pt x="4169460" y="0"/>
                  </a:lnTo>
                  <a:close/>
                </a:path>
                <a:path w="6751955" h="19050">
                  <a:moveTo>
                    <a:pt x="4265092" y="0"/>
                  </a:moveTo>
                  <a:lnTo>
                    <a:pt x="4207941" y="0"/>
                  </a:lnTo>
                  <a:lnTo>
                    <a:pt x="4207941" y="19050"/>
                  </a:lnTo>
                  <a:lnTo>
                    <a:pt x="4265092" y="19050"/>
                  </a:lnTo>
                  <a:lnTo>
                    <a:pt x="4265092" y="0"/>
                  </a:lnTo>
                  <a:close/>
                </a:path>
                <a:path w="6751955" h="19050">
                  <a:moveTo>
                    <a:pt x="4360723" y="0"/>
                  </a:moveTo>
                  <a:lnTo>
                    <a:pt x="4303573" y="0"/>
                  </a:lnTo>
                  <a:lnTo>
                    <a:pt x="4303573" y="19050"/>
                  </a:lnTo>
                  <a:lnTo>
                    <a:pt x="4360723" y="19050"/>
                  </a:lnTo>
                  <a:lnTo>
                    <a:pt x="4360723" y="0"/>
                  </a:lnTo>
                  <a:close/>
                </a:path>
                <a:path w="6751955" h="19050">
                  <a:moveTo>
                    <a:pt x="4456354" y="0"/>
                  </a:moveTo>
                  <a:lnTo>
                    <a:pt x="4399204" y="0"/>
                  </a:lnTo>
                  <a:lnTo>
                    <a:pt x="4399204" y="19050"/>
                  </a:lnTo>
                  <a:lnTo>
                    <a:pt x="4456354" y="19050"/>
                  </a:lnTo>
                  <a:lnTo>
                    <a:pt x="4456354" y="0"/>
                  </a:lnTo>
                  <a:close/>
                </a:path>
                <a:path w="6751955" h="19050">
                  <a:moveTo>
                    <a:pt x="4551997" y="0"/>
                  </a:moveTo>
                  <a:lnTo>
                    <a:pt x="4494847" y="0"/>
                  </a:lnTo>
                  <a:lnTo>
                    <a:pt x="4494847" y="19050"/>
                  </a:lnTo>
                  <a:lnTo>
                    <a:pt x="4551997" y="19050"/>
                  </a:lnTo>
                  <a:lnTo>
                    <a:pt x="4551997" y="0"/>
                  </a:lnTo>
                  <a:close/>
                </a:path>
                <a:path w="6751955" h="19050">
                  <a:moveTo>
                    <a:pt x="4647628" y="0"/>
                  </a:moveTo>
                  <a:lnTo>
                    <a:pt x="4590478" y="0"/>
                  </a:lnTo>
                  <a:lnTo>
                    <a:pt x="4590478" y="19050"/>
                  </a:lnTo>
                  <a:lnTo>
                    <a:pt x="4647628" y="19050"/>
                  </a:lnTo>
                  <a:lnTo>
                    <a:pt x="4647628" y="0"/>
                  </a:lnTo>
                  <a:close/>
                </a:path>
                <a:path w="6751955" h="19050">
                  <a:moveTo>
                    <a:pt x="4743259" y="0"/>
                  </a:moveTo>
                  <a:lnTo>
                    <a:pt x="4686109" y="0"/>
                  </a:lnTo>
                  <a:lnTo>
                    <a:pt x="4686109" y="19050"/>
                  </a:lnTo>
                  <a:lnTo>
                    <a:pt x="4743259" y="19050"/>
                  </a:lnTo>
                  <a:lnTo>
                    <a:pt x="4743259" y="0"/>
                  </a:lnTo>
                  <a:close/>
                </a:path>
                <a:path w="6751955" h="19050">
                  <a:moveTo>
                    <a:pt x="4838903" y="0"/>
                  </a:moveTo>
                  <a:lnTo>
                    <a:pt x="4781753" y="0"/>
                  </a:lnTo>
                  <a:lnTo>
                    <a:pt x="4781753" y="19050"/>
                  </a:lnTo>
                  <a:lnTo>
                    <a:pt x="4838903" y="19050"/>
                  </a:lnTo>
                  <a:lnTo>
                    <a:pt x="4838903" y="0"/>
                  </a:lnTo>
                  <a:close/>
                </a:path>
                <a:path w="6751955" h="19050">
                  <a:moveTo>
                    <a:pt x="4934534" y="0"/>
                  </a:moveTo>
                  <a:lnTo>
                    <a:pt x="4877384" y="0"/>
                  </a:lnTo>
                  <a:lnTo>
                    <a:pt x="4877384" y="19050"/>
                  </a:lnTo>
                  <a:lnTo>
                    <a:pt x="4934534" y="19050"/>
                  </a:lnTo>
                  <a:lnTo>
                    <a:pt x="4934534" y="0"/>
                  </a:lnTo>
                  <a:close/>
                </a:path>
                <a:path w="6751955" h="19050">
                  <a:moveTo>
                    <a:pt x="5030165" y="0"/>
                  </a:moveTo>
                  <a:lnTo>
                    <a:pt x="4973015" y="0"/>
                  </a:lnTo>
                  <a:lnTo>
                    <a:pt x="4973015" y="19050"/>
                  </a:lnTo>
                  <a:lnTo>
                    <a:pt x="5030165" y="19050"/>
                  </a:lnTo>
                  <a:lnTo>
                    <a:pt x="5030165" y="0"/>
                  </a:lnTo>
                  <a:close/>
                </a:path>
                <a:path w="6751955" h="19050">
                  <a:moveTo>
                    <a:pt x="5125809" y="0"/>
                  </a:moveTo>
                  <a:lnTo>
                    <a:pt x="5068659" y="0"/>
                  </a:lnTo>
                  <a:lnTo>
                    <a:pt x="5068659" y="19050"/>
                  </a:lnTo>
                  <a:lnTo>
                    <a:pt x="5125809" y="19050"/>
                  </a:lnTo>
                  <a:lnTo>
                    <a:pt x="5125809" y="0"/>
                  </a:lnTo>
                  <a:close/>
                </a:path>
                <a:path w="6751955" h="19050">
                  <a:moveTo>
                    <a:pt x="5221440" y="0"/>
                  </a:moveTo>
                  <a:lnTo>
                    <a:pt x="5164290" y="0"/>
                  </a:lnTo>
                  <a:lnTo>
                    <a:pt x="5164290" y="19050"/>
                  </a:lnTo>
                  <a:lnTo>
                    <a:pt x="5221440" y="19050"/>
                  </a:lnTo>
                  <a:lnTo>
                    <a:pt x="5221440" y="0"/>
                  </a:lnTo>
                  <a:close/>
                </a:path>
                <a:path w="6751955" h="19050">
                  <a:moveTo>
                    <a:pt x="5317071" y="0"/>
                  </a:moveTo>
                  <a:lnTo>
                    <a:pt x="5259921" y="0"/>
                  </a:lnTo>
                  <a:lnTo>
                    <a:pt x="5259921" y="19050"/>
                  </a:lnTo>
                  <a:lnTo>
                    <a:pt x="5317071" y="19050"/>
                  </a:lnTo>
                  <a:lnTo>
                    <a:pt x="5317071" y="0"/>
                  </a:lnTo>
                  <a:close/>
                </a:path>
                <a:path w="6751955" h="19050">
                  <a:moveTo>
                    <a:pt x="5412702" y="0"/>
                  </a:moveTo>
                  <a:lnTo>
                    <a:pt x="5355552" y="0"/>
                  </a:lnTo>
                  <a:lnTo>
                    <a:pt x="5355552" y="19050"/>
                  </a:lnTo>
                  <a:lnTo>
                    <a:pt x="5412702" y="19050"/>
                  </a:lnTo>
                  <a:lnTo>
                    <a:pt x="5412702" y="0"/>
                  </a:lnTo>
                  <a:close/>
                </a:path>
                <a:path w="6751955" h="19050">
                  <a:moveTo>
                    <a:pt x="5508345" y="0"/>
                  </a:moveTo>
                  <a:lnTo>
                    <a:pt x="5451195" y="0"/>
                  </a:lnTo>
                  <a:lnTo>
                    <a:pt x="5451195" y="19050"/>
                  </a:lnTo>
                  <a:lnTo>
                    <a:pt x="5508345" y="19050"/>
                  </a:lnTo>
                  <a:lnTo>
                    <a:pt x="5508345" y="0"/>
                  </a:lnTo>
                  <a:close/>
                </a:path>
                <a:path w="6751955" h="19050">
                  <a:moveTo>
                    <a:pt x="5603976" y="0"/>
                  </a:moveTo>
                  <a:lnTo>
                    <a:pt x="5546826" y="0"/>
                  </a:lnTo>
                  <a:lnTo>
                    <a:pt x="5546826" y="19050"/>
                  </a:lnTo>
                  <a:lnTo>
                    <a:pt x="5603976" y="19050"/>
                  </a:lnTo>
                  <a:lnTo>
                    <a:pt x="5603976" y="0"/>
                  </a:lnTo>
                  <a:close/>
                </a:path>
                <a:path w="6751955" h="19050">
                  <a:moveTo>
                    <a:pt x="5699607" y="0"/>
                  </a:moveTo>
                  <a:lnTo>
                    <a:pt x="5642457" y="0"/>
                  </a:lnTo>
                  <a:lnTo>
                    <a:pt x="5642457" y="19050"/>
                  </a:lnTo>
                  <a:lnTo>
                    <a:pt x="5699607" y="19050"/>
                  </a:lnTo>
                  <a:lnTo>
                    <a:pt x="5699607" y="0"/>
                  </a:lnTo>
                  <a:close/>
                </a:path>
                <a:path w="6751955" h="19050">
                  <a:moveTo>
                    <a:pt x="5795251" y="0"/>
                  </a:moveTo>
                  <a:lnTo>
                    <a:pt x="5738101" y="0"/>
                  </a:lnTo>
                  <a:lnTo>
                    <a:pt x="5738101" y="19050"/>
                  </a:lnTo>
                  <a:lnTo>
                    <a:pt x="5795251" y="19050"/>
                  </a:lnTo>
                  <a:lnTo>
                    <a:pt x="5795251" y="0"/>
                  </a:lnTo>
                  <a:close/>
                </a:path>
                <a:path w="6751955" h="19050">
                  <a:moveTo>
                    <a:pt x="5890882" y="0"/>
                  </a:moveTo>
                  <a:lnTo>
                    <a:pt x="5833732" y="0"/>
                  </a:lnTo>
                  <a:lnTo>
                    <a:pt x="5833732" y="19050"/>
                  </a:lnTo>
                  <a:lnTo>
                    <a:pt x="5890882" y="19050"/>
                  </a:lnTo>
                  <a:lnTo>
                    <a:pt x="5890882" y="0"/>
                  </a:lnTo>
                  <a:close/>
                </a:path>
                <a:path w="6751955" h="19050">
                  <a:moveTo>
                    <a:pt x="5986513" y="0"/>
                  </a:moveTo>
                  <a:lnTo>
                    <a:pt x="5929363" y="0"/>
                  </a:lnTo>
                  <a:lnTo>
                    <a:pt x="5929363" y="19050"/>
                  </a:lnTo>
                  <a:lnTo>
                    <a:pt x="5986513" y="19050"/>
                  </a:lnTo>
                  <a:lnTo>
                    <a:pt x="5986513" y="0"/>
                  </a:lnTo>
                  <a:close/>
                </a:path>
                <a:path w="6751955" h="19050">
                  <a:moveTo>
                    <a:pt x="6082157" y="0"/>
                  </a:moveTo>
                  <a:lnTo>
                    <a:pt x="6025007" y="0"/>
                  </a:lnTo>
                  <a:lnTo>
                    <a:pt x="6025007" y="19050"/>
                  </a:lnTo>
                  <a:lnTo>
                    <a:pt x="6082157" y="19050"/>
                  </a:lnTo>
                  <a:lnTo>
                    <a:pt x="6082157" y="0"/>
                  </a:lnTo>
                  <a:close/>
                </a:path>
                <a:path w="6751955" h="19050">
                  <a:moveTo>
                    <a:pt x="6177788" y="0"/>
                  </a:moveTo>
                  <a:lnTo>
                    <a:pt x="6120638" y="0"/>
                  </a:lnTo>
                  <a:lnTo>
                    <a:pt x="6120638" y="19050"/>
                  </a:lnTo>
                  <a:lnTo>
                    <a:pt x="6177788" y="19050"/>
                  </a:lnTo>
                  <a:lnTo>
                    <a:pt x="6177788" y="0"/>
                  </a:lnTo>
                  <a:close/>
                </a:path>
                <a:path w="6751955" h="19050">
                  <a:moveTo>
                    <a:pt x="6273419" y="0"/>
                  </a:moveTo>
                  <a:lnTo>
                    <a:pt x="6216269" y="0"/>
                  </a:lnTo>
                  <a:lnTo>
                    <a:pt x="6216269" y="19050"/>
                  </a:lnTo>
                  <a:lnTo>
                    <a:pt x="6273419" y="19050"/>
                  </a:lnTo>
                  <a:lnTo>
                    <a:pt x="6273419" y="0"/>
                  </a:lnTo>
                  <a:close/>
                </a:path>
                <a:path w="6751955" h="19050">
                  <a:moveTo>
                    <a:pt x="6369050" y="0"/>
                  </a:moveTo>
                  <a:lnTo>
                    <a:pt x="6311900" y="0"/>
                  </a:lnTo>
                  <a:lnTo>
                    <a:pt x="6311900" y="19050"/>
                  </a:lnTo>
                  <a:lnTo>
                    <a:pt x="6369050" y="19050"/>
                  </a:lnTo>
                  <a:lnTo>
                    <a:pt x="6369050" y="0"/>
                  </a:lnTo>
                  <a:close/>
                </a:path>
                <a:path w="6751955" h="19050">
                  <a:moveTo>
                    <a:pt x="6464694" y="0"/>
                  </a:moveTo>
                  <a:lnTo>
                    <a:pt x="6407544" y="0"/>
                  </a:lnTo>
                  <a:lnTo>
                    <a:pt x="6407544" y="19050"/>
                  </a:lnTo>
                  <a:lnTo>
                    <a:pt x="6464694" y="19050"/>
                  </a:lnTo>
                  <a:lnTo>
                    <a:pt x="6464694" y="0"/>
                  </a:lnTo>
                  <a:close/>
                </a:path>
                <a:path w="6751955" h="19050">
                  <a:moveTo>
                    <a:pt x="6560325" y="0"/>
                  </a:moveTo>
                  <a:lnTo>
                    <a:pt x="6503175" y="0"/>
                  </a:lnTo>
                  <a:lnTo>
                    <a:pt x="6503175" y="19050"/>
                  </a:lnTo>
                  <a:lnTo>
                    <a:pt x="6560325" y="19050"/>
                  </a:lnTo>
                  <a:lnTo>
                    <a:pt x="6560325" y="0"/>
                  </a:lnTo>
                  <a:close/>
                </a:path>
                <a:path w="6751955" h="19050">
                  <a:moveTo>
                    <a:pt x="6655956" y="0"/>
                  </a:moveTo>
                  <a:lnTo>
                    <a:pt x="6598806" y="0"/>
                  </a:lnTo>
                  <a:lnTo>
                    <a:pt x="6598806" y="19050"/>
                  </a:lnTo>
                  <a:lnTo>
                    <a:pt x="6655956" y="19050"/>
                  </a:lnTo>
                  <a:lnTo>
                    <a:pt x="6655956" y="0"/>
                  </a:lnTo>
                  <a:close/>
                </a:path>
                <a:path w="6751955" h="19050">
                  <a:moveTo>
                    <a:pt x="6751599" y="0"/>
                  </a:moveTo>
                  <a:lnTo>
                    <a:pt x="6694449" y="0"/>
                  </a:lnTo>
                  <a:lnTo>
                    <a:pt x="6694449" y="19050"/>
                  </a:lnTo>
                  <a:lnTo>
                    <a:pt x="6751599" y="19050"/>
                  </a:lnTo>
                  <a:lnTo>
                    <a:pt x="6751599" y="0"/>
                  </a:lnTo>
                  <a:close/>
                </a:path>
              </a:pathLst>
            </a:custGeom>
            <a:solidFill>
              <a:srgbClr val="2453D5">
                <a:alpha val="2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027937" y="3219462"/>
              <a:ext cx="2830830" cy="19050"/>
            </a:xfrm>
            <a:custGeom>
              <a:avLst/>
              <a:gdLst/>
              <a:ahLst/>
              <a:cxnLst/>
              <a:rect l="l" t="t" r="r" b="b"/>
              <a:pathLst>
                <a:path w="2830829" h="19050">
                  <a:moveTo>
                    <a:pt x="5715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57150" y="19050"/>
                  </a:lnTo>
                  <a:lnTo>
                    <a:pt x="57150" y="0"/>
                  </a:lnTo>
                  <a:close/>
                </a:path>
                <a:path w="2830829" h="19050">
                  <a:moveTo>
                    <a:pt x="152781" y="0"/>
                  </a:moveTo>
                  <a:lnTo>
                    <a:pt x="95631" y="0"/>
                  </a:lnTo>
                  <a:lnTo>
                    <a:pt x="95631" y="19050"/>
                  </a:lnTo>
                  <a:lnTo>
                    <a:pt x="152781" y="19050"/>
                  </a:lnTo>
                  <a:lnTo>
                    <a:pt x="152781" y="0"/>
                  </a:lnTo>
                  <a:close/>
                </a:path>
                <a:path w="2830829" h="19050">
                  <a:moveTo>
                    <a:pt x="248412" y="0"/>
                  </a:moveTo>
                  <a:lnTo>
                    <a:pt x="191262" y="0"/>
                  </a:lnTo>
                  <a:lnTo>
                    <a:pt x="191262" y="19050"/>
                  </a:lnTo>
                  <a:lnTo>
                    <a:pt x="248412" y="19050"/>
                  </a:lnTo>
                  <a:lnTo>
                    <a:pt x="248412" y="0"/>
                  </a:lnTo>
                  <a:close/>
                </a:path>
                <a:path w="2830829" h="19050">
                  <a:moveTo>
                    <a:pt x="344055" y="0"/>
                  </a:moveTo>
                  <a:lnTo>
                    <a:pt x="286905" y="0"/>
                  </a:lnTo>
                  <a:lnTo>
                    <a:pt x="286905" y="19050"/>
                  </a:lnTo>
                  <a:lnTo>
                    <a:pt x="344055" y="19050"/>
                  </a:lnTo>
                  <a:lnTo>
                    <a:pt x="344055" y="0"/>
                  </a:lnTo>
                  <a:close/>
                </a:path>
                <a:path w="2830829" h="19050">
                  <a:moveTo>
                    <a:pt x="439686" y="0"/>
                  </a:moveTo>
                  <a:lnTo>
                    <a:pt x="382536" y="0"/>
                  </a:lnTo>
                  <a:lnTo>
                    <a:pt x="382536" y="19050"/>
                  </a:lnTo>
                  <a:lnTo>
                    <a:pt x="439686" y="19050"/>
                  </a:lnTo>
                  <a:lnTo>
                    <a:pt x="439686" y="0"/>
                  </a:lnTo>
                  <a:close/>
                </a:path>
                <a:path w="2830829" h="19050">
                  <a:moveTo>
                    <a:pt x="535317" y="0"/>
                  </a:moveTo>
                  <a:lnTo>
                    <a:pt x="478167" y="0"/>
                  </a:lnTo>
                  <a:lnTo>
                    <a:pt x="478167" y="19050"/>
                  </a:lnTo>
                  <a:lnTo>
                    <a:pt x="535317" y="19050"/>
                  </a:lnTo>
                  <a:lnTo>
                    <a:pt x="535317" y="0"/>
                  </a:lnTo>
                  <a:close/>
                </a:path>
                <a:path w="2830829" h="19050">
                  <a:moveTo>
                    <a:pt x="630948" y="0"/>
                  </a:moveTo>
                  <a:lnTo>
                    <a:pt x="573798" y="0"/>
                  </a:lnTo>
                  <a:lnTo>
                    <a:pt x="573798" y="19050"/>
                  </a:lnTo>
                  <a:lnTo>
                    <a:pt x="630948" y="19050"/>
                  </a:lnTo>
                  <a:lnTo>
                    <a:pt x="630948" y="0"/>
                  </a:lnTo>
                  <a:close/>
                </a:path>
                <a:path w="2830829" h="19050">
                  <a:moveTo>
                    <a:pt x="726592" y="0"/>
                  </a:moveTo>
                  <a:lnTo>
                    <a:pt x="669442" y="0"/>
                  </a:lnTo>
                  <a:lnTo>
                    <a:pt x="669442" y="19050"/>
                  </a:lnTo>
                  <a:lnTo>
                    <a:pt x="726592" y="19050"/>
                  </a:lnTo>
                  <a:lnTo>
                    <a:pt x="726592" y="0"/>
                  </a:lnTo>
                  <a:close/>
                </a:path>
                <a:path w="2830829" h="19050">
                  <a:moveTo>
                    <a:pt x="822223" y="0"/>
                  </a:moveTo>
                  <a:lnTo>
                    <a:pt x="765073" y="0"/>
                  </a:lnTo>
                  <a:lnTo>
                    <a:pt x="765073" y="19050"/>
                  </a:lnTo>
                  <a:lnTo>
                    <a:pt x="822223" y="19050"/>
                  </a:lnTo>
                  <a:lnTo>
                    <a:pt x="822223" y="0"/>
                  </a:lnTo>
                  <a:close/>
                </a:path>
                <a:path w="2830829" h="19050">
                  <a:moveTo>
                    <a:pt x="917854" y="0"/>
                  </a:moveTo>
                  <a:lnTo>
                    <a:pt x="860704" y="0"/>
                  </a:lnTo>
                  <a:lnTo>
                    <a:pt x="860704" y="19050"/>
                  </a:lnTo>
                  <a:lnTo>
                    <a:pt x="917854" y="19050"/>
                  </a:lnTo>
                  <a:lnTo>
                    <a:pt x="917854" y="0"/>
                  </a:lnTo>
                  <a:close/>
                </a:path>
                <a:path w="2830829" h="19050">
                  <a:moveTo>
                    <a:pt x="1013498" y="0"/>
                  </a:moveTo>
                  <a:lnTo>
                    <a:pt x="956348" y="0"/>
                  </a:lnTo>
                  <a:lnTo>
                    <a:pt x="956348" y="19050"/>
                  </a:lnTo>
                  <a:lnTo>
                    <a:pt x="1013498" y="19050"/>
                  </a:lnTo>
                  <a:lnTo>
                    <a:pt x="1013498" y="0"/>
                  </a:lnTo>
                  <a:close/>
                </a:path>
                <a:path w="2830829" h="19050">
                  <a:moveTo>
                    <a:pt x="1109129" y="0"/>
                  </a:moveTo>
                  <a:lnTo>
                    <a:pt x="1051979" y="0"/>
                  </a:lnTo>
                  <a:lnTo>
                    <a:pt x="1051979" y="19050"/>
                  </a:lnTo>
                  <a:lnTo>
                    <a:pt x="1109129" y="19050"/>
                  </a:lnTo>
                  <a:lnTo>
                    <a:pt x="1109129" y="0"/>
                  </a:lnTo>
                  <a:close/>
                </a:path>
                <a:path w="2830829" h="19050">
                  <a:moveTo>
                    <a:pt x="1204760" y="0"/>
                  </a:moveTo>
                  <a:lnTo>
                    <a:pt x="1147610" y="0"/>
                  </a:lnTo>
                  <a:lnTo>
                    <a:pt x="1147610" y="19050"/>
                  </a:lnTo>
                  <a:lnTo>
                    <a:pt x="1204760" y="19050"/>
                  </a:lnTo>
                  <a:lnTo>
                    <a:pt x="1204760" y="0"/>
                  </a:lnTo>
                  <a:close/>
                </a:path>
                <a:path w="2830829" h="19050">
                  <a:moveTo>
                    <a:pt x="1300403" y="0"/>
                  </a:moveTo>
                  <a:lnTo>
                    <a:pt x="1243253" y="0"/>
                  </a:lnTo>
                  <a:lnTo>
                    <a:pt x="1243253" y="19050"/>
                  </a:lnTo>
                  <a:lnTo>
                    <a:pt x="1300403" y="19050"/>
                  </a:lnTo>
                  <a:lnTo>
                    <a:pt x="1300403" y="0"/>
                  </a:lnTo>
                  <a:close/>
                </a:path>
                <a:path w="2830829" h="19050">
                  <a:moveTo>
                    <a:pt x="1396034" y="0"/>
                  </a:moveTo>
                  <a:lnTo>
                    <a:pt x="1338884" y="0"/>
                  </a:lnTo>
                  <a:lnTo>
                    <a:pt x="1338884" y="19050"/>
                  </a:lnTo>
                  <a:lnTo>
                    <a:pt x="1396034" y="19050"/>
                  </a:lnTo>
                  <a:lnTo>
                    <a:pt x="1396034" y="0"/>
                  </a:lnTo>
                  <a:close/>
                </a:path>
                <a:path w="2830829" h="19050">
                  <a:moveTo>
                    <a:pt x="1491665" y="0"/>
                  </a:moveTo>
                  <a:lnTo>
                    <a:pt x="1434515" y="0"/>
                  </a:lnTo>
                  <a:lnTo>
                    <a:pt x="1434515" y="19050"/>
                  </a:lnTo>
                  <a:lnTo>
                    <a:pt x="1491665" y="19050"/>
                  </a:lnTo>
                  <a:lnTo>
                    <a:pt x="1491665" y="0"/>
                  </a:lnTo>
                  <a:close/>
                </a:path>
                <a:path w="2830829" h="19050">
                  <a:moveTo>
                    <a:pt x="1587309" y="0"/>
                  </a:moveTo>
                  <a:lnTo>
                    <a:pt x="1530159" y="0"/>
                  </a:lnTo>
                  <a:lnTo>
                    <a:pt x="1530159" y="19050"/>
                  </a:lnTo>
                  <a:lnTo>
                    <a:pt x="1587309" y="19050"/>
                  </a:lnTo>
                  <a:lnTo>
                    <a:pt x="1587309" y="0"/>
                  </a:lnTo>
                  <a:close/>
                </a:path>
                <a:path w="2830829" h="19050">
                  <a:moveTo>
                    <a:pt x="1682940" y="0"/>
                  </a:moveTo>
                  <a:lnTo>
                    <a:pt x="1625790" y="0"/>
                  </a:lnTo>
                  <a:lnTo>
                    <a:pt x="1625790" y="19050"/>
                  </a:lnTo>
                  <a:lnTo>
                    <a:pt x="1682940" y="19050"/>
                  </a:lnTo>
                  <a:lnTo>
                    <a:pt x="1682940" y="0"/>
                  </a:lnTo>
                  <a:close/>
                </a:path>
                <a:path w="2830829" h="19050">
                  <a:moveTo>
                    <a:pt x="1778571" y="0"/>
                  </a:moveTo>
                  <a:lnTo>
                    <a:pt x="1721421" y="0"/>
                  </a:lnTo>
                  <a:lnTo>
                    <a:pt x="1721421" y="19050"/>
                  </a:lnTo>
                  <a:lnTo>
                    <a:pt x="1778571" y="19050"/>
                  </a:lnTo>
                  <a:lnTo>
                    <a:pt x="1778571" y="0"/>
                  </a:lnTo>
                  <a:close/>
                </a:path>
                <a:path w="2830829" h="19050">
                  <a:moveTo>
                    <a:pt x="1874202" y="0"/>
                  </a:moveTo>
                  <a:lnTo>
                    <a:pt x="1817052" y="0"/>
                  </a:lnTo>
                  <a:lnTo>
                    <a:pt x="1817052" y="19050"/>
                  </a:lnTo>
                  <a:lnTo>
                    <a:pt x="1874202" y="19050"/>
                  </a:lnTo>
                  <a:lnTo>
                    <a:pt x="1874202" y="0"/>
                  </a:lnTo>
                  <a:close/>
                </a:path>
                <a:path w="2830829" h="19050">
                  <a:moveTo>
                    <a:pt x="1969846" y="0"/>
                  </a:moveTo>
                  <a:lnTo>
                    <a:pt x="1912696" y="0"/>
                  </a:lnTo>
                  <a:lnTo>
                    <a:pt x="1912696" y="19050"/>
                  </a:lnTo>
                  <a:lnTo>
                    <a:pt x="1969846" y="19050"/>
                  </a:lnTo>
                  <a:lnTo>
                    <a:pt x="1969846" y="0"/>
                  </a:lnTo>
                  <a:close/>
                </a:path>
                <a:path w="2830829" h="19050">
                  <a:moveTo>
                    <a:pt x="2065477" y="0"/>
                  </a:moveTo>
                  <a:lnTo>
                    <a:pt x="2008327" y="0"/>
                  </a:lnTo>
                  <a:lnTo>
                    <a:pt x="2008327" y="19050"/>
                  </a:lnTo>
                  <a:lnTo>
                    <a:pt x="2065477" y="19050"/>
                  </a:lnTo>
                  <a:lnTo>
                    <a:pt x="2065477" y="0"/>
                  </a:lnTo>
                  <a:close/>
                </a:path>
                <a:path w="2830829" h="19050">
                  <a:moveTo>
                    <a:pt x="2161108" y="0"/>
                  </a:moveTo>
                  <a:lnTo>
                    <a:pt x="2103958" y="0"/>
                  </a:lnTo>
                  <a:lnTo>
                    <a:pt x="2103958" y="19050"/>
                  </a:lnTo>
                  <a:lnTo>
                    <a:pt x="2161108" y="19050"/>
                  </a:lnTo>
                  <a:lnTo>
                    <a:pt x="2161108" y="0"/>
                  </a:lnTo>
                  <a:close/>
                </a:path>
                <a:path w="2830829" h="19050">
                  <a:moveTo>
                    <a:pt x="2256752" y="0"/>
                  </a:moveTo>
                  <a:lnTo>
                    <a:pt x="2199602" y="0"/>
                  </a:lnTo>
                  <a:lnTo>
                    <a:pt x="2199602" y="19050"/>
                  </a:lnTo>
                  <a:lnTo>
                    <a:pt x="2256752" y="19050"/>
                  </a:lnTo>
                  <a:lnTo>
                    <a:pt x="2256752" y="0"/>
                  </a:lnTo>
                  <a:close/>
                </a:path>
                <a:path w="2830829" h="19050">
                  <a:moveTo>
                    <a:pt x="2352383" y="0"/>
                  </a:moveTo>
                  <a:lnTo>
                    <a:pt x="2295233" y="0"/>
                  </a:lnTo>
                  <a:lnTo>
                    <a:pt x="2295233" y="19050"/>
                  </a:lnTo>
                  <a:lnTo>
                    <a:pt x="2352383" y="19050"/>
                  </a:lnTo>
                  <a:lnTo>
                    <a:pt x="2352383" y="0"/>
                  </a:lnTo>
                  <a:close/>
                </a:path>
                <a:path w="2830829" h="19050">
                  <a:moveTo>
                    <a:pt x="2448014" y="0"/>
                  </a:moveTo>
                  <a:lnTo>
                    <a:pt x="2390864" y="0"/>
                  </a:lnTo>
                  <a:lnTo>
                    <a:pt x="2390864" y="19050"/>
                  </a:lnTo>
                  <a:lnTo>
                    <a:pt x="2448014" y="19050"/>
                  </a:lnTo>
                  <a:lnTo>
                    <a:pt x="2448014" y="0"/>
                  </a:lnTo>
                  <a:close/>
                </a:path>
                <a:path w="2830829" h="19050">
                  <a:moveTo>
                    <a:pt x="2543657" y="0"/>
                  </a:moveTo>
                  <a:lnTo>
                    <a:pt x="2486507" y="0"/>
                  </a:lnTo>
                  <a:lnTo>
                    <a:pt x="2486507" y="19050"/>
                  </a:lnTo>
                  <a:lnTo>
                    <a:pt x="2543657" y="19050"/>
                  </a:lnTo>
                  <a:lnTo>
                    <a:pt x="2543657" y="0"/>
                  </a:lnTo>
                  <a:close/>
                </a:path>
                <a:path w="2830829" h="19050">
                  <a:moveTo>
                    <a:pt x="2639288" y="0"/>
                  </a:moveTo>
                  <a:lnTo>
                    <a:pt x="2582138" y="0"/>
                  </a:lnTo>
                  <a:lnTo>
                    <a:pt x="2582138" y="19050"/>
                  </a:lnTo>
                  <a:lnTo>
                    <a:pt x="2639288" y="19050"/>
                  </a:lnTo>
                  <a:lnTo>
                    <a:pt x="2639288" y="0"/>
                  </a:lnTo>
                  <a:close/>
                </a:path>
                <a:path w="2830829" h="19050">
                  <a:moveTo>
                    <a:pt x="2734919" y="0"/>
                  </a:moveTo>
                  <a:lnTo>
                    <a:pt x="2677769" y="0"/>
                  </a:lnTo>
                  <a:lnTo>
                    <a:pt x="2677769" y="19050"/>
                  </a:lnTo>
                  <a:lnTo>
                    <a:pt x="2734919" y="19050"/>
                  </a:lnTo>
                  <a:lnTo>
                    <a:pt x="2734919" y="0"/>
                  </a:lnTo>
                  <a:close/>
                </a:path>
                <a:path w="2830829" h="19050">
                  <a:moveTo>
                    <a:pt x="2830550" y="0"/>
                  </a:moveTo>
                  <a:lnTo>
                    <a:pt x="2773400" y="0"/>
                  </a:lnTo>
                  <a:lnTo>
                    <a:pt x="2773400" y="19050"/>
                  </a:lnTo>
                  <a:lnTo>
                    <a:pt x="2830550" y="19050"/>
                  </a:lnTo>
                  <a:lnTo>
                    <a:pt x="2830550" y="0"/>
                  </a:lnTo>
                  <a:close/>
                </a:path>
              </a:pathLst>
            </a:custGeom>
            <a:solidFill>
              <a:srgbClr val="2453D5">
                <a:alpha val="2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9872" y="2538983"/>
              <a:ext cx="11192255" cy="26273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6475" y="3057524"/>
              <a:ext cx="254000" cy="228600"/>
            </a:xfrm>
            <a:prstGeom prst="rect">
              <a:avLst/>
            </a:prstGeom>
          </p:spPr>
        </p:pic>
      </p:grpSp>
      <p:sp>
        <p:nvSpPr>
          <p:cNvPr id="21" name="object 21"/>
          <p:cNvSpPr/>
          <p:nvPr/>
        </p:nvSpPr>
        <p:spPr>
          <a:xfrm>
            <a:off x="685799" y="6334124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10820399" y="9524"/>
                </a:moveTo>
                <a:lnTo>
                  <a:pt x="0" y="9524"/>
                </a:lnTo>
                <a:lnTo>
                  <a:pt x="0" y="0"/>
                </a:lnTo>
                <a:lnTo>
                  <a:pt x="10820399" y="0"/>
                </a:lnTo>
                <a:lnTo>
                  <a:pt x="10820399" y="9524"/>
                </a:lnTo>
                <a:close/>
              </a:path>
            </a:pathLst>
          </a:custGeom>
          <a:solidFill>
            <a:srgbClr val="E4E8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854074" y="3492797"/>
            <a:ext cx="75946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solidFill>
                  <a:srgbClr val="2453D5"/>
                </a:solidFill>
                <a:latin typeface="Arial"/>
                <a:cs typeface="Arial"/>
              </a:rPr>
              <a:t>1.</a:t>
            </a:r>
            <a:r>
              <a:rPr dirty="0" sz="1400" spc="-3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500" spc="-35" b="1">
                <a:solidFill>
                  <a:srgbClr val="121725"/>
                </a:solidFill>
                <a:latin typeface="Arial"/>
                <a:cs typeface="Arial"/>
              </a:rPr>
              <a:t>Accès</a:t>
            </a:r>
            <a:endParaRPr sz="15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4074" y="3814590"/>
            <a:ext cx="2040255" cy="57086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 marR="17145">
              <a:lnSpc>
                <a:spcPct val="108000"/>
              </a:lnSpc>
              <a:spcBef>
                <a:spcPts val="30"/>
              </a:spcBef>
            </a:pP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L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utilisateur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ouvre</a:t>
            </a:r>
            <a:r>
              <a:rPr dirty="0" sz="105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dirty="0" sz="105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site</a:t>
            </a:r>
            <a:r>
              <a:rPr dirty="0" sz="105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via</a:t>
            </a:r>
            <a:r>
              <a:rPr dirty="0" sz="105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l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URL 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GitHub</a:t>
            </a:r>
            <a:r>
              <a:rPr dirty="0" sz="105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5C6A81"/>
                </a:solidFill>
                <a:latin typeface="Microsoft Sans Serif"/>
                <a:cs typeface="Microsoft Sans Serif"/>
              </a:rPr>
              <a:t>Pages</a:t>
            </a:r>
            <a:r>
              <a:rPr dirty="0" sz="1100" spc="-3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dirty="0" sz="1100" spc="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 b="1">
                <a:solidFill>
                  <a:srgbClr val="121725"/>
                </a:solidFill>
                <a:latin typeface="Arial"/>
                <a:cs typeface="Arial"/>
              </a:rPr>
              <a:t>Aucune</a:t>
            </a:r>
            <a:r>
              <a:rPr dirty="0" sz="1050" spc="-7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050" spc="-35" b="1">
                <a:solidFill>
                  <a:srgbClr val="121725"/>
                </a:solidFill>
                <a:latin typeface="Arial"/>
                <a:cs typeface="Arial"/>
              </a:rPr>
              <a:t>connexion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1050" spc="-25" b="1">
                <a:solidFill>
                  <a:srgbClr val="121725"/>
                </a:solidFill>
                <a:latin typeface="Arial"/>
                <a:cs typeface="Arial"/>
              </a:rPr>
              <a:t>requise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pour consulter le</a:t>
            </a:r>
            <a:r>
              <a:rPr dirty="0" sz="105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contenu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35969" y="2600280"/>
            <a:ext cx="56197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spc="75" b="1">
                <a:solidFill>
                  <a:srgbClr val="5C6A81"/>
                </a:solidFill>
                <a:latin typeface="Trebuchet MS"/>
                <a:cs typeface="Trebuchet MS"/>
              </a:rPr>
              <a:t>ÉTAPE</a:t>
            </a:r>
            <a:r>
              <a:rPr dirty="0" sz="850" spc="60" b="1">
                <a:solidFill>
                  <a:srgbClr val="5C6A81"/>
                </a:solidFill>
                <a:latin typeface="Trebuchet MS"/>
                <a:cs typeface="Trebuchet MS"/>
              </a:rPr>
              <a:t> </a:t>
            </a:r>
            <a:r>
              <a:rPr dirty="0" sz="850" spc="-25" b="1">
                <a:solidFill>
                  <a:srgbClr val="5C6A81"/>
                </a:solidFill>
                <a:latin typeface="Arial"/>
                <a:cs typeface="Arial"/>
              </a:rPr>
              <a:t>01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767137" y="3044824"/>
            <a:ext cx="5737225" cy="254000"/>
            <a:chOff x="3767137" y="3044824"/>
            <a:chExt cx="5737225" cy="254000"/>
          </a:xfrm>
        </p:grpSpPr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67137" y="3095624"/>
              <a:ext cx="228600" cy="1524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15099" y="3057524"/>
              <a:ext cx="222250" cy="2222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50362" y="3044824"/>
              <a:ext cx="254000" cy="254000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3602037" y="3492797"/>
            <a:ext cx="1180465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solidFill>
                  <a:srgbClr val="F59D0A"/>
                </a:solidFill>
                <a:latin typeface="Arial"/>
                <a:cs typeface="Arial"/>
              </a:rPr>
              <a:t>2.</a:t>
            </a:r>
            <a:r>
              <a:rPr dirty="0" sz="1400" spc="229" b="1">
                <a:solidFill>
                  <a:srgbClr val="F59D0A"/>
                </a:solidFill>
                <a:latin typeface="Arial"/>
                <a:cs typeface="Arial"/>
              </a:rPr>
              <a:t> </a:t>
            </a:r>
            <a:r>
              <a:rPr dirty="0" sz="1500" spc="-40" b="1">
                <a:solidFill>
                  <a:srgbClr val="121725"/>
                </a:solidFill>
                <a:latin typeface="Arial"/>
                <a:cs typeface="Arial"/>
              </a:rPr>
              <a:t>Navigation</a:t>
            </a:r>
            <a:endParaRPr sz="15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73100" y="6474593"/>
            <a:ext cx="1210310" cy="161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AfriTalent By</a:t>
            </a:r>
            <a:r>
              <a:rPr dirty="0" sz="950" spc="-10">
                <a:solidFill>
                  <a:srgbClr val="5C6A81"/>
                </a:solidFill>
                <a:latin typeface="Microsoft Sans Serif"/>
                <a:cs typeface="Microsoft Sans Serif"/>
              </a:rPr>
              <a:t> Agent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23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525717" y="6474593"/>
            <a:ext cx="2992120" cy="161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Contact</a:t>
            </a:r>
            <a:r>
              <a:rPr dirty="0" sz="95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:</a:t>
            </a:r>
            <a:r>
              <a:rPr dirty="0" sz="1050" spc="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40">
                <a:solidFill>
                  <a:srgbClr val="5C6A81"/>
                </a:solidFill>
                <a:latin typeface="Microsoft Sans Serif"/>
                <a:cs typeface="Microsoft Sans Serif"/>
                <a:hlinkClick r:id="rId11"/>
              </a:rPr>
              <a:t>agent</a:t>
            </a:r>
            <a:r>
              <a:rPr dirty="0" sz="1050" spc="-40">
                <a:solidFill>
                  <a:srgbClr val="5C6A81"/>
                </a:solidFill>
                <a:latin typeface="Microsoft Sans Serif"/>
                <a:cs typeface="Microsoft Sans Serif"/>
                <a:hlinkClick r:id="rId11"/>
              </a:rPr>
              <a:t>210601@</a:t>
            </a:r>
            <a:r>
              <a:rPr dirty="0" sz="950" spc="-40">
                <a:solidFill>
                  <a:srgbClr val="5C6A81"/>
                </a:solidFill>
                <a:latin typeface="Microsoft Sans Serif"/>
                <a:cs typeface="Microsoft Sans Serif"/>
                <a:hlinkClick r:id="rId11"/>
              </a:rPr>
              <a:t>gmail</a:t>
            </a:r>
            <a:r>
              <a:rPr dirty="0" sz="1050" spc="-40">
                <a:solidFill>
                  <a:srgbClr val="5C6A81"/>
                </a:solidFill>
                <a:latin typeface="Microsoft Sans Serif"/>
                <a:cs typeface="Microsoft Sans Serif"/>
                <a:hlinkClick r:id="rId11"/>
              </a:rPr>
              <a:t>.</a:t>
            </a:r>
            <a:r>
              <a:rPr dirty="0" sz="950" spc="-40">
                <a:solidFill>
                  <a:srgbClr val="5C6A81"/>
                </a:solidFill>
                <a:latin typeface="Microsoft Sans Serif"/>
                <a:cs typeface="Microsoft Sans Serif"/>
                <a:hlinkClick r:id="rId11"/>
              </a:rPr>
              <a:t>com</a:t>
            </a:r>
            <a:r>
              <a:rPr dirty="0" sz="95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dirty="0" sz="1050" spc="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5">
                <a:solidFill>
                  <a:srgbClr val="5C6A81"/>
                </a:solidFill>
                <a:latin typeface="Microsoft Sans Serif"/>
                <a:cs typeface="Microsoft Sans Serif"/>
              </a:rPr>
              <a:t>+221</a:t>
            </a:r>
            <a:r>
              <a:rPr dirty="0" sz="10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85">
                <a:solidFill>
                  <a:srgbClr val="5C6A81"/>
                </a:solidFill>
                <a:latin typeface="Microsoft Sans Serif"/>
                <a:cs typeface="Microsoft Sans Serif"/>
              </a:rPr>
              <a:t>71</a:t>
            </a:r>
            <a:r>
              <a:rPr dirty="0" sz="10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008</a:t>
            </a:r>
            <a:r>
              <a:rPr dirty="0" sz="105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00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86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02037" y="3816992"/>
            <a:ext cx="2211070" cy="74930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40"/>
              </a:spcBef>
            </a:pP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La</a:t>
            </a:r>
            <a:r>
              <a:rPr dirty="0" sz="105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barre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dirty="0" sz="105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navigation fixe</a:t>
            </a:r>
            <a:r>
              <a:rPr dirty="0" sz="105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propose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50" b="1">
                <a:solidFill>
                  <a:srgbClr val="121725"/>
                </a:solidFill>
                <a:latin typeface="Tahoma"/>
                <a:cs typeface="Tahoma"/>
              </a:rPr>
              <a:t>5 </a:t>
            </a:r>
            <a:r>
              <a:rPr dirty="0" sz="1050" spc="-20" b="1">
                <a:solidFill>
                  <a:srgbClr val="121725"/>
                </a:solidFill>
                <a:latin typeface="Arial"/>
                <a:cs typeface="Arial"/>
              </a:rPr>
              <a:t>liens</a:t>
            </a:r>
            <a:r>
              <a:rPr dirty="0" sz="1050" spc="-5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:</a:t>
            </a:r>
            <a:r>
              <a:rPr dirty="0" sz="1100" spc="-5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Accueil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Freelances</a:t>
            </a:r>
            <a:r>
              <a:rPr dirty="0" sz="1100" spc="-25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Tarifs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5C6A81"/>
                </a:solidFill>
                <a:latin typeface="Microsoft Sans Serif"/>
                <a:cs typeface="Microsoft Sans Serif"/>
              </a:rPr>
              <a:t>À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propos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0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Contact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.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dirty="0" sz="105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lien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actif</a:t>
            </a:r>
            <a:r>
              <a:rPr dirty="0" sz="1050" spc="-6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est 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surligné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163392" y="2600280"/>
            <a:ext cx="585470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spc="75" b="1">
                <a:solidFill>
                  <a:srgbClr val="5C6A81"/>
                </a:solidFill>
                <a:latin typeface="Trebuchet MS"/>
                <a:cs typeface="Trebuchet MS"/>
              </a:rPr>
              <a:t>ÉTAPE</a:t>
            </a:r>
            <a:r>
              <a:rPr dirty="0" sz="850" spc="60" b="1">
                <a:solidFill>
                  <a:srgbClr val="5C6A81"/>
                </a:solidFill>
                <a:latin typeface="Trebuchet MS"/>
                <a:cs typeface="Trebuchet MS"/>
              </a:rPr>
              <a:t> </a:t>
            </a:r>
            <a:r>
              <a:rPr dirty="0" sz="850" spc="75" b="1">
                <a:solidFill>
                  <a:srgbClr val="5C6A81"/>
                </a:solidFill>
                <a:latin typeface="Arial"/>
                <a:cs typeface="Arial"/>
              </a:rPr>
              <a:t>02</a:t>
            </a:r>
            <a:endParaRPr sz="8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350000" y="3492797"/>
            <a:ext cx="122682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50" b="1">
                <a:solidFill>
                  <a:srgbClr val="0E9E6E"/>
                </a:solidFill>
                <a:latin typeface="Arial"/>
                <a:cs typeface="Arial"/>
              </a:rPr>
              <a:t>3.</a:t>
            </a:r>
            <a:r>
              <a:rPr dirty="0" sz="1400" spc="135" b="1">
                <a:solidFill>
                  <a:srgbClr val="0E9E6E"/>
                </a:solidFill>
                <a:latin typeface="Arial"/>
                <a:cs typeface="Arial"/>
              </a:rPr>
              <a:t> </a:t>
            </a:r>
            <a:r>
              <a:rPr dirty="0" sz="1500" spc="-55" b="1">
                <a:solidFill>
                  <a:srgbClr val="121725"/>
                </a:solidFill>
                <a:latin typeface="Arial"/>
                <a:cs typeface="Arial"/>
              </a:rPr>
              <a:t>Exploration</a:t>
            </a:r>
            <a:endParaRPr sz="15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350000" y="3814590"/>
            <a:ext cx="2239010" cy="75184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 marR="29209">
              <a:lnSpc>
                <a:spcPct val="108000"/>
              </a:lnSpc>
              <a:spcBef>
                <a:spcPts val="30"/>
              </a:spcBef>
            </a:pP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Sur</a:t>
            </a:r>
            <a:r>
              <a:rPr dirty="0" sz="1050" spc="-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la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page</a:t>
            </a:r>
            <a:r>
              <a:rPr dirty="0" sz="105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Freelances</a:t>
            </a:r>
            <a:r>
              <a:rPr dirty="0" sz="1100" spc="-25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0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des</a:t>
            </a:r>
            <a:r>
              <a:rPr dirty="0" sz="105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b="1">
                <a:solidFill>
                  <a:srgbClr val="121725"/>
                </a:solidFill>
                <a:latin typeface="Arial"/>
                <a:cs typeface="Arial"/>
              </a:rPr>
              <a:t>filtres </a:t>
            </a:r>
            <a:r>
              <a:rPr dirty="0" sz="1050" spc="-20" b="1">
                <a:solidFill>
                  <a:srgbClr val="121725"/>
                </a:solidFill>
                <a:latin typeface="Arial"/>
                <a:cs typeface="Arial"/>
              </a:rPr>
              <a:t>par</a:t>
            </a:r>
            <a:r>
              <a:rPr dirty="0" sz="1050" spc="-7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121725"/>
                </a:solidFill>
                <a:latin typeface="Arial"/>
                <a:cs typeface="Arial"/>
              </a:rPr>
              <a:t>catégorie</a:t>
            </a:r>
            <a:r>
              <a:rPr dirty="0" sz="1050" spc="-3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5C6A81"/>
                </a:solidFill>
                <a:latin typeface="Microsoft Sans Serif"/>
                <a:cs typeface="Microsoft Sans Serif"/>
              </a:rPr>
              <a:t>(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Tous</a:t>
            </a:r>
            <a:r>
              <a:rPr dirty="0" sz="1100" spc="-25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00" spc="5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Développement</a:t>
            </a:r>
            <a:r>
              <a:rPr dirty="0" sz="1100" spc="-25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endParaRPr sz="1100">
              <a:latin typeface="Microsoft Sans Serif"/>
              <a:cs typeface="Microsoft Sans Serif"/>
            </a:endParaRPr>
          </a:p>
          <a:p>
            <a:pPr marL="12700" marR="5080">
              <a:lnSpc>
                <a:spcPct val="108000"/>
              </a:lnSpc>
              <a:spcBef>
                <a:spcPts val="75"/>
              </a:spcBef>
            </a:pP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Design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00" spc="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Data</a:t>
            </a:r>
            <a:r>
              <a:rPr dirty="0" sz="1100" spc="-25">
                <a:solidFill>
                  <a:srgbClr val="5C6A81"/>
                </a:solidFill>
                <a:latin typeface="Microsoft Sans Serif"/>
                <a:cs typeface="Microsoft Sans Serif"/>
              </a:rPr>
              <a:t>)</a:t>
            </a:r>
            <a:r>
              <a:rPr dirty="0" sz="1100" spc="5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permettent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cibler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les 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profils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909271" y="2600280"/>
            <a:ext cx="58864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spc="75" b="1">
                <a:solidFill>
                  <a:srgbClr val="5C6A81"/>
                </a:solidFill>
                <a:latin typeface="Trebuchet MS"/>
                <a:cs typeface="Trebuchet MS"/>
              </a:rPr>
              <a:t>ÉTAPE</a:t>
            </a:r>
            <a:r>
              <a:rPr dirty="0" sz="850" spc="60" b="1">
                <a:solidFill>
                  <a:srgbClr val="5C6A81"/>
                </a:solidFill>
                <a:latin typeface="Trebuchet MS"/>
                <a:cs typeface="Trebuchet MS"/>
              </a:rPr>
              <a:t> </a:t>
            </a:r>
            <a:r>
              <a:rPr dirty="0" sz="850" spc="85" b="1">
                <a:solidFill>
                  <a:srgbClr val="5C6A81"/>
                </a:solidFill>
                <a:latin typeface="Arial"/>
                <a:cs typeface="Arial"/>
              </a:rPr>
              <a:t>03</a:t>
            </a:r>
            <a:endParaRPr sz="8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097961" y="3492797"/>
            <a:ext cx="820419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60" b="1">
                <a:solidFill>
                  <a:srgbClr val="2453D5"/>
                </a:solidFill>
                <a:latin typeface="Arial"/>
                <a:cs typeface="Arial"/>
              </a:rPr>
              <a:t>4.</a:t>
            </a:r>
            <a:r>
              <a:rPr dirty="0" sz="1400" spc="135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500" spc="-35" b="1">
                <a:solidFill>
                  <a:srgbClr val="121725"/>
                </a:solidFill>
                <a:latin typeface="Arial"/>
                <a:cs typeface="Arial"/>
              </a:rPr>
              <a:t>Action</a:t>
            </a:r>
            <a:endParaRPr sz="15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097961" y="3816992"/>
            <a:ext cx="2116455" cy="93980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30"/>
              </a:spcBef>
            </a:pP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Chaque</a:t>
            </a:r>
            <a:r>
              <a:rPr dirty="0" sz="105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carte</a:t>
            </a:r>
            <a:r>
              <a:rPr dirty="0" sz="105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freelance</a:t>
            </a:r>
            <a:r>
              <a:rPr dirty="0" sz="105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propose</a:t>
            </a:r>
            <a:r>
              <a:rPr dirty="0" sz="105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un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bouton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«</a:t>
            </a:r>
            <a:r>
              <a:rPr dirty="0" sz="1100" spc="-6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Contacter</a:t>
            </a:r>
            <a:r>
              <a:rPr dirty="0" sz="105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»</a:t>
            </a:r>
            <a:r>
              <a:rPr dirty="0" sz="1100" spc="-5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qui</a:t>
            </a:r>
            <a:r>
              <a:rPr dirty="0" sz="105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ouvre </a:t>
            </a:r>
            <a:r>
              <a:rPr dirty="0" sz="1050" spc="-20" b="1">
                <a:solidFill>
                  <a:srgbClr val="121725"/>
                </a:solidFill>
                <a:latin typeface="Arial"/>
                <a:cs typeface="Arial"/>
              </a:rPr>
              <a:t>WhatsApp</a:t>
            </a:r>
            <a:r>
              <a:rPr dirty="0" sz="1050" spc="-5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avec</a:t>
            </a:r>
            <a:r>
              <a:rPr dirty="0" sz="1050" spc="-5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un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message</a:t>
            </a:r>
            <a:r>
              <a:rPr dirty="0" sz="1050" spc="-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pré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-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rempli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dirty="0" sz="110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dirty="0" sz="105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formulaire</a:t>
            </a:r>
            <a:r>
              <a:rPr dirty="0" sz="105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dirty="0" sz="105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contact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permet</a:t>
            </a:r>
            <a:r>
              <a:rPr dirty="0" sz="1050" spc="-5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aussi</a:t>
            </a:r>
            <a:r>
              <a:rPr dirty="0" sz="105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un</a:t>
            </a:r>
            <a:r>
              <a:rPr dirty="0" sz="105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message</a:t>
            </a:r>
            <a:r>
              <a:rPr dirty="0" sz="105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structuré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653961" y="2600280"/>
            <a:ext cx="59245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spc="75" b="1">
                <a:solidFill>
                  <a:srgbClr val="5C6A81"/>
                </a:solidFill>
                <a:latin typeface="Trebuchet MS"/>
                <a:cs typeface="Trebuchet MS"/>
              </a:rPr>
              <a:t>ÉTAPE</a:t>
            </a:r>
            <a:r>
              <a:rPr dirty="0" sz="850" spc="60" b="1">
                <a:solidFill>
                  <a:srgbClr val="5C6A81"/>
                </a:solidFill>
                <a:latin typeface="Trebuchet MS"/>
                <a:cs typeface="Trebuchet MS"/>
              </a:rPr>
              <a:t> </a:t>
            </a:r>
            <a:r>
              <a:rPr dirty="0" sz="850" spc="100" b="1">
                <a:solidFill>
                  <a:srgbClr val="5C6A81"/>
                </a:solidFill>
                <a:latin typeface="Arial"/>
                <a:cs typeface="Arial"/>
              </a:rPr>
              <a:t>04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54407" y="566061"/>
            <a:ext cx="852169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b="1">
                <a:solidFill>
                  <a:srgbClr val="5C6A81"/>
                </a:solidFill>
                <a:latin typeface="Arial"/>
                <a:cs typeface="Arial"/>
              </a:rPr>
              <a:t>Slide</a:t>
            </a:r>
            <a:r>
              <a:rPr dirty="0" sz="1150" spc="30" b="1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dirty="0" sz="1100" spc="70" b="1">
                <a:solidFill>
                  <a:srgbClr val="5C6A81"/>
                </a:solidFill>
                <a:latin typeface="Arial"/>
                <a:cs typeface="Arial"/>
              </a:rPr>
              <a:t>05</a:t>
            </a:r>
            <a:r>
              <a:rPr dirty="0" sz="1100" spc="55" b="1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dirty="0" sz="1100" spc="110" b="1">
                <a:solidFill>
                  <a:srgbClr val="5C6A81"/>
                </a:solidFill>
                <a:latin typeface="Arial"/>
                <a:cs typeface="Arial"/>
              </a:rPr>
              <a:t>/</a:t>
            </a:r>
            <a:r>
              <a:rPr dirty="0" sz="1100" spc="30" b="1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dirty="0" sz="1100" spc="-125" b="1">
                <a:solidFill>
                  <a:srgbClr val="5C6A81"/>
                </a:solidFill>
                <a:latin typeface="Arial"/>
                <a:cs typeface="Arial"/>
              </a:rPr>
              <a:t>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85799" y="1733549"/>
            <a:ext cx="533400" cy="38100"/>
          </a:xfrm>
          <a:custGeom>
            <a:avLst/>
            <a:gdLst/>
            <a:ahLst/>
            <a:cxnLst/>
            <a:rect l="l" t="t" r="r" b="b"/>
            <a:pathLst>
              <a:path w="533400" h="38100">
                <a:moveTo>
                  <a:pt x="5168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9049"/>
                </a:lnTo>
                <a:lnTo>
                  <a:pt x="0" y="16523"/>
                </a:lnTo>
                <a:lnTo>
                  <a:pt x="16523" y="0"/>
                </a:lnTo>
                <a:lnTo>
                  <a:pt x="516876" y="0"/>
                </a:lnTo>
                <a:lnTo>
                  <a:pt x="533399" y="16523"/>
                </a:lnTo>
                <a:lnTo>
                  <a:pt x="533399" y="21576"/>
                </a:lnTo>
                <a:lnTo>
                  <a:pt x="519306" y="37616"/>
                </a:lnTo>
                <a:lnTo>
                  <a:pt x="516876" y="38099"/>
                </a:lnTo>
                <a:close/>
              </a:path>
            </a:pathLst>
          </a:custGeom>
          <a:solidFill>
            <a:srgbClr val="F59D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73100" y="1056648"/>
            <a:ext cx="4298950" cy="6121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105"/>
              </a:lnSpc>
              <a:spcBef>
                <a:spcPts val="105"/>
              </a:spcBef>
            </a:pPr>
            <a:r>
              <a:rPr dirty="0" sz="950" b="1">
                <a:solidFill>
                  <a:srgbClr val="2453D5"/>
                </a:solidFill>
                <a:latin typeface="Arial"/>
                <a:cs typeface="Arial"/>
              </a:rPr>
              <a:t>PARCOURS</a:t>
            </a:r>
            <a:r>
              <a:rPr dirty="0" sz="950" spc="32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950" spc="55" b="1">
                <a:solidFill>
                  <a:srgbClr val="2453D5"/>
                </a:solidFill>
                <a:latin typeface="Arial"/>
                <a:cs typeface="Arial"/>
              </a:rPr>
              <a:t>VI</a:t>
            </a:r>
            <a:r>
              <a:rPr dirty="0" sz="950" spc="-55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2453D5"/>
                </a:solidFill>
                <a:latin typeface="Arial"/>
                <a:cs typeface="Arial"/>
              </a:rPr>
              <a:t>SI</a:t>
            </a:r>
            <a:r>
              <a:rPr dirty="0" sz="950" spc="-55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950" spc="-20" b="1">
                <a:solidFill>
                  <a:srgbClr val="2453D5"/>
                </a:solidFill>
                <a:latin typeface="Arial"/>
                <a:cs typeface="Arial"/>
              </a:rPr>
              <a:t>TEUR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ts val="3504"/>
              </a:lnSpc>
            </a:pPr>
            <a:r>
              <a:rPr dirty="0" sz="2800" spc="-130" b="1">
                <a:solidFill>
                  <a:srgbClr val="121725"/>
                </a:solidFill>
                <a:latin typeface="Arial"/>
                <a:cs typeface="Arial"/>
              </a:rPr>
              <a:t>Le</a:t>
            </a:r>
            <a:r>
              <a:rPr dirty="0" sz="2800" spc="-36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2800" spc="-75" b="1">
                <a:solidFill>
                  <a:srgbClr val="121725"/>
                </a:solidFill>
                <a:latin typeface="Arial"/>
                <a:cs typeface="Arial"/>
              </a:rPr>
              <a:t>parcours</a:t>
            </a:r>
            <a:r>
              <a:rPr dirty="0" sz="2800" spc="-36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2800" spc="-35" b="1">
                <a:solidFill>
                  <a:srgbClr val="121725"/>
                </a:solidFill>
                <a:latin typeface="Arial"/>
                <a:cs typeface="Arial"/>
              </a:rPr>
              <a:t>de</a:t>
            </a:r>
            <a:r>
              <a:rPr dirty="0" sz="2800" spc="-35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2800" spc="-25" b="1">
                <a:solidFill>
                  <a:srgbClr val="121725"/>
                </a:solidFill>
                <a:latin typeface="Arial"/>
                <a:cs typeface="Arial"/>
              </a:rPr>
              <a:t>l</a:t>
            </a:r>
            <a:r>
              <a:rPr dirty="0" sz="2950" spc="-25" b="1">
                <a:solidFill>
                  <a:srgbClr val="121725"/>
                </a:solidFill>
                <a:latin typeface="Microsoft New Tai Lue"/>
                <a:cs typeface="Microsoft New Tai Lue"/>
              </a:rPr>
              <a:t>'</a:t>
            </a:r>
            <a:r>
              <a:rPr dirty="0" sz="2800" spc="-25" b="1">
                <a:solidFill>
                  <a:srgbClr val="121725"/>
                </a:solidFill>
                <a:latin typeface="Arial"/>
                <a:cs typeface="Arial"/>
              </a:rPr>
              <a:t>utilisateur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100" y="1831623"/>
            <a:ext cx="6106795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Du</a:t>
            </a:r>
            <a:r>
              <a:rPr dirty="0" sz="1100" spc="6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premier</a:t>
            </a:r>
            <a:r>
              <a:rPr dirty="0" sz="1100" spc="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coup</a:t>
            </a:r>
            <a:r>
              <a:rPr dirty="0" sz="1100" spc="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d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œil</a:t>
            </a:r>
            <a:r>
              <a:rPr dirty="0" sz="1100" spc="10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à</a:t>
            </a:r>
            <a:r>
              <a:rPr dirty="0" sz="1100" spc="6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la</a:t>
            </a:r>
            <a:r>
              <a:rPr dirty="0" sz="1100" spc="6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prise</a:t>
            </a:r>
            <a:r>
              <a:rPr dirty="0" sz="110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dirty="0" sz="110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contact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200" spc="8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voici</a:t>
            </a:r>
            <a:r>
              <a:rPr dirty="0" sz="1100" spc="8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les</a:t>
            </a:r>
            <a:r>
              <a:rPr dirty="0" sz="1100" spc="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étapes</a:t>
            </a:r>
            <a:r>
              <a:rPr dirty="0" sz="1100" spc="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typiques</a:t>
            </a:r>
            <a:r>
              <a:rPr dirty="0" sz="1100" spc="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d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un</a:t>
            </a:r>
            <a:r>
              <a:rPr dirty="0" sz="1100" spc="6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visiteur</a:t>
            </a:r>
            <a:r>
              <a:rPr dirty="0" sz="1100" spc="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sur</a:t>
            </a:r>
            <a:r>
              <a:rPr dirty="0" sz="1100" spc="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AfriTalent</a:t>
            </a:r>
            <a:r>
              <a:rPr dirty="0" sz="120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2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799" y="533400"/>
            <a:ext cx="266699" cy="266699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4005" algn="l"/>
              </a:tabLst>
            </a:pPr>
            <a:r>
              <a:rPr dirty="0" sz="1100" spc="35">
                <a:solidFill>
                  <a:srgbClr val="FFFFFF"/>
                </a:solidFill>
              </a:rPr>
              <a:t>A</a:t>
            </a:r>
            <a:r>
              <a:rPr dirty="0" sz="1100">
                <a:solidFill>
                  <a:srgbClr val="FFFFFF"/>
                </a:solidFill>
              </a:rPr>
              <a:t>	</a:t>
            </a:r>
            <a:r>
              <a:rPr dirty="0" spc="-20">
                <a:solidFill>
                  <a:srgbClr val="2453D5"/>
                </a:solidFill>
              </a:rPr>
              <a:t>AfriTalent</a:t>
            </a:r>
            <a:r>
              <a:rPr dirty="0" spc="-80">
                <a:solidFill>
                  <a:srgbClr val="2453D5"/>
                </a:solidFill>
              </a:rPr>
              <a:t> </a:t>
            </a:r>
            <a:r>
              <a:rPr dirty="0" sz="1350" spc="-50"/>
              <a:t>—</a:t>
            </a:r>
            <a:r>
              <a:rPr dirty="0" sz="1350" spc="-210"/>
              <a:t> </a:t>
            </a:r>
            <a:r>
              <a:rPr dirty="0" spc="-25"/>
              <a:t>Présentation</a:t>
            </a:r>
            <a:endParaRPr sz="135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249" y="552449"/>
            <a:ext cx="76199" cy="7619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866775" y="2151888"/>
            <a:ext cx="10679430" cy="4030345"/>
            <a:chOff x="866775" y="2151888"/>
            <a:chExt cx="10679430" cy="4030345"/>
          </a:xfrm>
        </p:grpSpPr>
        <p:sp>
          <p:nvSpPr>
            <p:cNvPr id="10" name="object 10"/>
            <p:cNvSpPr/>
            <p:nvPr/>
          </p:nvSpPr>
          <p:spPr>
            <a:xfrm>
              <a:off x="876300" y="2333625"/>
              <a:ext cx="0" cy="3838575"/>
            </a:xfrm>
            <a:custGeom>
              <a:avLst/>
              <a:gdLst/>
              <a:ahLst/>
              <a:cxnLst/>
              <a:rect l="l" t="t" r="r" b="b"/>
              <a:pathLst>
                <a:path w="0" h="3838575">
                  <a:moveTo>
                    <a:pt x="0" y="0"/>
                  </a:moveTo>
                  <a:lnTo>
                    <a:pt x="0" y="3838574"/>
                  </a:lnTo>
                </a:path>
              </a:pathLst>
            </a:custGeom>
            <a:ln w="19049">
              <a:solidFill>
                <a:srgbClr val="C2CDD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219200" y="2151888"/>
              <a:ext cx="10327005" cy="908685"/>
            </a:xfrm>
            <a:custGeom>
              <a:avLst/>
              <a:gdLst/>
              <a:ahLst/>
              <a:cxnLst/>
              <a:rect l="l" t="t" r="r" b="b"/>
              <a:pathLst>
                <a:path w="10327005" h="908685">
                  <a:moveTo>
                    <a:pt x="10326623" y="908303"/>
                  </a:moveTo>
                  <a:lnTo>
                    <a:pt x="0" y="908303"/>
                  </a:lnTo>
                  <a:lnTo>
                    <a:pt x="0" y="0"/>
                  </a:lnTo>
                  <a:lnTo>
                    <a:pt x="10326623" y="0"/>
                  </a:lnTo>
                  <a:lnTo>
                    <a:pt x="10326623" y="38861"/>
                  </a:lnTo>
                  <a:lnTo>
                    <a:pt x="133349" y="38861"/>
                  </a:lnTo>
                  <a:lnTo>
                    <a:pt x="124905" y="39269"/>
                  </a:lnTo>
                  <a:lnTo>
                    <a:pt x="85714" y="53295"/>
                  </a:lnTo>
                  <a:lnTo>
                    <a:pt x="57758" y="84135"/>
                  </a:lnTo>
                  <a:lnTo>
                    <a:pt x="47624" y="124586"/>
                  </a:lnTo>
                  <a:lnTo>
                    <a:pt x="47624" y="762761"/>
                  </a:lnTo>
                  <a:lnTo>
                    <a:pt x="57758" y="803213"/>
                  </a:lnTo>
                  <a:lnTo>
                    <a:pt x="85714" y="834052"/>
                  </a:lnTo>
                  <a:lnTo>
                    <a:pt x="124905" y="848079"/>
                  </a:lnTo>
                  <a:lnTo>
                    <a:pt x="133349" y="848486"/>
                  </a:lnTo>
                  <a:lnTo>
                    <a:pt x="10326623" y="848486"/>
                  </a:lnTo>
                  <a:lnTo>
                    <a:pt x="10326623" y="908303"/>
                  </a:lnTo>
                  <a:close/>
                </a:path>
                <a:path w="10327005" h="908685">
                  <a:moveTo>
                    <a:pt x="10326623" y="848486"/>
                  </a:moveTo>
                  <a:lnTo>
                    <a:pt x="10191749" y="848486"/>
                  </a:lnTo>
                  <a:lnTo>
                    <a:pt x="10200194" y="848079"/>
                  </a:lnTo>
                  <a:lnTo>
                    <a:pt x="10208476" y="846855"/>
                  </a:lnTo>
                  <a:lnTo>
                    <a:pt x="10246105" y="829061"/>
                  </a:lnTo>
                  <a:lnTo>
                    <a:pt x="10270947" y="795567"/>
                  </a:lnTo>
                  <a:lnTo>
                    <a:pt x="10277474" y="762761"/>
                  </a:lnTo>
                  <a:lnTo>
                    <a:pt x="10277474" y="124586"/>
                  </a:lnTo>
                  <a:lnTo>
                    <a:pt x="10267339" y="84135"/>
                  </a:lnTo>
                  <a:lnTo>
                    <a:pt x="10239383" y="53295"/>
                  </a:lnTo>
                  <a:lnTo>
                    <a:pt x="10200194" y="39269"/>
                  </a:lnTo>
                  <a:lnTo>
                    <a:pt x="10191749" y="38861"/>
                  </a:lnTo>
                  <a:lnTo>
                    <a:pt x="10326623" y="38861"/>
                  </a:lnTo>
                  <a:lnTo>
                    <a:pt x="10326623" y="848486"/>
                  </a:lnTo>
                  <a:close/>
                </a:path>
              </a:pathLst>
            </a:custGeom>
            <a:solidFill>
              <a:srgbClr val="121725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262062" y="2185987"/>
              <a:ext cx="10239375" cy="819150"/>
            </a:xfrm>
            <a:custGeom>
              <a:avLst/>
              <a:gdLst/>
              <a:ahLst/>
              <a:cxnLst/>
              <a:rect l="l" t="t" r="r" b="b"/>
              <a:pathLst>
                <a:path w="10239375" h="819150">
                  <a:moveTo>
                    <a:pt x="10154827" y="819149"/>
                  </a:moveTo>
                  <a:lnTo>
                    <a:pt x="84545" y="819149"/>
                  </a:lnTo>
                  <a:lnTo>
                    <a:pt x="78661" y="818570"/>
                  </a:lnTo>
                  <a:lnTo>
                    <a:pt x="35275" y="800598"/>
                  </a:lnTo>
                  <a:lnTo>
                    <a:pt x="9161" y="768778"/>
                  </a:lnTo>
                  <a:lnTo>
                    <a:pt x="0" y="734603"/>
                  </a:lnTo>
                  <a:lnTo>
                    <a:pt x="0" y="728662"/>
                  </a:lnTo>
                  <a:lnTo>
                    <a:pt x="0" y="84545"/>
                  </a:lnTo>
                  <a:lnTo>
                    <a:pt x="11948" y="45155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10154827" y="0"/>
                  </a:lnTo>
                  <a:lnTo>
                    <a:pt x="10194217" y="11948"/>
                  </a:lnTo>
                  <a:lnTo>
                    <a:pt x="10227424" y="45155"/>
                  </a:lnTo>
                  <a:lnTo>
                    <a:pt x="10239373" y="84545"/>
                  </a:lnTo>
                  <a:lnTo>
                    <a:pt x="10239373" y="734603"/>
                  </a:lnTo>
                  <a:lnTo>
                    <a:pt x="10227424" y="773993"/>
                  </a:lnTo>
                  <a:lnTo>
                    <a:pt x="10194217" y="807200"/>
                  </a:lnTo>
                  <a:lnTo>
                    <a:pt x="10160711" y="818570"/>
                  </a:lnTo>
                  <a:lnTo>
                    <a:pt x="10154827" y="8191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262062" y="2185987"/>
              <a:ext cx="10239375" cy="819150"/>
            </a:xfrm>
            <a:custGeom>
              <a:avLst/>
              <a:gdLst/>
              <a:ahLst/>
              <a:cxnLst/>
              <a:rect l="l" t="t" r="r" b="b"/>
              <a:pathLst>
                <a:path w="10239375" h="819150">
                  <a:moveTo>
                    <a:pt x="0" y="72866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4"/>
                  </a:lnTo>
                  <a:lnTo>
                    <a:pt x="2897" y="67006"/>
                  </a:lnTo>
                  <a:lnTo>
                    <a:pt x="4614" y="61348"/>
                  </a:lnTo>
                  <a:lnTo>
                    <a:pt x="6887" y="55859"/>
                  </a:lnTo>
                  <a:lnTo>
                    <a:pt x="9161" y="50369"/>
                  </a:lnTo>
                  <a:lnTo>
                    <a:pt x="11948" y="45155"/>
                  </a:lnTo>
                  <a:lnTo>
                    <a:pt x="15249" y="40215"/>
                  </a:lnTo>
                  <a:lnTo>
                    <a:pt x="18550" y="35274"/>
                  </a:lnTo>
                  <a:lnTo>
                    <a:pt x="22301" y="30704"/>
                  </a:lnTo>
                  <a:lnTo>
                    <a:pt x="26503" y="26503"/>
                  </a:lnTo>
                  <a:lnTo>
                    <a:pt x="30704" y="22301"/>
                  </a:lnTo>
                  <a:lnTo>
                    <a:pt x="35275" y="18550"/>
                  </a:lnTo>
                  <a:lnTo>
                    <a:pt x="40215" y="15249"/>
                  </a:lnTo>
                  <a:lnTo>
                    <a:pt x="45155" y="11948"/>
                  </a:lnTo>
                  <a:lnTo>
                    <a:pt x="72834" y="1738"/>
                  </a:lnTo>
                  <a:lnTo>
                    <a:pt x="78661" y="579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10148886" y="0"/>
                  </a:lnTo>
                  <a:lnTo>
                    <a:pt x="10154827" y="0"/>
                  </a:lnTo>
                  <a:lnTo>
                    <a:pt x="10160711" y="579"/>
                  </a:lnTo>
                  <a:lnTo>
                    <a:pt x="10166539" y="1738"/>
                  </a:lnTo>
                  <a:lnTo>
                    <a:pt x="10172366" y="2897"/>
                  </a:lnTo>
                  <a:lnTo>
                    <a:pt x="10208669" y="22301"/>
                  </a:lnTo>
                  <a:lnTo>
                    <a:pt x="10232485" y="55859"/>
                  </a:lnTo>
                  <a:lnTo>
                    <a:pt x="10234758" y="61348"/>
                  </a:lnTo>
                  <a:lnTo>
                    <a:pt x="10236475" y="67006"/>
                  </a:lnTo>
                  <a:lnTo>
                    <a:pt x="10237634" y="72834"/>
                  </a:lnTo>
                  <a:lnTo>
                    <a:pt x="10238794" y="78661"/>
                  </a:lnTo>
                  <a:lnTo>
                    <a:pt x="10239373" y="84545"/>
                  </a:lnTo>
                  <a:lnTo>
                    <a:pt x="10239374" y="90487"/>
                  </a:lnTo>
                  <a:lnTo>
                    <a:pt x="10239374" y="728662"/>
                  </a:lnTo>
                  <a:lnTo>
                    <a:pt x="10239373" y="734603"/>
                  </a:lnTo>
                  <a:lnTo>
                    <a:pt x="10238794" y="740488"/>
                  </a:lnTo>
                  <a:lnTo>
                    <a:pt x="10237634" y="746315"/>
                  </a:lnTo>
                  <a:lnTo>
                    <a:pt x="10236475" y="752142"/>
                  </a:lnTo>
                  <a:lnTo>
                    <a:pt x="10217072" y="788444"/>
                  </a:lnTo>
                  <a:lnTo>
                    <a:pt x="10183513" y="812261"/>
                  </a:lnTo>
                  <a:lnTo>
                    <a:pt x="10178024" y="814535"/>
                  </a:lnTo>
                  <a:lnTo>
                    <a:pt x="10172366" y="816251"/>
                  </a:lnTo>
                  <a:lnTo>
                    <a:pt x="10166539" y="817411"/>
                  </a:lnTo>
                  <a:lnTo>
                    <a:pt x="10160711" y="818570"/>
                  </a:lnTo>
                  <a:lnTo>
                    <a:pt x="10154827" y="819149"/>
                  </a:lnTo>
                  <a:lnTo>
                    <a:pt x="10148886" y="819149"/>
                  </a:lnTo>
                  <a:lnTo>
                    <a:pt x="90487" y="819149"/>
                  </a:lnTo>
                  <a:lnTo>
                    <a:pt x="84545" y="819149"/>
                  </a:lnTo>
                  <a:lnTo>
                    <a:pt x="78661" y="818570"/>
                  </a:lnTo>
                  <a:lnTo>
                    <a:pt x="72834" y="817411"/>
                  </a:lnTo>
                  <a:lnTo>
                    <a:pt x="67006" y="816251"/>
                  </a:lnTo>
                  <a:lnTo>
                    <a:pt x="61348" y="814535"/>
                  </a:lnTo>
                  <a:lnTo>
                    <a:pt x="55859" y="812261"/>
                  </a:lnTo>
                  <a:lnTo>
                    <a:pt x="50370" y="809987"/>
                  </a:lnTo>
                  <a:lnTo>
                    <a:pt x="18550" y="783873"/>
                  </a:lnTo>
                  <a:lnTo>
                    <a:pt x="15249" y="778933"/>
                  </a:lnTo>
                  <a:lnTo>
                    <a:pt x="11948" y="773993"/>
                  </a:lnTo>
                  <a:lnTo>
                    <a:pt x="1738" y="746315"/>
                  </a:lnTo>
                  <a:lnTo>
                    <a:pt x="579" y="740488"/>
                  </a:lnTo>
                  <a:lnTo>
                    <a:pt x="0" y="734603"/>
                  </a:lnTo>
                  <a:lnTo>
                    <a:pt x="0" y="728662"/>
                  </a:lnTo>
                  <a:close/>
                </a:path>
              </a:pathLst>
            </a:custGeom>
            <a:ln w="9524">
              <a:solidFill>
                <a:srgbClr val="E4E8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31925" y="2324099"/>
              <a:ext cx="146050" cy="12700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654174" y="2260500"/>
            <a:ext cx="144653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21725"/>
                </a:solidFill>
                <a:latin typeface="Arial"/>
                <a:cs typeface="Arial"/>
              </a:rPr>
              <a:t>Arrivée</a:t>
            </a:r>
            <a:r>
              <a:rPr dirty="0" sz="1200" spc="-10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121725"/>
                </a:solidFill>
                <a:latin typeface="Arial"/>
                <a:cs typeface="Arial"/>
              </a:rPr>
              <a:t>sur</a:t>
            </a:r>
            <a:r>
              <a:rPr dirty="0" sz="1200" spc="-9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21725"/>
                </a:solidFill>
                <a:latin typeface="Arial"/>
                <a:cs typeface="Arial"/>
              </a:rPr>
              <a:t>l</a:t>
            </a:r>
            <a:r>
              <a:rPr dirty="0" sz="1300" spc="-10">
                <a:solidFill>
                  <a:srgbClr val="121725"/>
                </a:solidFill>
                <a:latin typeface="Arial Black"/>
                <a:cs typeface="Arial Black"/>
              </a:rPr>
              <a:t>'</a:t>
            </a:r>
            <a:r>
              <a:rPr dirty="0" sz="1200" spc="-10" b="1">
                <a:solidFill>
                  <a:srgbClr val="121725"/>
                </a:solidFill>
                <a:latin typeface="Arial"/>
                <a:cs typeface="Arial"/>
              </a:rPr>
              <a:t>accueil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496547" y="2295524"/>
            <a:ext cx="847725" cy="190500"/>
          </a:xfrm>
          <a:custGeom>
            <a:avLst/>
            <a:gdLst/>
            <a:ahLst/>
            <a:cxnLst/>
            <a:rect l="l" t="t" r="r" b="b"/>
            <a:pathLst>
              <a:path w="847725" h="190500">
                <a:moveTo>
                  <a:pt x="758730" y="190499"/>
                </a:moveTo>
                <a:lnTo>
                  <a:pt x="88996" y="190499"/>
                </a:lnTo>
                <a:lnTo>
                  <a:pt x="82801" y="189889"/>
                </a:lnTo>
                <a:lnTo>
                  <a:pt x="37131" y="170972"/>
                </a:lnTo>
                <a:lnTo>
                  <a:pt x="9643" y="137478"/>
                </a:lnTo>
                <a:lnTo>
                  <a:pt x="0" y="101504"/>
                </a:lnTo>
                <a:lnTo>
                  <a:pt x="1" y="95249"/>
                </a:lnTo>
                <a:lnTo>
                  <a:pt x="0" y="88995"/>
                </a:lnTo>
                <a:lnTo>
                  <a:pt x="12578" y="47531"/>
                </a:lnTo>
                <a:lnTo>
                  <a:pt x="47531" y="12577"/>
                </a:lnTo>
                <a:lnTo>
                  <a:pt x="88996" y="0"/>
                </a:lnTo>
                <a:lnTo>
                  <a:pt x="758730" y="0"/>
                </a:lnTo>
                <a:lnTo>
                  <a:pt x="800192" y="12577"/>
                </a:lnTo>
                <a:lnTo>
                  <a:pt x="835147" y="47531"/>
                </a:lnTo>
                <a:lnTo>
                  <a:pt x="847726" y="88995"/>
                </a:lnTo>
                <a:lnTo>
                  <a:pt x="847726" y="101504"/>
                </a:lnTo>
                <a:lnTo>
                  <a:pt x="835147" y="142967"/>
                </a:lnTo>
                <a:lnTo>
                  <a:pt x="800192" y="177921"/>
                </a:lnTo>
                <a:lnTo>
                  <a:pt x="764924" y="189889"/>
                </a:lnTo>
                <a:lnTo>
                  <a:pt x="758730" y="190499"/>
                </a:lnTo>
                <a:close/>
              </a:path>
            </a:pathLst>
          </a:custGeom>
          <a:solidFill>
            <a:srgbClr val="2453D5">
              <a:alpha val="101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0572849" y="2301519"/>
            <a:ext cx="70358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40" b="1">
                <a:solidFill>
                  <a:srgbClr val="2453D5"/>
                </a:solidFill>
                <a:latin typeface="Arial"/>
                <a:cs typeface="Arial"/>
              </a:rPr>
              <a:t>Hero</a:t>
            </a:r>
            <a:r>
              <a:rPr dirty="0" sz="900" spc="-45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2453D5"/>
                </a:solidFill>
                <a:latin typeface="Arial"/>
                <a:cs typeface="Arial"/>
              </a:rPr>
              <a:t>+</a:t>
            </a:r>
            <a:r>
              <a:rPr dirty="0" sz="850" spc="3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2453D5"/>
                </a:solidFill>
                <a:latin typeface="Arial"/>
                <a:cs typeface="Arial"/>
              </a:rPr>
              <a:t>2</a:t>
            </a:r>
            <a:r>
              <a:rPr dirty="0" sz="850" spc="-1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900" spc="-25" b="1">
                <a:solidFill>
                  <a:srgbClr val="2453D5"/>
                </a:solidFill>
                <a:latin typeface="Arial"/>
                <a:cs typeface="Arial"/>
              </a:rPr>
              <a:t>CTA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06525" y="2492757"/>
            <a:ext cx="985901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100"/>
              </a:spcBef>
            </a:pP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dirty="0" sz="1050" spc="-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visiteur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découvre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hero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avec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slogan</a:t>
            </a:r>
            <a:r>
              <a:rPr dirty="0" sz="105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70">
                <a:solidFill>
                  <a:srgbClr val="5C6A81"/>
                </a:solidFill>
                <a:latin typeface="Microsoft Sans Serif"/>
                <a:cs typeface="Microsoft Sans Serif"/>
              </a:rPr>
              <a:t>«</a:t>
            </a:r>
            <a:r>
              <a:rPr dirty="0" sz="1150" spc="-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Connectez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vos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projets</a:t>
            </a:r>
            <a:r>
              <a:rPr dirty="0" sz="105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aux</a:t>
            </a:r>
            <a:r>
              <a:rPr dirty="0" sz="105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meilleurs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talents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d</a:t>
            </a:r>
            <a:r>
              <a:rPr dirty="0" sz="115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Afrique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85">
                <a:solidFill>
                  <a:srgbClr val="5C6A81"/>
                </a:solidFill>
                <a:latin typeface="Microsoft Sans Serif"/>
                <a:cs typeface="Microsoft Sans Serif"/>
              </a:rPr>
              <a:t>»,</a:t>
            </a:r>
            <a:r>
              <a:rPr dirty="0" sz="1150" spc="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une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image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collaboration</a:t>
            </a:r>
            <a:r>
              <a:rPr dirty="0" sz="105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dirty="0" sz="105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deux</a:t>
            </a:r>
            <a:r>
              <a:rPr dirty="0" sz="1050" spc="-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boutons</a:t>
            </a:r>
            <a:r>
              <a:rPr dirty="0" sz="105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5C6A81"/>
                </a:solidFill>
                <a:latin typeface="Microsoft Sans Serif"/>
                <a:cs typeface="Microsoft Sans Serif"/>
              </a:rPr>
              <a:t>:</a:t>
            </a:r>
            <a:r>
              <a:rPr dirty="0" sz="115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Rejoindre 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AfriTalent</a:t>
            </a:r>
            <a:r>
              <a:rPr dirty="0" sz="105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50">
                <a:solidFill>
                  <a:srgbClr val="5C6A81"/>
                </a:solidFill>
                <a:latin typeface="Microsoft Sans Serif"/>
                <a:cs typeface="Microsoft Sans Serif"/>
              </a:rPr>
              <a:t>/ 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Voir</a:t>
            </a:r>
            <a:r>
              <a:rPr dirty="0" sz="1050" spc="-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les</a:t>
            </a:r>
            <a:r>
              <a:rPr dirty="0" sz="105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talents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219200" y="3093719"/>
            <a:ext cx="10327005" cy="728980"/>
            <a:chOff x="1219200" y="3093719"/>
            <a:chExt cx="10327005" cy="728980"/>
          </a:xfrm>
        </p:grpSpPr>
        <p:sp>
          <p:nvSpPr>
            <p:cNvPr id="20" name="object 20"/>
            <p:cNvSpPr/>
            <p:nvPr/>
          </p:nvSpPr>
          <p:spPr>
            <a:xfrm>
              <a:off x="1219200" y="3093719"/>
              <a:ext cx="10327005" cy="728980"/>
            </a:xfrm>
            <a:custGeom>
              <a:avLst/>
              <a:gdLst/>
              <a:ahLst/>
              <a:cxnLst/>
              <a:rect l="l" t="t" r="r" b="b"/>
              <a:pathLst>
                <a:path w="10327005" h="728979">
                  <a:moveTo>
                    <a:pt x="10326623" y="728471"/>
                  </a:moveTo>
                  <a:lnTo>
                    <a:pt x="0" y="728471"/>
                  </a:lnTo>
                  <a:lnTo>
                    <a:pt x="0" y="0"/>
                  </a:lnTo>
                  <a:lnTo>
                    <a:pt x="10326623" y="0"/>
                  </a:lnTo>
                  <a:lnTo>
                    <a:pt x="10326623" y="40004"/>
                  </a:lnTo>
                  <a:lnTo>
                    <a:pt x="133349" y="40004"/>
                  </a:lnTo>
                  <a:lnTo>
                    <a:pt x="124905" y="40412"/>
                  </a:lnTo>
                  <a:lnTo>
                    <a:pt x="85714" y="54438"/>
                  </a:lnTo>
                  <a:lnTo>
                    <a:pt x="57758" y="85278"/>
                  </a:lnTo>
                  <a:lnTo>
                    <a:pt x="47624" y="125729"/>
                  </a:lnTo>
                  <a:lnTo>
                    <a:pt x="47624" y="582929"/>
                  </a:lnTo>
                  <a:lnTo>
                    <a:pt x="57758" y="623380"/>
                  </a:lnTo>
                  <a:lnTo>
                    <a:pt x="85714" y="654220"/>
                  </a:lnTo>
                  <a:lnTo>
                    <a:pt x="124905" y="668246"/>
                  </a:lnTo>
                  <a:lnTo>
                    <a:pt x="133349" y="668654"/>
                  </a:lnTo>
                  <a:lnTo>
                    <a:pt x="10326623" y="668654"/>
                  </a:lnTo>
                  <a:lnTo>
                    <a:pt x="10326623" y="728471"/>
                  </a:lnTo>
                  <a:close/>
                </a:path>
                <a:path w="10327005" h="728979">
                  <a:moveTo>
                    <a:pt x="10326623" y="668654"/>
                  </a:moveTo>
                  <a:lnTo>
                    <a:pt x="10191749" y="668654"/>
                  </a:lnTo>
                  <a:lnTo>
                    <a:pt x="10200194" y="668246"/>
                  </a:lnTo>
                  <a:lnTo>
                    <a:pt x="10208476" y="667023"/>
                  </a:lnTo>
                  <a:lnTo>
                    <a:pt x="10246105" y="649229"/>
                  </a:lnTo>
                  <a:lnTo>
                    <a:pt x="10270947" y="615735"/>
                  </a:lnTo>
                  <a:lnTo>
                    <a:pt x="10277474" y="582929"/>
                  </a:lnTo>
                  <a:lnTo>
                    <a:pt x="10277474" y="125729"/>
                  </a:lnTo>
                  <a:lnTo>
                    <a:pt x="10267339" y="85278"/>
                  </a:lnTo>
                  <a:lnTo>
                    <a:pt x="10239383" y="54438"/>
                  </a:lnTo>
                  <a:lnTo>
                    <a:pt x="10200194" y="40412"/>
                  </a:lnTo>
                  <a:lnTo>
                    <a:pt x="10191749" y="40004"/>
                  </a:lnTo>
                  <a:lnTo>
                    <a:pt x="10326623" y="40004"/>
                  </a:lnTo>
                  <a:lnTo>
                    <a:pt x="10326623" y="668654"/>
                  </a:lnTo>
                  <a:close/>
                </a:path>
              </a:pathLst>
            </a:custGeom>
            <a:solidFill>
              <a:srgbClr val="121725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262062" y="3128962"/>
              <a:ext cx="10239375" cy="638175"/>
            </a:xfrm>
            <a:custGeom>
              <a:avLst/>
              <a:gdLst/>
              <a:ahLst/>
              <a:cxnLst/>
              <a:rect l="l" t="t" r="r" b="b"/>
              <a:pathLst>
                <a:path w="10239375" h="638175">
                  <a:moveTo>
                    <a:pt x="10154827" y="638174"/>
                  </a:moveTo>
                  <a:lnTo>
                    <a:pt x="84545" y="638174"/>
                  </a:lnTo>
                  <a:lnTo>
                    <a:pt x="78661" y="637595"/>
                  </a:lnTo>
                  <a:lnTo>
                    <a:pt x="35275" y="619624"/>
                  </a:lnTo>
                  <a:lnTo>
                    <a:pt x="9161" y="587804"/>
                  </a:lnTo>
                  <a:lnTo>
                    <a:pt x="0" y="553628"/>
                  </a:lnTo>
                  <a:lnTo>
                    <a:pt x="0" y="547687"/>
                  </a:lnTo>
                  <a:lnTo>
                    <a:pt x="0" y="84545"/>
                  </a:lnTo>
                  <a:lnTo>
                    <a:pt x="11948" y="45154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10154827" y="0"/>
                  </a:lnTo>
                  <a:lnTo>
                    <a:pt x="10194217" y="11948"/>
                  </a:lnTo>
                  <a:lnTo>
                    <a:pt x="10227424" y="45154"/>
                  </a:lnTo>
                  <a:lnTo>
                    <a:pt x="10239373" y="84545"/>
                  </a:lnTo>
                  <a:lnTo>
                    <a:pt x="10239373" y="553628"/>
                  </a:lnTo>
                  <a:lnTo>
                    <a:pt x="10227424" y="593019"/>
                  </a:lnTo>
                  <a:lnTo>
                    <a:pt x="10194217" y="626225"/>
                  </a:lnTo>
                  <a:lnTo>
                    <a:pt x="10160711" y="637595"/>
                  </a:lnTo>
                  <a:lnTo>
                    <a:pt x="10154827" y="6381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262062" y="3128962"/>
              <a:ext cx="10239375" cy="638175"/>
            </a:xfrm>
            <a:custGeom>
              <a:avLst/>
              <a:gdLst/>
              <a:ahLst/>
              <a:cxnLst/>
              <a:rect l="l" t="t" r="r" b="b"/>
              <a:pathLst>
                <a:path w="10239375" h="638175">
                  <a:moveTo>
                    <a:pt x="0" y="547687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5249" y="40214"/>
                  </a:lnTo>
                  <a:lnTo>
                    <a:pt x="18550" y="35274"/>
                  </a:lnTo>
                  <a:lnTo>
                    <a:pt x="22301" y="30703"/>
                  </a:lnTo>
                  <a:lnTo>
                    <a:pt x="26503" y="26502"/>
                  </a:lnTo>
                  <a:lnTo>
                    <a:pt x="30704" y="22301"/>
                  </a:lnTo>
                  <a:lnTo>
                    <a:pt x="67006" y="2897"/>
                  </a:lnTo>
                  <a:lnTo>
                    <a:pt x="72834" y="1738"/>
                  </a:lnTo>
                  <a:lnTo>
                    <a:pt x="78661" y="579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10148886" y="0"/>
                  </a:lnTo>
                  <a:lnTo>
                    <a:pt x="10154827" y="0"/>
                  </a:lnTo>
                  <a:lnTo>
                    <a:pt x="10160711" y="579"/>
                  </a:lnTo>
                  <a:lnTo>
                    <a:pt x="10166539" y="1738"/>
                  </a:lnTo>
                  <a:lnTo>
                    <a:pt x="10172366" y="2897"/>
                  </a:lnTo>
                  <a:lnTo>
                    <a:pt x="10208669" y="22301"/>
                  </a:lnTo>
                  <a:lnTo>
                    <a:pt x="10232485" y="55858"/>
                  </a:lnTo>
                  <a:lnTo>
                    <a:pt x="10237634" y="72833"/>
                  </a:lnTo>
                  <a:lnTo>
                    <a:pt x="10238794" y="78661"/>
                  </a:lnTo>
                  <a:lnTo>
                    <a:pt x="10239373" y="84545"/>
                  </a:lnTo>
                  <a:lnTo>
                    <a:pt x="10239374" y="90487"/>
                  </a:lnTo>
                  <a:lnTo>
                    <a:pt x="10239374" y="547687"/>
                  </a:lnTo>
                  <a:lnTo>
                    <a:pt x="10239373" y="553628"/>
                  </a:lnTo>
                  <a:lnTo>
                    <a:pt x="10238794" y="559513"/>
                  </a:lnTo>
                  <a:lnTo>
                    <a:pt x="10237634" y="565340"/>
                  </a:lnTo>
                  <a:lnTo>
                    <a:pt x="10236475" y="571167"/>
                  </a:lnTo>
                  <a:lnTo>
                    <a:pt x="10217072" y="607470"/>
                  </a:lnTo>
                  <a:lnTo>
                    <a:pt x="10183513" y="631286"/>
                  </a:lnTo>
                  <a:lnTo>
                    <a:pt x="10178024" y="633560"/>
                  </a:lnTo>
                  <a:lnTo>
                    <a:pt x="10172366" y="635277"/>
                  </a:lnTo>
                  <a:lnTo>
                    <a:pt x="10166539" y="636436"/>
                  </a:lnTo>
                  <a:lnTo>
                    <a:pt x="10160711" y="637595"/>
                  </a:lnTo>
                  <a:lnTo>
                    <a:pt x="10154827" y="638174"/>
                  </a:lnTo>
                  <a:lnTo>
                    <a:pt x="10148886" y="638174"/>
                  </a:lnTo>
                  <a:lnTo>
                    <a:pt x="90487" y="638174"/>
                  </a:lnTo>
                  <a:lnTo>
                    <a:pt x="84545" y="638174"/>
                  </a:lnTo>
                  <a:lnTo>
                    <a:pt x="78661" y="637595"/>
                  </a:lnTo>
                  <a:lnTo>
                    <a:pt x="72834" y="636436"/>
                  </a:lnTo>
                  <a:lnTo>
                    <a:pt x="67006" y="635277"/>
                  </a:lnTo>
                  <a:lnTo>
                    <a:pt x="30704" y="615872"/>
                  </a:lnTo>
                  <a:lnTo>
                    <a:pt x="15249" y="597959"/>
                  </a:lnTo>
                  <a:lnTo>
                    <a:pt x="11948" y="593019"/>
                  </a:lnTo>
                  <a:lnTo>
                    <a:pt x="1738" y="565340"/>
                  </a:lnTo>
                  <a:lnTo>
                    <a:pt x="579" y="559513"/>
                  </a:lnTo>
                  <a:lnTo>
                    <a:pt x="0" y="553628"/>
                  </a:lnTo>
                  <a:lnTo>
                    <a:pt x="0" y="547687"/>
                  </a:lnTo>
                  <a:close/>
                </a:path>
              </a:pathLst>
            </a:custGeom>
            <a:ln w="9524">
              <a:solidFill>
                <a:srgbClr val="E4E8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25574" y="3267074"/>
              <a:ext cx="158750" cy="12700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654174" y="3211296"/>
            <a:ext cx="2019300" cy="214629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200" spc="-10" b="1">
                <a:solidFill>
                  <a:srgbClr val="121725"/>
                </a:solidFill>
                <a:latin typeface="Arial"/>
                <a:cs typeface="Arial"/>
              </a:rPr>
              <a:t>Découverte</a:t>
            </a:r>
            <a:r>
              <a:rPr dirty="0" sz="1200" spc="-10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21725"/>
                </a:solidFill>
                <a:latin typeface="Arial"/>
                <a:cs typeface="Arial"/>
              </a:rPr>
              <a:t>des</a:t>
            </a:r>
            <a:r>
              <a:rPr dirty="0" sz="1200" spc="-9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21725"/>
                </a:solidFill>
                <a:latin typeface="Arial"/>
                <a:cs typeface="Arial"/>
              </a:rPr>
              <a:t>statistiques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210799" y="3238500"/>
            <a:ext cx="1133475" cy="200025"/>
          </a:xfrm>
          <a:custGeom>
            <a:avLst/>
            <a:gdLst/>
            <a:ahLst/>
            <a:cxnLst/>
            <a:rect l="l" t="t" r="r" b="b"/>
            <a:pathLst>
              <a:path w="1133475" h="200025">
                <a:moveTo>
                  <a:pt x="1040028" y="200024"/>
                </a:moveTo>
                <a:lnTo>
                  <a:pt x="93444" y="200024"/>
                </a:lnTo>
                <a:lnTo>
                  <a:pt x="86940" y="199384"/>
                </a:lnTo>
                <a:lnTo>
                  <a:pt x="49907" y="186817"/>
                </a:lnTo>
                <a:lnTo>
                  <a:pt x="20502" y="161036"/>
                </a:lnTo>
                <a:lnTo>
                  <a:pt x="3203" y="125964"/>
                </a:lnTo>
                <a:lnTo>
                  <a:pt x="0" y="106579"/>
                </a:lnTo>
                <a:lnTo>
                  <a:pt x="0" y="100012"/>
                </a:lnTo>
                <a:lnTo>
                  <a:pt x="0" y="93445"/>
                </a:lnTo>
                <a:lnTo>
                  <a:pt x="10124" y="55671"/>
                </a:lnTo>
                <a:lnTo>
                  <a:pt x="33936" y="24649"/>
                </a:lnTo>
                <a:lnTo>
                  <a:pt x="67805" y="5099"/>
                </a:lnTo>
                <a:lnTo>
                  <a:pt x="93444" y="0"/>
                </a:lnTo>
                <a:lnTo>
                  <a:pt x="1040028" y="0"/>
                </a:lnTo>
                <a:lnTo>
                  <a:pt x="1077801" y="10125"/>
                </a:lnTo>
                <a:lnTo>
                  <a:pt x="1108824" y="33936"/>
                </a:lnTo>
                <a:lnTo>
                  <a:pt x="1128372" y="67805"/>
                </a:lnTo>
                <a:lnTo>
                  <a:pt x="1133474" y="93445"/>
                </a:lnTo>
                <a:lnTo>
                  <a:pt x="1133474" y="106579"/>
                </a:lnTo>
                <a:lnTo>
                  <a:pt x="1123347" y="144352"/>
                </a:lnTo>
                <a:lnTo>
                  <a:pt x="1099537" y="175375"/>
                </a:lnTo>
                <a:lnTo>
                  <a:pt x="1065666" y="194924"/>
                </a:lnTo>
                <a:lnTo>
                  <a:pt x="1046531" y="199384"/>
                </a:lnTo>
                <a:lnTo>
                  <a:pt x="1040028" y="200024"/>
                </a:lnTo>
                <a:close/>
              </a:path>
            </a:pathLst>
          </a:custGeom>
          <a:solidFill>
            <a:srgbClr val="F59D0A">
              <a:alpha val="1411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0280103" y="3244494"/>
            <a:ext cx="99250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40" b="1">
                <a:solidFill>
                  <a:srgbClr val="B46F08"/>
                </a:solidFill>
                <a:latin typeface="Arial"/>
                <a:cs typeface="Arial"/>
              </a:rPr>
              <a:t>Compteurs</a:t>
            </a:r>
            <a:r>
              <a:rPr dirty="0" sz="900" spc="-10" b="1">
                <a:solidFill>
                  <a:srgbClr val="B46F08"/>
                </a:solidFill>
                <a:latin typeface="Arial"/>
                <a:cs typeface="Arial"/>
              </a:rPr>
              <a:t> </a:t>
            </a:r>
            <a:r>
              <a:rPr dirty="0" sz="900" spc="-20" b="1">
                <a:solidFill>
                  <a:srgbClr val="B46F08"/>
                </a:solidFill>
                <a:latin typeface="Arial"/>
                <a:cs typeface="Arial"/>
              </a:rPr>
              <a:t>animés</a:t>
            </a:r>
            <a:endParaRPr sz="9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406525" y="3462011"/>
            <a:ext cx="9167495" cy="1993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75">
                <a:solidFill>
                  <a:srgbClr val="5C6A81"/>
                </a:solidFill>
                <a:latin typeface="Microsoft Sans Serif"/>
                <a:cs typeface="Microsoft Sans Serif"/>
              </a:rPr>
              <a:t>En</a:t>
            </a:r>
            <a:r>
              <a:rPr dirty="0" sz="105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défilant</a:t>
            </a:r>
            <a:r>
              <a:rPr dirty="0" sz="115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-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des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compteurs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animés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affichent</a:t>
            </a:r>
            <a:r>
              <a:rPr dirty="0" sz="105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80">
                <a:solidFill>
                  <a:srgbClr val="5C6A81"/>
                </a:solidFill>
                <a:latin typeface="Microsoft Sans Serif"/>
                <a:cs typeface="Microsoft Sans Serif"/>
              </a:rPr>
              <a:t>2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40">
                <a:solidFill>
                  <a:srgbClr val="5C6A81"/>
                </a:solidFill>
                <a:latin typeface="Microsoft Sans Serif"/>
                <a:cs typeface="Microsoft Sans Serif"/>
              </a:rPr>
              <a:t>500+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freelances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35">
                <a:solidFill>
                  <a:srgbClr val="5C6A81"/>
                </a:solidFill>
                <a:latin typeface="Microsoft Sans Serif"/>
                <a:cs typeface="Microsoft Sans Serif"/>
              </a:rPr>
              <a:t>800+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entreprises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65">
                <a:solidFill>
                  <a:srgbClr val="5C6A81"/>
                </a:solidFill>
                <a:latin typeface="Microsoft Sans Serif"/>
                <a:cs typeface="Microsoft Sans Serif"/>
              </a:rPr>
              <a:t>12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5">
                <a:solidFill>
                  <a:srgbClr val="5C6A81"/>
                </a:solidFill>
                <a:latin typeface="Microsoft Sans Serif"/>
                <a:cs typeface="Microsoft Sans Serif"/>
              </a:rPr>
              <a:t>000+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missions</a:t>
            </a:r>
            <a:r>
              <a:rPr dirty="0" sz="1150" spc="-2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puis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les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5C6A81"/>
                </a:solidFill>
                <a:latin typeface="Microsoft Sans Serif"/>
                <a:cs typeface="Microsoft Sans Serif"/>
              </a:rPr>
              <a:t>4</a:t>
            </a:r>
            <a:r>
              <a:rPr dirty="0" sz="1150" spc="-5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cartes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la</a:t>
            </a:r>
            <a:r>
              <a:rPr dirty="0" sz="105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méthode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dirty="0" sz="105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la section</a:t>
            </a:r>
            <a:r>
              <a:rPr dirty="0" sz="105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Pour</a:t>
            </a:r>
            <a:r>
              <a:rPr dirty="0" sz="105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qui</a:t>
            </a:r>
            <a:r>
              <a:rPr dirty="0" sz="105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5">
                <a:solidFill>
                  <a:srgbClr val="5C6A81"/>
                </a:solidFill>
                <a:latin typeface="Microsoft Sans Serif"/>
                <a:cs typeface="Microsoft Sans Serif"/>
              </a:rPr>
              <a:t>?.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219200" y="3855720"/>
            <a:ext cx="10327005" cy="728980"/>
            <a:chOff x="1219200" y="3855720"/>
            <a:chExt cx="10327005" cy="728980"/>
          </a:xfrm>
        </p:grpSpPr>
        <p:sp>
          <p:nvSpPr>
            <p:cNvPr id="29" name="object 29"/>
            <p:cNvSpPr/>
            <p:nvPr/>
          </p:nvSpPr>
          <p:spPr>
            <a:xfrm>
              <a:off x="1219200" y="3855720"/>
              <a:ext cx="10327005" cy="728980"/>
            </a:xfrm>
            <a:custGeom>
              <a:avLst/>
              <a:gdLst/>
              <a:ahLst/>
              <a:cxnLst/>
              <a:rect l="l" t="t" r="r" b="b"/>
              <a:pathLst>
                <a:path w="10327005" h="728979">
                  <a:moveTo>
                    <a:pt x="10326623" y="728471"/>
                  </a:moveTo>
                  <a:lnTo>
                    <a:pt x="0" y="728471"/>
                  </a:lnTo>
                  <a:lnTo>
                    <a:pt x="0" y="0"/>
                  </a:lnTo>
                  <a:lnTo>
                    <a:pt x="10326623" y="0"/>
                  </a:lnTo>
                  <a:lnTo>
                    <a:pt x="10326623" y="40004"/>
                  </a:lnTo>
                  <a:lnTo>
                    <a:pt x="133349" y="40004"/>
                  </a:lnTo>
                  <a:lnTo>
                    <a:pt x="124905" y="40412"/>
                  </a:lnTo>
                  <a:lnTo>
                    <a:pt x="85714" y="54438"/>
                  </a:lnTo>
                  <a:lnTo>
                    <a:pt x="57758" y="85277"/>
                  </a:lnTo>
                  <a:lnTo>
                    <a:pt x="47624" y="125729"/>
                  </a:lnTo>
                  <a:lnTo>
                    <a:pt x="47624" y="582929"/>
                  </a:lnTo>
                  <a:lnTo>
                    <a:pt x="57758" y="623380"/>
                  </a:lnTo>
                  <a:lnTo>
                    <a:pt x="85714" y="654220"/>
                  </a:lnTo>
                  <a:lnTo>
                    <a:pt x="124905" y="668246"/>
                  </a:lnTo>
                  <a:lnTo>
                    <a:pt x="133349" y="668654"/>
                  </a:lnTo>
                  <a:lnTo>
                    <a:pt x="10326623" y="668654"/>
                  </a:lnTo>
                  <a:lnTo>
                    <a:pt x="10326623" y="728471"/>
                  </a:lnTo>
                  <a:close/>
                </a:path>
                <a:path w="10327005" h="728979">
                  <a:moveTo>
                    <a:pt x="10326623" y="668654"/>
                  </a:moveTo>
                  <a:lnTo>
                    <a:pt x="10191749" y="668654"/>
                  </a:lnTo>
                  <a:lnTo>
                    <a:pt x="10200194" y="668246"/>
                  </a:lnTo>
                  <a:lnTo>
                    <a:pt x="10208476" y="667023"/>
                  </a:lnTo>
                  <a:lnTo>
                    <a:pt x="10246105" y="649229"/>
                  </a:lnTo>
                  <a:lnTo>
                    <a:pt x="10270947" y="615735"/>
                  </a:lnTo>
                  <a:lnTo>
                    <a:pt x="10277474" y="582929"/>
                  </a:lnTo>
                  <a:lnTo>
                    <a:pt x="10277474" y="125729"/>
                  </a:lnTo>
                  <a:lnTo>
                    <a:pt x="10267339" y="85277"/>
                  </a:lnTo>
                  <a:lnTo>
                    <a:pt x="10239383" y="54438"/>
                  </a:lnTo>
                  <a:lnTo>
                    <a:pt x="10200194" y="40412"/>
                  </a:lnTo>
                  <a:lnTo>
                    <a:pt x="10191749" y="40004"/>
                  </a:lnTo>
                  <a:lnTo>
                    <a:pt x="10326623" y="40004"/>
                  </a:lnTo>
                  <a:lnTo>
                    <a:pt x="10326623" y="668654"/>
                  </a:lnTo>
                  <a:close/>
                </a:path>
              </a:pathLst>
            </a:custGeom>
            <a:solidFill>
              <a:srgbClr val="121725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262062" y="3890962"/>
              <a:ext cx="10239375" cy="638175"/>
            </a:xfrm>
            <a:custGeom>
              <a:avLst/>
              <a:gdLst/>
              <a:ahLst/>
              <a:cxnLst/>
              <a:rect l="l" t="t" r="r" b="b"/>
              <a:pathLst>
                <a:path w="10239375" h="638175">
                  <a:moveTo>
                    <a:pt x="10154827" y="638174"/>
                  </a:moveTo>
                  <a:lnTo>
                    <a:pt x="84545" y="638174"/>
                  </a:lnTo>
                  <a:lnTo>
                    <a:pt x="78661" y="637595"/>
                  </a:lnTo>
                  <a:lnTo>
                    <a:pt x="35275" y="619623"/>
                  </a:lnTo>
                  <a:lnTo>
                    <a:pt x="9161" y="587804"/>
                  </a:lnTo>
                  <a:lnTo>
                    <a:pt x="0" y="553628"/>
                  </a:lnTo>
                  <a:lnTo>
                    <a:pt x="0" y="547687"/>
                  </a:lnTo>
                  <a:lnTo>
                    <a:pt x="0" y="84545"/>
                  </a:lnTo>
                  <a:lnTo>
                    <a:pt x="11948" y="45154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10154827" y="0"/>
                  </a:lnTo>
                  <a:lnTo>
                    <a:pt x="10194217" y="11948"/>
                  </a:lnTo>
                  <a:lnTo>
                    <a:pt x="10227424" y="45155"/>
                  </a:lnTo>
                  <a:lnTo>
                    <a:pt x="10239373" y="84545"/>
                  </a:lnTo>
                  <a:lnTo>
                    <a:pt x="10239373" y="553628"/>
                  </a:lnTo>
                  <a:lnTo>
                    <a:pt x="10227424" y="593019"/>
                  </a:lnTo>
                  <a:lnTo>
                    <a:pt x="10194217" y="626225"/>
                  </a:lnTo>
                  <a:lnTo>
                    <a:pt x="10160711" y="637595"/>
                  </a:lnTo>
                  <a:lnTo>
                    <a:pt x="10154827" y="6381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262062" y="3890962"/>
              <a:ext cx="10239375" cy="638175"/>
            </a:xfrm>
            <a:custGeom>
              <a:avLst/>
              <a:gdLst/>
              <a:ahLst/>
              <a:cxnLst/>
              <a:rect l="l" t="t" r="r" b="b"/>
              <a:pathLst>
                <a:path w="10239375" h="638175">
                  <a:moveTo>
                    <a:pt x="0" y="547687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4"/>
                  </a:lnTo>
                  <a:lnTo>
                    <a:pt x="2897" y="67006"/>
                  </a:lnTo>
                  <a:lnTo>
                    <a:pt x="4614" y="61348"/>
                  </a:lnTo>
                  <a:lnTo>
                    <a:pt x="6887" y="55859"/>
                  </a:lnTo>
                  <a:lnTo>
                    <a:pt x="9161" y="50369"/>
                  </a:lnTo>
                  <a:lnTo>
                    <a:pt x="11948" y="45154"/>
                  </a:lnTo>
                  <a:lnTo>
                    <a:pt x="15249" y="40214"/>
                  </a:lnTo>
                  <a:lnTo>
                    <a:pt x="18550" y="35274"/>
                  </a:lnTo>
                  <a:lnTo>
                    <a:pt x="22301" y="30704"/>
                  </a:lnTo>
                  <a:lnTo>
                    <a:pt x="26503" y="26503"/>
                  </a:lnTo>
                  <a:lnTo>
                    <a:pt x="30704" y="22301"/>
                  </a:lnTo>
                  <a:lnTo>
                    <a:pt x="67006" y="2897"/>
                  </a:lnTo>
                  <a:lnTo>
                    <a:pt x="72834" y="1738"/>
                  </a:lnTo>
                  <a:lnTo>
                    <a:pt x="78661" y="579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10148886" y="0"/>
                  </a:lnTo>
                  <a:lnTo>
                    <a:pt x="10154827" y="0"/>
                  </a:lnTo>
                  <a:lnTo>
                    <a:pt x="10160711" y="579"/>
                  </a:lnTo>
                  <a:lnTo>
                    <a:pt x="10166539" y="1738"/>
                  </a:lnTo>
                  <a:lnTo>
                    <a:pt x="10172366" y="2897"/>
                  </a:lnTo>
                  <a:lnTo>
                    <a:pt x="10208669" y="22301"/>
                  </a:lnTo>
                  <a:lnTo>
                    <a:pt x="10232485" y="55859"/>
                  </a:lnTo>
                  <a:lnTo>
                    <a:pt x="10234758" y="61348"/>
                  </a:lnTo>
                  <a:lnTo>
                    <a:pt x="10236475" y="67006"/>
                  </a:lnTo>
                  <a:lnTo>
                    <a:pt x="10237634" y="72834"/>
                  </a:lnTo>
                  <a:lnTo>
                    <a:pt x="10238794" y="78661"/>
                  </a:lnTo>
                  <a:lnTo>
                    <a:pt x="10239373" y="84545"/>
                  </a:lnTo>
                  <a:lnTo>
                    <a:pt x="10239374" y="90487"/>
                  </a:lnTo>
                  <a:lnTo>
                    <a:pt x="10239374" y="547687"/>
                  </a:lnTo>
                  <a:lnTo>
                    <a:pt x="10239373" y="553628"/>
                  </a:lnTo>
                  <a:lnTo>
                    <a:pt x="10238794" y="559513"/>
                  </a:lnTo>
                  <a:lnTo>
                    <a:pt x="10237634" y="565340"/>
                  </a:lnTo>
                  <a:lnTo>
                    <a:pt x="10236475" y="571167"/>
                  </a:lnTo>
                  <a:lnTo>
                    <a:pt x="10217072" y="607469"/>
                  </a:lnTo>
                  <a:lnTo>
                    <a:pt x="10183513" y="631286"/>
                  </a:lnTo>
                  <a:lnTo>
                    <a:pt x="10178024" y="633560"/>
                  </a:lnTo>
                  <a:lnTo>
                    <a:pt x="10172366" y="635276"/>
                  </a:lnTo>
                  <a:lnTo>
                    <a:pt x="10166539" y="636435"/>
                  </a:lnTo>
                  <a:lnTo>
                    <a:pt x="10160711" y="637595"/>
                  </a:lnTo>
                  <a:lnTo>
                    <a:pt x="10154827" y="638174"/>
                  </a:lnTo>
                  <a:lnTo>
                    <a:pt x="10148886" y="638174"/>
                  </a:lnTo>
                  <a:lnTo>
                    <a:pt x="90487" y="638174"/>
                  </a:lnTo>
                  <a:lnTo>
                    <a:pt x="84545" y="638174"/>
                  </a:lnTo>
                  <a:lnTo>
                    <a:pt x="78661" y="637595"/>
                  </a:lnTo>
                  <a:lnTo>
                    <a:pt x="72834" y="636435"/>
                  </a:lnTo>
                  <a:lnTo>
                    <a:pt x="67006" y="635276"/>
                  </a:lnTo>
                  <a:lnTo>
                    <a:pt x="61348" y="633560"/>
                  </a:lnTo>
                  <a:lnTo>
                    <a:pt x="55859" y="631286"/>
                  </a:lnTo>
                  <a:lnTo>
                    <a:pt x="50370" y="629012"/>
                  </a:lnTo>
                  <a:lnTo>
                    <a:pt x="18550" y="602899"/>
                  </a:lnTo>
                  <a:lnTo>
                    <a:pt x="15249" y="597959"/>
                  </a:lnTo>
                  <a:lnTo>
                    <a:pt x="11948" y="593019"/>
                  </a:lnTo>
                  <a:lnTo>
                    <a:pt x="1738" y="565340"/>
                  </a:lnTo>
                  <a:lnTo>
                    <a:pt x="579" y="559513"/>
                  </a:lnTo>
                  <a:lnTo>
                    <a:pt x="0" y="553628"/>
                  </a:lnTo>
                  <a:lnTo>
                    <a:pt x="0" y="547687"/>
                  </a:lnTo>
                  <a:close/>
                </a:path>
              </a:pathLst>
            </a:custGeom>
            <a:ln w="9524">
              <a:solidFill>
                <a:srgbClr val="E4E8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25574" y="4044950"/>
              <a:ext cx="158750" cy="101600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1654174" y="3973296"/>
            <a:ext cx="1911985" cy="214629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200" spc="-35" b="1">
                <a:solidFill>
                  <a:srgbClr val="121725"/>
                </a:solidFill>
                <a:latin typeface="Arial"/>
                <a:cs typeface="Arial"/>
              </a:rPr>
              <a:t>Exploration</a:t>
            </a:r>
            <a:r>
              <a:rPr dirty="0" sz="1200" spc="-4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21725"/>
                </a:solidFill>
                <a:latin typeface="Arial"/>
                <a:cs typeface="Arial"/>
              </a:rPr>
              <a:t>des</a:t>
            </a:r>
            <a:r>
              <a:rPr dirty="0" sz="1200" spc="-7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21725"/>
                </a:solidFill>
                <a:latin typeface="Arial"/>
                <a:cs typeface="Arial"/>
              </a:rPr>
              <a:t>freelances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0334622" y="4000499"/>
            <a:ext cx="1009650" cy="200025"/>
          </a:xfrm>
          <a:custGeom>
            <a:avLst/>
            <a:gdLst/>
            <a:ahLst/>
            <a:cxnLst/>
            <a:rect l="l" t="t" r="r" b="b"/>
            <a:pathLst>
              <a:path w="1009650" h="200025">
                <a:moveTo>
                  <a:pt x="916204" y="200024"/>
                </a:moveTo>
                <a:lnTo>
                  <a:pt x="93446" y="200024"/>
                </a:lnTo>
                <a:lnTo>
                  <a:pt x="86942" y="199384"/>
                </a:lnTo>
                <a:lnTo>
                  <a:pt x="49907" y="186817"/>
                </a:lnTo>
                <a:lnTo>
                  <a:pt x="20503" y="161036"/>
                </a:lnTo>
                <a:lnTo>
                  <a:pt x="3203" y="125964"/>
                </a:lnTo>
                <a:lnTo>
                  <a:pt x="0" y="106579"/>
                </a:lnTo>
                <a:lnTo>
                  <a:pt x="1" y="100012"/>
                </a:lnTo>
                <a:lnTo>
                  <a:pt x="0" y="93445"/>
                </a:lnTo>
                <a:lnTo>
                  <a:pt x="10124" y="55671"/>
                </a:lnTo>
                <a:lnTo>
                  <a:pt x="33936" y="24649"/>
                </a:lnTo>
                <a:lnTo>
                  <a:pt x="67805" y="5099"/>
                </a:lnTo>
                <a:lnTo>
                  <a:pt x="93446" y="0"/>
                </a:lnTo>
                <a:lnTo>
                  <a:pt x="916204" y="0"/>
                </a:lnTo>
                <a:lnTo>
                  <a:pt x="953977" y="10125"/>
                </a:lnTo>
                <a:lnTo>
                  <a:pt x="985000" y="33936"/>
                </a:lnTo>
                <a:lnTo>
                  <a:pt x="1004549" y="67805"/>
                </a:lnTo>
                <a:lnTo>
                  <a:pt x="1009651" y="93445"/>
                </a:lnTo>
                <a:lnTo>
                  <a:pt x="1009651" y="106579"/>
                </a:lnTo>
                <a:lnTo>
                  <a:pt x="999523" y="144351"/>
                </a:lnTo>
                <a:lnTo>
                  <a:pt x="975713" y="175375"/>
                </a:lnTo>
                <a:lnTo>
                  <a:pt x="941842" y="194924"/>
                </a:lnTo>
                <a:lnTo>
                  <a:pt x="922707" y="199384"/>
                </a:lnTo>
                <a:lnTo>
                  <a:pt x="916204" y="200024"/>
                </a:lnTo>
                <a:close/>
              </a:path>
            </a:pathLst>
          </a:custGeom>
          <a:solidFill>
            <a:srgbClr val="0E9E6E">
              <a:alpha val="1411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10405119" y="4006494"/>
            <a:ext cx="86741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60" b="1">
                <a:solidFill>
                  <a:srgbClr val="0E9E6E"/>
                </a:solidFill>
                <a:latin typeface="Arial"/>
                <a:cs typeface="Arial"/>
              </a:rPr>
              <a:t>9</a:t>
            </a:r>
            <a:r>
              <a:rPr dirty="0" sz="850" spc="-30" b="1">
                <a:solidFill>
                  <a:srgbClr val="0E9E6E"/>
                </a:solidFill>
                <a:latin typeface="Arial"/>
                <a:cs typeface="Arial"/>
              </a:rPr>
              <a:t> </a:t>
            </a:r>
            <a:r>
              <a:rPr dirty="0" sz="900" spc="-25" b="1">
                <a:solidFill>
                  <a:srgbClr val="0E9E6E"/>
                </a:solidFill>
                <a:latin typeface="Arial"/>
                <a:cs typeface="Arial"/>
              </a:rPr>
              <a:t>cartes</a:t>
            </a:r>
            <a:r>
              <a:rPr dirty="0" sz="900" spc="-45" b="1">
                <a:solidFill>
                  <a:srgbClr val="0E9E6E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E9E6E"/>
                </a:solidFill>
                <a:latin typeface="Arial"/>
                <a:cs typeface="Arial"/>
              </a:rPr>
              <a:t>+</a:t>
            </a:r>
            <a:r>
              <a:rPr dirty="0" sz="850" spc="15" b="1">
                <a:solidFill>
                  <a:srgbClr val="0E9E6E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0E9E6E"/>
                </a:solidFill>
                <a:latin typeface="Arial"/>
                <a:cs typeface="Arial"/>
              </a:rPr>
              <a:t>filtres</a:t>
            </a:r>
            <a:endParaRPr sz="9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406525" y="4224011"/>
            <a:ext cx="9568180" cy="1993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Sur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la</a:t>
            </a:r>
            <a:r>
              <a:rPr dirty="0" sz="105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page</a:t>
            </a:r>
            <a:r>
              <a:rPr dirty="0" sz="105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Freelances</a:t>
            </a:r>
            <a:r>
              <a:rPr dirty="0" sz="1150" spc="-25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visiteur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filtre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par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catégorie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0">
                <a:solidFill>
                  <a:srgbClr val="5C6A81"/>
                </a:solidFill>
                <a:latin typeface="Microsoft Sans Serif"/>
                <a:cs typeface="Microsoft Sans Serif"/>
              </a:rPr>
              <a:t>(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Développement</a:t>
            </a:r>
            <a:r>
              <a:rPr dirty="0" sz="1150" spc="-2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Design</a:t>
            </a:r>
            <a:r>
              <a:rPr dirty="0" sz="1150" spc="-2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Data</a:t>
            </a:r>
            <a:r>
              <a:rPr dirty="0" sz="1150" spc="-25">
                <a:solidFill>
                  <a:srgbClr val="5C6A81"/>
                </a:solidFill>
                <a:latin typeface="Microsoft Sans Serif"/>
                <a:cs typeface="Microsoft Sans Serif"/>
              </a:rPr>
              <a:t>)</a:t>
            </a:r>
            <a:r>
              <a:rPr dirty="0" sz="1150" spc="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dirty="0" sz="105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parcourt</a:t>
            </a:r>
            <a:r>
              <a:rPr dirty="0" sz="105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5C6A81"/>
                </a:solidFill>
                <a:latin typeface="Microsoft Sans Serif"/>
                <a:cs typeface="Microsoft Sans Serif"/>
              </a:rPr>
              <a:t>9</a:t>
            </a:r>
            <a:r>
              <a:rPr dirty="0" sz="115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cartes</a:t>
            </a:r>
            <a:r>
              <a:rPr dirty="0" sz="105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avec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photo</a:t>
            </a:r>
            <a:r>
              <a:rPr dirty="0" sz="115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spécialité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compétences</a:t>
            </a:r>
            <a:r>
              <a:rPr dirty="0" sz="105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bouton</a:t>
            </a:r>
            <a:r>
              <a:rPr dirty="0" sz="105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Contacter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219200" y="4617719"/>
            <a:ext cx="10327005" cy="728980"/>
            <a:chOff x="1219200" y="4617719"/>
            <a:chExt cx="10327005" cy="728980"/>
          </a:xfrm>
        </p:grpSpPr>
        <p:sp>
          <p:nvSpPr>
            <p:cNvPr id="38" name="object 38"/>
            <p:cNvSpPr/>
            <p:nvPr/>
          </p:nvSpPr>
          <p:spPr>
            <a:xfrm>
              <a:off x="1219200" y="4617719"/>
              <a:ext cx="10327005" cy="728980"/>
            </a:xfrm>
            <a:custGeom>
              <a:avLst/>
              <a:gdLst/>
              <a:ahLst/>
              <a:cxnLst/>
              <a:rect l="l" t="t" r="r" b="b"/>
              <a:pathLst>
                <a:path w="10327005" h="728979">
                  <a:moveTo>
                    <a:pt x="10326623" y="728471"/>
                  </a:moveTo>
                  <a:lnTo>
                    <a:pt x="0" y="728471"/>
                  </a:lnTo>
                  <a:lnTo>
                    <a:pt x="0" y="0"/>
                  </a:lnTo>
                  <a:lnTo>
                    <a:pt x="10326623" y="0"/>
                  </a:lnTo>
                  <a:lnTo>
                    <a:pt x="10326623" y="40004"/>
                  </a:lnTo>
                  <a:lnTo>
                    <a:pt x="133349" y="40004"/>
                  </a:lnTo>
                  <a:lnTo>
                    <a:pt x="124905" y="40412"/>
                  </a:lnTo>
                  <a:lnTo>
                    <a:pt x="85714" y="54438"/>
                  </a:lnTo>
                  <a:lnTo>
                    <a:pt x="57758" y="85277"/>
                  </a:lnTo>
                  <a:lnTo>
                    <a:pt x="47624" y="125729"/>
                  </a:lnTo>
                  <a:lnTo>
                    <a:pt x="47624" y="582929"/>
                  </a:lnTo>
                  <a:lnTo>
                    <a:pt x="57758" y="623380"/>
                  </a:lnTo>
                  <a:lnTo>
                    <a:pt x="85714" y="654220"/>
                  </a:lnTo>
                  <a:lnTo>
                    <a:pt x="124907" y="668246"/>
                  </a:lnTo>
                  <a:lnTo>
                    <a:pt x="133349" y="668654"/>
                  </a:lnTo>
                  <a:lnTo>
                    <a:pt x="10326623" y="668654"/>
                  </a:lnTo>
                  <a:lnTo>
                    <a:pt x="10326623" y="728471"/>
                  </a:lnTo>
                  <a:close/>
                </a:path>
                <a:path w="10327005" h="728979">
                  <a:moveTo>
                    <a:pt x="10326623" y="668654"/>
                  </a:moveTo>
                  <a:lnTo>
                    <a:pt x="10191749" y="668654"/>
                  </a:lnTo>
                  <a:lnTo>
                    <a:pt x="10200194" y="668246"/>
                  </a:lnTo>
                  <a:lnTo>
                    <a:pt x="10208476" y="667023"/>
                  </a:lnTo>
                  <a:lnTo>
                    <a:pt x="10246105" y="649229"/>
                  </a:lnTo>
                  <a:lnTo>
                    <a:pt x="10270947" y="615734"/>
                  </a:lnTo>
                  <a:lnTo>
                    <a:pt x="10277474" y="582929"/>
                  </a:lnTo>
                  <a:lnTo>
                    <a:pt x="10277474" y="125729"/>
                  </a:lnTo>
                  <a:lnTo>
                    <a:pt x="10267339" y="85277"/>
                  </a:lnTo>
                  <a:lnTo>
                    <a:pt x="10239383" y="54438"/>
                  </a:lnTo>
                  <a:lnTo>
                    <a:pt x="10200194" y="40412"/>
                  </a:lnTo>
                  <a:lnTo>
                    <a:pt x="10191749" y="40004"/>
                  </a:lnTo>
                  <a:lnTo>
                    <a:pt x="10326623" y="40004"/>
                  </a:lnTo>
                  <a:lnTo>
                    <a:pt x="10326623" y="668654"/>
                  </a:lnTo>
                  <a:close/>
                </a:path>
              </a:pathLst>
            </a:custGeom>
            <a:solidFill>
              <a:srgbClr val="121725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262062" y="4652961"/>
              <a:ext cx="10239375" cy="638175"/>
            </a:xfrm>
            <a:custGeom>
              <a:avLst/>
              <a:gdLst/>
              <a:ahLst/>
              <a:cxnLst/>
              <a:rect l="l" t="t" r="r" b="b"/>
              <a:pathLst>
                <a:path w="10239375" h="638175">
                  <a:moveTo>
                    <a:pt x="10154827" y="638174"/>
                  </a:moveTo>
                  <a:lnTo>
                    <a:pt x="84545" y="638174"/>
                  </a:lnTo>
                  <a:lnTo>
                    <a:pt x="78661" y="637594"/>
                  </a:lnTo>
                  <a:lnTo>
                    <a:pt x="35275" y="619623"/>
                  </a:lnTo>
                  <a:lnTo>
                    <a:pt x="9161" y="587804"/>
                  </a:lnTo>
                  <a:lnTo>
                    <a:pt x="0" y="553628"/>
                  </a:lnTo>
                  <a:lnTo>
                    <a:pt x="0" y="547687"/>
                  </a:lnTo>
                  <a:lnTo>
                    <a:pt x="0" y="84545"/>
                  </a:lnTo>
                  <a:lnTo>
                    <a:pt x="11948" y="45154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10154827" y="0"/>
                  </a:lnTo>
                  <a:lnTo>
                    <a:pt x="10194217" y="11948"/>
                  </a:lnTo>
                  <a:lnTo>
                    <a:pt x="10227424" y="45154"/>
                  </a:lnTo>
                  <a:lnTo>
                    <a:pt x="10239373" y="84545"/>
                  </a:lnTo>
                  <a:lnTo>
                    <a:pt x="10239373" y="553628"/>
                  </a:lnTo>
                  <a:lnTo>
                    <a:pt x="10227424" y="593019"/>
                  </a:lnTo>
                  <a:lnTo>
                    <a:pt x="10194217" y="626225"/>
                  </a:lnTo>
                  <a:lnTo>
                    <a:pt x="10160711" y="637594"/>
                  </a:lnTo>
                  <a:lnTo>
                    <a:pt x="10154827" y="6381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262062" y="4652961"/>
              <a:ext cx="10239375" cy="638175"/>
            </a:xfrm>
            <a:custGeom>
              <a:avLst/>
              <a:gdLst/>
              <a:ahLst/>
              <a:cxnLst/>
              <a:rect l="l" t="t" r="r" b="b"/>
              <a:pathLst>
                <a:path w="10239375" h="638175">
                  <a:moveTo>
                    <a:pt x="0" y="547687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3"/>
                  </a:lnTo>
                  <a:lnTo>
                    <a:pt x="2897" y="67006"/>
                  </a:lnTo>
                  <a:lnTo>
                    <a:pt x="4614" y="61348"/>
                  </a:lnTo>
                  <a:lnTo>
                    <a:pt x="6887" y="55858"/>
                  </a:lnTo>
                  <a:lnTo>
                    <a:pt x="9161" y="50369"/>
                  </a:lnTo>
                  <a:lnTo>
                    <a:pt x="11948" y="45154"/>
                  </a:lnTo>
                  <a:lnTo>
                    <a:pt x="15249" y="40214"/>
                  </a:lnTo>
                  <a:lnTo>
                    <a:pt x="18550" y="35274"/>
                  </a:lnTo>
                  <a:lnTo>
                    <a:pt x="22301" y="30703"/>
                  </a:lnTo>
                  <a:lnTo>
                    <a:pt x="26503" y="26502"/>
                  </a:lnTo>
                  <a:lnTo>
                    <a:pt x="30704" y="22301"/>
                  </a:lnTo>
                  <a:lnTo>
                    <a:pt x="67006" y="2897"/>
                  </a:lnTo>
                  <a:lnTo>
                    <a:pt x="72834" y="1738"/>
                  </a:lnTo>
                  <a:lnTo>
                    <a:pt x="78661" y="579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10148886" y="0"/>
                  </a:lnTo>
                  <a:lnTo>
                    <a:pt x="10154827" y="0"/>
                  </a:lnTo>
                  <a:lnTo>
                    <a:pt x="10160711" y="579"/>
                  </a:lnTo>
                  <a:lnTo>
                    <a:pt x="10166539" y="1738"/>
                  </a:lnTo>
                  <a:lnTo>
                    <a:pt x="10172366" y="2897"/>
                  </a:lnTo>
                  <a:lnTo>
                    <a:pt x="10208669" y="22301"/>
                  </a:lnTo>
                  <a:lnTo>
                    <a:pt x="10232485" y="55858"/>
                  </a:lnTo>
                  <a:lnTo>
                    <a:pt x="10234758" y="61348"/>
                  </a:lnTo>
                  <a:lnTo>
                    <a:pt x="10236475" y="67006"/>
                  </a:lnTo>
                  <a:lnTo>
                    <a:pt x="10237634" y="72833"/>
                  </a:lnTo>
                  <a:lnTo>
                    <a:pt x="10238794" y="78661"/>
                  </a:lnTo>
                  <a:lnTo>
                    <a:pt x="10239373" y="84545"/>
                  </a:lnTo>
                  <a:lnTo>
                    <a:pt x="10239374" y="90487"/>
                  </a:lnTo>
                  <a:lnTo>
                    <a:pt x="10239374" y="547687"/>
                  </a:lnTo>
                  <a:lnTo>
                    <a:pt x="10239373" y="553628"/>
                  </a:lnTo>
                  <a:lnTo>
                    <a:pt x="10238794" y="559512"/>
                  </a:lnTo>
                  <a:lnTo>
                    <a:pt x="10237634" y="565340"/>
                  </a:lnTo>
                  <a:lnTo>
                    <a:pt x="10236475" y="571167"/>
                  </a:lnTo>
                  <a:lnTo>
                    <a:pt x="10234758" y="576825"/>
                  </a:lnTo>
                  <a:lnTo>
                    <a:pt x="10232485" y="582315"/>
                  </a:lnTo>
                  <a:lnTo>
                    <a:pt x="10230211" y="587804"/>
                  </a:lnTo>
                  <a:lnTo>
                    <a:pt x="10204098" y="619623"/>
                  </a:lnTo>
                  <a:lnTo>
                    <a:pt x="10199158" y="622924"/>
                  </a:lnTo>
                  <a:lnTo>
                    <a:pt x="10194217" y="626225"/>
                  </a:lnTo>
                  <a:lnTo>
                    <a:pt x="10189002" y="629012"/>
                  </a:lnTo>
                  <a:lnTo>
                    <a:pt x="10183513" y="631286"/>
                  </a:lnTo>
                  <a:lnTo>
                    <a:pt x="10178024" y="633560"/>
                  </a:lnTo>
                  <a:lnTo>
                    <a:pt x="10148886" y="638174"/>
                  </a:lnTo>
                  <a:lnTo>
                    <a:pt x="90487" y="638174"/>
                  </a:lnTo>
                  <a:lnTo>
                    <a:pt x="55859" y="631286"/>
                  </a:lnTo>
                  <a:lnTo>
                    <a:pt x="50370" y="629012"/>
                  </a:lnTo>
                  <a:lnTo>
                    <a:pt x="45155" y="626225"/>
                  </a:lnTo>
                  <a:lnTo>
                    <a:pt x="40215" y="622924"/>
                  </a:lnTo>
                  <a:lnTo>
                    <a:pt x="35275" y="619623"/>
                  </a:lnTo>
                  <a:lnTo>
                    <a:pt x="30704" y="615873"/>
                  </a:lnTo>
                  <a:lnTo>
                    <a:pt x="26503" y="611671"/>
                  </a:lnTo>
                  <a:lnTo>
                    <a:pt x="22301" y="607470"/>
                  </a:lnTo>
                  <a:lnTo>
                    <a:pt x="6887" y="582315"/>
                  </a:lnTo>
                  <a:lnTo>
                    <a:pt x="4614" y="576825"/>
                  </a:lnTo>
                  <a:lnTo>
                    <a:pt x="2897" y="571167"/>
                  </a:lnTo>
                  <a:lnTo>
                    <a:pt x="1738" y="565340"/>
                  </a:lnTo>
                  <a:lnTo>
                    <a:pt x="579" y="559512"/>
                  </a:lnTo>
                  <a:lnTo>
                    <a:pt x="0" y="553628"/>
                  </a:lnTo>
                  <a:lnTo>
                    <a:pt x="0" y="547687"/>
                  </a:lnTo>
                  <a:close/>
                </a:path>
              </a:pathLst>
            </a:custGeom>
            <a:ln w="9524">
              <a:solidFill>
                <a:srgbClr val="E4E8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25574" y="4797424"/>
              <a:ext cx="158750" cy="12065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0448924" y="4762499"/>
              <a:ext cx="895350" cy="200025"/>
            </a:xfrm>
            <a:custGeom>
              <a:avLst/>
              <a:gdLst/>
              <a:ahLst/>
              <a:cxnLst/>
              <a:rect l="l" t="t" r="r" b="b"/>
              <a:pathLst>
                <a:path w="895350" h="200025">
                  <a:moveTo>
                    <a:pt x="801903" y="200024"/>
                  </a:moveTo>
                  <a:lnTo>
                    <a:pt x="93445" y="200024"/>
                  </a:lnTo>
                  <a:lnTo>
                    <a:pt x="86941" y="199383"/>
                  </a:lnTo>
                  <a:lnTo>
                    <a:pt x="49906" y="186816"/>
                  </a:lnTo>
                  <a:lnTo>
                    <a:pt x="20502" y="161035"/>
                  </a:lnTo>
                  <a:lnTo>
                    <a:pt x="3200" y="125963"/>
                  </a:lnTo>
                  <a:lnTo>
                    <a:pt x="0" y="106578"/>
                  </a:lnTo>
                  <a:lnTo>
                    <a:pt x="0" y="100012"/>
                  </a:lnTo>
                  <a:lnTo>
                    <a:pt x="0" y="93445"/>
                  </a:lnTo>
                  <a:lnTo>
                    <a:pt x="10123" y="55671"/>
                  </a:lnTo>
                  <a:lnTo>
                    <a:pt x="33935" y="24648"/>
                  </a:lnTo>
                  <a:lnTo>
                    <a:pt x="67805" y="5099"/>
                  </a:lnTo>
                  <a:lnTo>
                    <a:pt x="93445" y="0"/>
                  </a:lnTo>
                  <a:lnTo>
                    <a:pt x="801903" y="0"/>
                  </a:lnTo>
                  <a:lnTo>
                    <a:pt x="839676" y="10125"/>
                  </a:lnTo>
                  <a:lnTo>
                    <a:pt x="870699" y="33935"/>
                  </a:lnTo>
                  <a:lnTo>
                    <a:pt x="890247" y="67805"/>
                  </a:lnTo>
                  <a:lnTo>
                    <a:pt x="895349" y="93445"/>
                  </a:lnTo>
                  <a:lnTo>
                    <a:pt x="895349" y="106578"/>
                  </a:lnTo>
                  <a:lnTo>
                    <a:pt x="885222" y="144351"/>
                  </a:lnTo>
                  <a:lnTo>
                    <a:pt x="861412" y="175374"/>
                  </a:lnTo>
                  <a:lnTo>
                    <a:pt x="827541" y="194923"/>
                  </a:lnTo>
                  <a:lnTo>
                    <a:pt x="808406" y="199383"/>
                  </a:lnTo>
                  <a:lnTo>
                    <a:pt x="801903" y="200024"/>
                  </a:lnTo>
                  <a:close/>
                </a:path>
              </a:pathLst>
            </a:custGeom>
            <a:solidFill>
              <a:srgbClr val="2453D5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10520908" y="4768494"/>
            <a:ext cx="75247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55" b="1">
                <a:solidFill>
                  <a:srgbClr val="2453D5"/>
                </a:solidFill>
                <a:latin typeface="Arial"/>
                <a:cs typeface="Arial"/>
              </a:rPr>
              <a:t>3</a:t>
            </a:r>
            <a:r>
              <a:rPr dirty="0" sz="850" spc="-3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900" spc="-25" b="1">
                <a:solidFill>
                  <a:srgbClr val="2453D5"/>
                </a:solidFill>
                <a:latin typeface="Arial"/>
                <a:cs typeface="Arial"/>
              </a:rPr>
              <a:t>offres</a:t>
            </a:r>
            <a:r>
              <a:rPr dirty="0" sz="900" spc="-45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2453D5"/>
                </a:solidFill>
                <a:latin typeface="Arial"/>
                <a:cs typeface="Arial"/>
              </a:rPr>
              <a:t>+</a:t>
            </a:r>
            <a:r>
              <a:rPr dirty="0" sz="850" spc="2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900" spc="-65" b="1">
                <a:solidFill>
                  <a:srgbClr val="2453D5"/>
                </a:solidFill>
                <a:latin typeface="Arial"/>
                <a:cs typeface="Arial"/>
              </a:rPr>
              <a:t>FAQ</a:t>
            </a:r>
            <a:endParaRPr sz="9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406525" y="4668056"/>
            <a:ext cx="7498080" cy="51752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259715">
              <a:lnSpc>
                <a:spcPct val="100000"/>
              </a:lnSpc>
              <a:spcBef>
                <a:spcPts val="665"/>
              </a:spcBef>
            </a:pPr>
            <a:r>
              <a:rPr dirty="0" sz="1200" spc="-25" b="1">
                <a:solidFill>
                  <a:srgbClr val="121725"/>
                </a:solidFill>
                <a:latin typeface="Arial"/>
                <a:cs typeface="Arial"/>
              </a:rPr>
              <a:t>Consultation</a:t>
            </a:r>
            <a:r>
              <a:rPr dirty="0" sz="1200" spc="-4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21725"/>
                </a:solidFill>
                <a:latin typeface="Arial"/>
                <a:cs typeface="Arial"/>
              </a:rPr>
              <a:t>des</a:t>
            </a:r>
            <a:r>
              <a:rPr dirty="0" sz="1200" spc="-6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21725"/>
                </a:solidFill>
                <a:latin typeface="Arial"/>
                <a:cs typeface="Arial"/>
              </a:rPr>
              <a:t>tarifs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La</a:t>
            </a:r>
            <a:r>
              <a:rPr dirty="0" sz="1050" spc="-5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page</a:t>
            </a:r>
            <a:r>
              <a:rPr dirty="0" sz="105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Tarifs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présente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5C6A81"/>
                </a:solidFill>
                <a:latin typeface="Microsoft Sans Serif"/>
                <a:cs typeface="Microsoft Sans Serif"/>
              </a:rPr>
              <a:t>3</a:t>
            </a:r>
            <a:r>
              <a:rPr dirty="0" sz="1150" spc="-5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offres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(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Gratuit</a:t>
            </a:r>
            <a:r>
              <a:rPr dirty="0" sz="105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5C6A81"/>
                </a:solidFill>
                <a:latin typeface="Microsoft Sans Serif"/>
                <a:cs typeface="Microsoft Sans Serif"/>
              </a:rPr>
              <a:t>0</a:t>
            </a:r>
            <a:r>
              <a:rPr dirty="0" sz="1150" spc="-5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95">
                <a:solidFill>
                  <a:srgbClr val="5C6A81"/>
                </a:solidFill>
                <a:latin typeface="Microsoft Sans Serif"/>
                <a:cs typeface="Microsoft Sans Serif"/>
              </a:rPr>
              <a:t>XOF</a:t>
            </a:r>
            <a:r>
              <a:rPr dirty="0" sz="1150" spc="-95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Pro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5C6A81"/>
                </a:solidFill>
                <a:latin typeface="Microsoft Sans Serif"/>
                <a:cs typeface="Microsoft Sans Serif"/>
              </a:rPr>
              <a:t>4</a:t>
            </a:r>
            <a:r>
              <a:rPr dirty="0" sz="1150" spc="-5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0">
                <a:solidFill>
                  <a:srgbClr val="5C6A81"/>
                </a:solidFill>
                <a:latin typeface="Microsoft Sans Serif"/>
                <a:cs typeface="Microsoft Sans Serif"/>
              </a:rPr>
              <a:t>000</a:t>
            </a:r>
            <a:r>
              <a:rPr dirty="0" sz="1150" spc="-5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5">
                <a:solidFill>
                  <a:srgbClr val="5C6A81"/>
                </a:solidFill>
                <a:latin typeface="Microsoft Sans Serif"/>
                <a:cs typeface="Microsoft Sans Serif"/>
              </a:rPr>
              <a:t>XOF</a:t>
            </a:r>
            <a:r>
              <a:rPr dirty="0" sz="1150" spc="-35">
                <a:solidFill>
                  <a:srgbClr val="5C6A81"/>
                </a:solidFill>
                <a:latin typeface="Microsoft Sans Serif"/>
                <a:cs typeface="Microsoft Sans Serif"/>
              </a:rPr>
              <a:t>/</a:t>
            </a:r>
            <a:r>
              <a:rPr dirty="0" sz="1050" spc="-35">
                <a:solidFill>
                  <a:srgbClr val="5C6A81"/>
                </a:solidFill>
                <a:latin typeface="Microsoft Sans Serif"/>
                <a:cs typeface="Microsoft Sans Serif"/>
              </a:rPr>
              <a:t>mois</a:t>
            </a:r>
            <a:r>
              <a:rPr dirty="0" sz="1150" spc="-35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Entreprise</a:t>
            </a:r>
            <a:r>
              <a:rPr dirty="0" sz="105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35">
                <a:solidFill>
                  <a:srgbClr val="5C6A81"/>
                </a:solidFill>
                <a:latin typeface="Microsoft Sans Serif"/>
                <a:cs typeface="Microsoft Sans Serif"/>
              </a:rPr>
              <a:t>20</a:t>
            </a:r>
            <a:r>
              <a:rPr dirty="0" sz="115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0">
                <a:solidFill>
                  <a:srgbClr val="5C6A81"/>
                </a:solidFill>
                <a:latin typeface="Microsoft Sans Serif"/>
                <a:cs typeface="Microsoft Sans Serif"/>
              </a:rPr>
              <a:t>000</a:t>
            </a:r>
            <a:r>
              <a:rPr dirty="0" sz="1150" spc="-5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30">
                <a:solidFill>
                  <a:srgbClr val="5C6A81"/>
                </a:solidFill>
                <a:latin typeface="Microsoft Sans Serif"/>
                <a:cs typeface="Microsoft Sans Serif"/>
              </a:rPr>
              <a:t>XOF</a:t>
            </a:r>
            <a:r>
              <a:rPr dirty="0" sz="1150" spc="-30">
                <a:solidFill>
                  <a:srgbClr val="5C6A81"/>
                </a:solidFill>
                <a:latin typeface="Microsoft Sans Serif"/>
                <a:cs typeface="Microsoft Sans Serif"/>
              </a:rPr>
              <a:t>/</a:t>
            </a:r>
            <a:r>
              <a:rPr dirty="0" sz="1050" spc="-30">
                <a:solidFill>
                  <a:srgbClr val="5C6A81"/>
                </a:solidFill>
                <a:latin typeface="Microsoft Sans Serif"/>
                <a:cs typeface="Microsoft Sans Serif"/>
              </a:rPr>
              <a:t>mois</a:t>
            </a:r>
            <a:r>
              <a:rPr dirty="0" sz="1150" spc="-30">
                <a:solidFill>
                  <a:srgbClr val="5C6A81"/>
                </a:solidFill>
                <a:latin typeface="Microsoft Sans Serif"/>
                <a:cs typeface="Microsoft Sans Serif"/>
              </a:rPr>
              <a:t>)</a:t>
            </a:r>
            <a:r>
              <a:rPr dirty="0" sz="1150" spc="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avec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une</a:t>
            </a:r>
            <a:r>
              <a:rPr dirty="0" sz="105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5">
                <a:solidFill>
                  <a:srgbClr val="5C6A81"/>
                </a:solidFill>
                <a:latin typeface="Microsoft Sans Serif"/>
                <a:cs typeface="Microsoft Sans Serif"/>
              </a:rPr>
              <a:t>FAQ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en 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accordéon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219200" y="5379719"/>
            <a:ext cx="10327005" cy="917575"/>
            <a:chOff x="1219200" y="5379719"/>
            <a:chExt cx="10327005" cy="917575"/>
          </a:xfrm>
        </p:grpSpPr>
        <p:sp>
          <p:nvSpPr>
            <p:cNvPr id="46" name="object 46"/>
            <p:cNvSpPr/>
            <p:nvPr/>
          </p:nvSpPr>
          <p:spPr>
            <a:xfrm>
              <a:off x="1219200" y="5379719"/>
              <a:ext cx="10327005" cy="917575"/>
            </a:xfrm>
            <a:custGeom>
              <a:avLst/>
              <a:gdLst/>
              <a:ahLst/>
              <a:cxnLst/>
              <a:rect l="l" t="t" r="r" b="b"/>
              <a:pathLst>
                <a:path w="10327005" h="917575">
                  <a:moveTo>
                    <a:pt x="10326623" y="917447"/>
                  </a:moveTo>
                  <a:lnTo>
                    <a:pt x="0" y="917447"/>
                  </a:lnTo>
                  <a:lnTo>
                    <a:pt x="0" y="0"/>
                  </a:lnTo>
                  <a:lnTo>
                    <a:pt x="10326623" y="0"/>
                  </a:lnTo>
                  <a:lnTo>
                    <a:pt x="10326623" y="40004"/>
                  </a:lnTo>
                  <a:lnTo>
                    <a:pt x="133349" y="40004"/>
                  </a:lnTo>
                  <a:lnTo>
                    <a:pt x="124905" y="40412"/>
                  </a:lnTo>
                  <a:lnTo>
                    <a:pt x="85714" y="54438"/>
                  </a:lnTo>
                  <a:lnTo>
                    <a:pt x="57758" y="85278"/>
                  </a:lnTo>
                  <a:lnTo>
                    <a:pt x="47624" y="125729"/>
                  </a:lnTo>
                  <a:lnTo>
                    <a:pt x="47624" y="773429"/>
                  </a:lnTo>
                  <a:lnTo>
                    <a:pt x="57758" y="813880"/>
                  </a:lnTo>
                  <a:lnTo>
                    <a:pt x="85714" y="844720"/>
                  </a:lnTo>
                  <a:lnTo>
                    <a:pt x="124905" y="858746"/>
                  </a:lnTo>
                  <a:lnTo>
                    <a:pt x="133349" y="859154"/>
                  </a:lnTo>
                  <a:lnTo>
                    <a:pt x="10326623" y="859154"/>
                  </a:lnTo>
                  <a:lnTo>
                    <a:pt x="10326623" y="917447"/>
                  </a:lnTo>
                  <a:close/>
                </a:path>
                <a:path w="10327005" h="917575">
                  <a:moveTo>
                    <a:pt x="10326623" y="859154"/>
                  </a:moveTo>
                  <a:lnTo>
                    <a:pt x="10191749" y="859154"/>
                  </a:lnTo>
                  <a:lnTo>
                    <a:pt x="10200194" y="858746"/>
                  </a:lnTo>
                  <a:lnTo>
                    <a:pt x="10208476" y="857523"/>
                  </a:lnTo>
                  <a:lnTo>
                    <a:pt x="10246105" y="839729"/>
                  </a:lnTo>
                  <a:lnTo>
                    <a:pt x="10270947" y="806234"/>
                  </a:lnTo>
                  <a:lnTo>
                    <a:pt x="10277474" y="773429"/>
                  </a:lnTo>
                  <a:lnTo>
                    <a:pt x="10277474" y="125729"/>
                  </a:lnTo>
                  <a:lnTo>
                    <a:pt x="10267339" y="85278"/>
                  </a:lnTo>
                  <a:lnTo>
                    <a:pt x="10239383" y="54438"/>
                  </a:lnTo>
                  <a:lnTo>
                    <a:pt x="10200194" y="40412"/>
                  </a:lnTo>
                  <a:lnTo>
                    <a:pt x="10191749" y="40004"/>
                  </a:lnTo>
                  <a:lnTo>
                    <a:pt x="10326623" y="40004"/>
                  </a:lnTo>
                  <a:lnTo>
                    <a:pt x="10326623" y="859154"/>
                  </a:lnTo>
                  <a:close/>
                </a:path>
              </a:pathLst>
            </a:custGeom>
            <a:solidFill>
              <a:srgbClr val="121725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1262062" y="5414961"/>
              <a:ext cx="10239375" cy="828675"/>
            </a:xfrm>
            <a:custGeom>
              <a:avLst/>
              <a:gdLst/>
              <a:ahLst/>
              <a:cxnLst/>
              <a:rect l="l" t="t" r="r" b="b"/>
              <a:pathLst>
                <a:path w="10239375" h="828675">
                  <a:moveTo>
                    <a:pt x="10154827" y="828674"/>
                  </a:moveTo>
                  <a:lnTo>
                    <a:pt x="84545" y="828674"/>
                  </a:lnTo>
                  <a:lnTo>
                    <a:pt x="78661" y="828095"/>
                  </a:lnTo>
                  <a:lnTo>
                    <a:pt x="35275" y="810123"/>
                  </a:lnTo>
                  <a:lnTo>
                    <a:pt x="9161" y="778304"/>
                  </a:lnTo>
                  <a:lnTo>
                    <a:pt x="0" y="744128"/>
                  </a:lnTo>
                  <a:lnTo>
                    <a:pt x="0" y="738187"/>
                  </a:lnTo>
                  <a:lnTo>
                    <a:pt x="0" y="84545"/>
                  </a:lnTo>
                  <a:lnTo>
                    <a:pt x="11948" y="45155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10154827" y="0"/>
                  </a:lnTo>
                  <a:lnTo>
                    <a:pt x="10194217" y="11948"/>
                  </a:lnTo>
                  <a:lnTo>
                    <a:pt x="10227424" y="45155"/>
                  </a:lnTo>
                  <a:lnTo>
                    <a:pt x="10239373" y="84545"/>
                  </a:lnTo>
                  <a:lnTo>
                    <a:pt x="10239373" y="744128"/>
                  </a:lnTo>
                  <a:lnTo>
                    <a:pt x="10227424" y="783519"/>
                  </a:lnTo>
                  <a:lnTo>
                    <a:pt x="10194217" y="816725"/>
                  </a:lnTo>
                  <a:lnTo>
                    <a:pt x="10160711" y="828095"/>
                  </a:lnTo>
                  <a:lnTo>
                    <a:pt x="10154827" y="8286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1262062" y="5414961"/>
              <a:ext cx="10239375" cy="828675"/>
            </a:xfrm>
            <a:custGeom>
              <a:avLst/>
              <a:gdLst/>
              <a:ahLst/>
              <a:cxnLst/>
              <a:rect l="l" t="t" r="r" b="b"/>
              <a:pathLst>
                <a:path w="10239375" h="828675">
                  <a:moveTo>
                    <a:pt x="0" y="738187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5249" y="40215"/>
                  </a:lnTo>
                  <a:lnTo>
                    <a:pt x="26503" y="26503"/>
                  </a:lnTo>
                  <a:lnTo>
                    <a:pt x="30704" y="22301"/>
                  </a:lnTo>
                  <a:lnTo>
                    <a:pt x="67006" y="2897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10148886" y="0"/>
                  </a:lnTo>
                  <a:lnTo>
                    <a:pt x="10154827" y="0"/>
                  </a:lnTo>
                  <a:lnTo>
                    <a:pt x="10160711" y="579"/>
                  </a:lnTo>
                  <a:lnTo>
                    <a:pt x="10199158" y="15249"/>
                  </a:lnTo>
                  <a:lnTo>
                    <a:pt x="10227424" y="45155"/>
                  </a:lnTo>
                  <a:lnTo>
                    <a:pt x="10237634" y="72833"/>
                  </a:lnTo>
                  <a:lnTo>
                    <a:pt x="10238794" y="78661"/>
                  </a:lnTo>
                  <a:lnTo>
                    <a:pt x="10239373" y="84545"/>
                  </a:lnTo>
                  <a:lnTo>
                    <a:pt x="10239374" y="90487"/>
                  </a:lnTo>
                  <a:lnTo>
                    <a:pt x="10239374" y="738187"/>
                  </a:lnTo>
                  <a:lnTo>
                    <a:pt x="10239373" y="744128"/>
                  </a:lnTo>
                  <a:lnTo>
                    <a:pt x="10238794" y="750012"/>
                  </a:lnTo>
                  <a:lnTo>
                    <a:pt x="10237634" y="755839"/>
                  </a:lnTo>
                  <a:lnTo>
                    <a:pt x="10236475" y="761667"/>
                  </a:lnTo>
                  <a:lnTo>
                    <a:pt x="10234758" y="767325"/>
                  </a:lnTo>
                  <a:lnTo>
                    <a:pt x="10232485" y="772815"/>
                  </a:lnTo>
                  <a:lnTo>
                    <a:pt x="10230211" y="778304"/>
                  </a:lnTo>
                  <a:lnTo>
                    <a:pt x="10227424" y="783519"/>
                  </a:lnTo>
                  <a:lnTo>
                    <a:pt x="10224123" y="788458"/>
                  </a:lnTo>
                  <a:lnTo>
                    <a:pt x="10220823" y="793399"/>
                  </a:lnTo>
                  <a:lnTo>
                    <a:pt x="10189002" y="819512"/>
                  </a:lnTo>
                  <a:lnTo>
                    <a:pt x="10183513" y="821786"/>
                  </a:lnTo>
                  <a:lnTo>
                    <a:pt x="10178024" y="824060"/>
                  </a:lnTo>
                  <a:lnTo>
                    <a:pt x="10172366" y="825776"/>
                  </a:lnTo>
                  <a:lnTo>
                    <a:pt x="10166539" y="826935"/>
                  </a:lnTo>
                  <a:lnTo>
                    <a:pt x="10160711" y="828095"/>
                  </a:lnTo>
                  <a:lnTo>
                    <a:pt x="10154827" y="828674"/>
                  </a:lnTo>
                  <a:lnTo>
                    <a:pt x="10148886" y="828674"/>
                  </a:lnTo>
                  <a:lnTo>
                    <a:pt x="90487" y="828674"/>
                  </a:lnTo>
                  <a:lnTo>
                    <a:pt x="84545" y="828674"/>
                  </a:lnTo>
                  <a:lnTo>
                    <a:pt x="78661" y="828095"/>
                  </a:lnTo>
                  <a:lnTo>
                    <a:pt x="72834" y="826935"/>
                  </a:lnTo>
                  <a:lnTo>
                    <a:pt x="67006" y="825776"/>
                  </a:lnTo>
                  <a:lnTo>
                    <a:pt x="61348" y="824060"/>
                  </a:lnTo>
                  <a:lnTo>
                    <a:pt x="55859" y="821786"/>
                  </a:lnTo>
                  <a:lnTo>
                    <a:pt x="50370" y="819512"/>
                  </a:lnTo>
                  <a:lnTo>
                    <a:pt x="18550" y="793399"/>
                  </a:lnTo>
                  <a:lnTo>
                    <a:pt x="15249" y="788458"/>
                  </a:lnTo>
                  <a:lnTo>
                    <a:pt x="11948" y="783519"/>
                  </a:lnTo>
                  <a:lnTo>
                    <a:pt x="9161" y="778304"/>
                  </a:lnTo>
                  <a:lnTo>
                    <a:pt x="6887" y="772815"/>
                  </a:lnTo>
                  <a:lnTo>
                    <a:pt x="4614" y="767325"/>
                  </a:lnTo>
                  <a:lnTo>
                    <a:pt x="2897" y="761667"/>
                  </a:lnTo>
                  <a:lnTo>
                    <a:pt x="1738" y="755839"/>
                  </a:lnTo>
                  <a:lnTo>
                    <a:pt x="579" y="750012"/>
                  </a:lnTo>
                  <a:lnTo>
                    <a:pt x="0" y="744128"/>
                  </a:lnTo>
                  <a:lnTo>
                    <a:pt x="0" y="738187"/>
                  </a:lnTo>
                  <a:close/>
                </a:path>
              </a:pathLst>
            </a:custGeom>
            <a:ln w="9524">
              <a:solidFill>
                <a:srgbClr val="E4E8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31924" y="5546724"/>
              <a:ext cx="146050" cy="146050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1654174" y="5497296"/>
            <a:ext cx="1172845" cy="214629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200" spc="-25" b="1">
                <a:solidFill>
                  <a:srgbClr val="121725"/>
                </a:solidFill>
                <a:latin typeface="Arial"/>
                <a:cs typeface="Arial"/>
              </a:rPr>
              <a:t>Prise</a:t>
            </a:r>
            <a:r>
              <a:rPr dirty="0" sz="1200" spc="-9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21725"/>
                </a:solidFill>
                <a:latin typeface="Arial"/>
                <a:cs typeface="Arial"/>
              </a:rPr>
              <a:t>de</a:t>
            </a:r>
            <a:r>
              <a:rPr dirty="0" sz="1200" spc="-9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21725"/>
                </a:solidFill>
                <a:latin typeface="Arial"/>
                <a:cs typeface="Arial"/>
              </a:rPr>
              <a:t>contact</a:t>
            </a:r>
            <a:endParaRPr sz="120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9991724" y="5524499"/>
            <a:ext cx="1352550" cy="200025"/>
          </a:xfrm>
          <a:custGeom>
            <a:avLst/>
            <a:gdLst/>
            <a:ahLst/>
            <a:cxnLst/>
            <a:rect l="l" t="t" r="r" b="b"/>
            <a:pathLst>
              <a:path w="1352550" h="200025">
                <a:moveTo>
                  <a:pt x="1259103" y="200024"/>
                </a:moveTo>
                <a:lnTo>
                  <a:pt x="93444" y="200024"/>
                </a:lnTo>
                <a:lnTo>
                  <a:pt x="86940" y="199384"/>
                </a:lnTo>
                <a:lnTo>
                  <a:pt x="49907" y="186817"/>
                </a:lnTo>
                <a:lnTo>
                  <a:pt x="20502" y="161036"/>
                </a:lnTo>
                <a:lnTo>
                  <a:pt x="3202" y="125964"/>
                </a:lnTo>
                <a:lnTo>
                  <a:pt x="0" y="106578"/>
                </a:lnTo>
                <a:lnTo>
                  <a:pt x="0" y="100012"/>
                </a:lnTo>
                <a:lnTo>
                  <a:pt x="0" y="93445"/>
                </a:lnTo>
                <a:lnTo>
                  <a:pt x="10124" y="55672"/>
                </a:lnTo>
                <a:lnTo>
                  <a:pt x="33935" y="24649"/>
                </a:lnTo>
                <a:lnTo>
                  <a:pt x="67805" y="5099"/>
                </a:lnTo>
                <a:lnTo>
                  <a:pt x="93444" y="0"/>
                </a:lnTo>
                <a:lnTo>
                  <a:pt x="1259103" y="0"/>
                </a:lnTo>
                <a:lnTo>
                  <a:pt x="1296876" y="10125"/>
                </a:lnTo>
                <a:lnTo>
                  <a:pt x="1327899" y="33936"/>
                </a:lnTo>
                <a:lnTo>
                  <a:pt x="1347447" y="67806"/>
                </a:lnTo>
                <a:lnTo>
                  <a:pt x="1352549" y="93445"/>
                </a:lnTo>
                <a:lnTo>
                  <a:pt x="1352549" y="106578"/>
                </a:lnTo>
                <a:lnTo>
                  <a:pt x="1342422" y="144352"/>
                </a:lnTo>
                <a:lnTo>
                  <a:pt x="1318612" y="175375"/>
                </a:lnTo>
                <a:lnTo>
                  <a:pt x="1284741" y="194925"/>
                </a:lnTo>
                <a:lnTo>
                  <a:pt x="1265606" y="199384"/>
                </a:lnTo>
                <a:lnTo>
                  <a:pt x="1259103" y="200024"/>
                </a:lnTo>
                <a:close/>
              </a:path>
            </a:pathLst>
          </a:custGeom>
          <a:solidFill>
            <a:srgbClr val="F59D0A">
              <a:alpha val="1411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10066981" y="5530494"/>
            <a:ext cx="120586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35" b="1">
                <a:solidFill>
                  <a:srgbClr val="B46F08"/>
                </a:solidFill>
                <a:latin typeface="Arial"/>
                <a:cs typeface="Arial"/>
              </a:rPr>
              <a:t>WhatsApp </a:t>
            </a:r>
            <a:r>
              <a:rPr dirty="0" sz="850" spc="95" b="1">
                <a:solidFill>
                  <a:srgbClr val="B46F08"/>
                </a:solidFill>
                <a:latin typeface="Arial"/>
                <a:cs typeface="Arial"/>
              </a:rPr>
              <a:t>/</a:t>
            </a:r>
            <a:r>
              <a:rPr dirty="0" sz="850" spc="-20" b="1">
                <a:solidFill>
                  <a:srgbClr val="B46F08"/>
                </a:solidFill>
                <a:latin typeface="Arial"/>
                <a:cs typeface="Arial"/>
              </a:rPr>
              <a:t> </a:t>
            </a:r>
            <a:r>
              <a:rPr dirty="0" sz="900" spc="-30" b="1">
                <a:solidFill>
                  <a:srgbClr val="B46F08"/>
                </a:solidFill>
                <a:latin typeface="Arial"/>
                <a:cs typeface="Arial"/>
              </a:rPr>
              <a:t>Formulaire</a:t>
            </a:r>
            <a:endParaRPr sz="9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406525" y="5748011"/>
            <a:ext cx="9609455" cy="380365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45"/>
              </a:spcBef>
            </a:pP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Soit</a:t>
            </a:r>
            <a:r>
              <a:rPr dirty="0" sz="105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via 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WhatsApp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5C6A81"/>
                </a:solidFill>
                <a:latin typeface="Microsoft Sans Serif"/>
                <a:cs typeface="Microsoft Sans Serif"/>
              </a:rPr>
              <a:t>(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bouton sur</a:t>
            </a:r>
            <a:r>
              <a:rPr dirty="0" sz="105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chaque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carte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freelance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),</a:t>
            </a:r>
            <a:r>
              <a:rPr dirty="0" sz="115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soit</a:t>
            </a:r>
            <a:r>
              <a:rPr dirty="0" sz="105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via</a:t>
            </a:r>
            <a:r>
              <a:rPr dirty="0" sz="105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dirty="0" sz="105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formulaire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contact</a:t>
            </a:r>
            <a:r>
              <a:rPr dirty="0" sz="105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0">
                <a:solidFill>
                  <a:srgbClr val="5C6A81"/>
                </a:solidFill>
                <a:latin typeface="Microsoft Sans Serif"/>
                <a:cs typeface="Microsoft Sans Serif"/>
              </a:rPr>
              <a:t>(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nom</a:t>
            </a:r>
            <a:r>
              <a:rPr dirty="0" sz="1150" spc="-2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email</a:t>
            </a:r>
            <a:r>
              <a:rPr dirty="0" sz="1150" spc="-2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sujet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message</a:t>
            </a:r>
            <a:r>
              <a:rPr dirty="0" sz="1150" spc="-25">
                <a:solidFill>
                  <a:srgbClr val="5C6A81"/>
                </a:solidFill>
                <a:latin typeface="Microsoft Sans Serif"/>
                <a:cs typeface="Microsoft Sans Serif"/>
              </a:rPr>
              <a:t>)</a:t>
            </a:r>
            <a:r>
              <a:rPr dirty="0" sz="11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qui</a:t>
            </a:r>
            <a:r>
              <a:rPr dirty="0" sz="105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valide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côté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client</a:t>
            </a:r>
            <a:r>
              <a:rPr dirty="0" sz="105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dirty="0" sz="105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affiche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un 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message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de 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succès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85799" y="2181224"/>
            <a:ext cx="10820400" cy="4162425"/>
            <a:chOff x="685799" y="2181224"/>
            <a:chExt cx="10820400" cy="4162425"/>
          </a:xfrm>
        </p:grpSpPr>
        <p:sp>
          <p:nvSpPr>
            <p:cNvPr id="55" name="object 55"/>
            <p:cNvSpPr/>
            <p:nvPr/>
          </p:nvSpPr>
          <p:spPr>
            <a:xfrm>
              <a:off x="685799" y="6334124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108203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0820399" y="0"/>
                  </a:lnTo>
                  <a:lnTo>
                    <a:pt x="10820399" y="9524"/>
                  </a:lnTo>
                  <a:close/>
                </a:path>
              </a:pathLst>
            </a:custGeom>
            <a:solidFill>
              <a:srgbClr val="E4E8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700087" y="2195512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176212" y="352424"/>
                  </a:moveTo>
                  <a:lnTo>
                    <a:pt x="133385" y="347142"/>
                  </a:lnTo>
                  <a:lnTo>
                    <a:pt x="93145" y="331619"/>
                  </a:lnTo>
                  <a:lnTo>
                    <a:pt x="57882" y="306784"/>
                  </a:lnTo>
                  <a:lnTo>
                    <a:pt x="29697" y="274110"/>
                  </a:lnTo>
                  <a:lnTo>
                    <a:pt x="10296" y="235566"/>
                  </a:lnTo>
                  <a:lnTo>
                    <a:pt x="846" y="193484"/>
                  </a:lnTo>
                  <a:lnTo>
                    <a:pt x="0" y="176212"/>
                  </a:lnTo>
                  <a:lnTo>
                    <a:pt x="211" y="167555"/>
                  </a:lnTo>
                  <a:lnTo>
                    <a:pt x="7585" y="125059"/>
                  </a:lnTo>
                  <a:lnTo>
                    <a:pt x="25063" y="85629"/>
                  </a:lnTo>
                  <a:lnTo>
                    <a:pt x="51611" y="51611"/>
                  </a:lnTo>
                  <a:lnTo>
                    <a:pt x="85629" y="25063"/>
                  </a:lnTo>
                  <a:lnTo>
                    <a:pt x="125059" y="7585"/>
                  </a:lnTo>
                  <a:lnTo>
                    <a:pt x="167555" y="211"/>
                  </a:lnTo>
                  <a:lnTo>
                    <a:pt x="176212" y="0"/>
                  </a:lnTo>
                  <a:lnTo>
                    <a:pt x="184869" y="211"/>
                  </a:lnTo>
                  <a:lnTo>
                    <a:pt x="227364" y="7585"/>
                  </a:lnTo>
                  <a:lnTo>
                    <a:pt x="266795" y="25063"/>
                  </a:lnTo>
                  <a:lnTo>
                    <a:pt x="300813" y="51611"/>
                  </a:lnTo>
                  <a:lnTo>
                    <a:pt x="327361" y="85629"/>
                  </a:lnTo>
                  <a:lnTo>
                    <a:pt x="344839" y="125059"/>
                  </a:lnTo>
                  <a:lnTo>
                    <a:pt x="352213" y="167555"/>
                  </a:lnTo>
                  <a:lnTo>
                    <a:pt x="352424" y="176212"/>
                  </a:lnTo>
                  <a:lnTo>
                    <a:pt x="352213" y="184869"/>
                  </a:lnTo>
                  <a:lnTo>
                    <a:pt x="344839" y="227364"/>
                  </a:lnTo>
                  <a:lnTo>
                    <a:pt x="327361" y="266795"/>
                  </a:lnTo>
                  <a:lnTo>
                    <a:pt x="300813" y="300813"/>
                  </a:lnTo>
                  <a:lnTo>
                    <a:pt x="266795" y="327361"/>
                  </a:lnTo>
                  <a:lnTo>
                    <a:pt x="227364" y="344839"/>
                  </a:lnTo>
                  <a:lnTo>
                    <a:pt x="184869" y="352213"/>
                  </a:lnTo>
                  <a:lnTo>
                    <a:pt x="176212" y="352424"/>
                  </a:lnTo>
                  <a:close/>
                </a:path>
              </a:pathLst>
            </a:custGeom>
            <a:solidFill>
              <a:srgbClr val="2453D5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700087" y="2195512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352424" y="176212"/>
                  </a:moveTo>
                  <a:lnTo>
                    <a:pt x="347142" y="219038"/>
                  </a:lnTo>
                  <a:lnTo>
                    <a:pt x="331619" y="259279"/>
                  </a:lnTo>
                  <a:lnTo>
                    <a:pt x="306785" y="294542"/>
                  </a:lnTo>
                  <a:lnTo>
                    <a:pt x="274110" y="322727"/>
                  </a:lnTo>
                  <a:lnTo>
                    <a:pt x="235567" y="342128"/>
                  </a:lnTo>
                  <a:lnTo>
                    <a:pt x="193484" y="351578"/>
                  </a:lnTo>
                  <a:lnTo>
                    <a:pt x="176212" y="352424"/>
                  </a:lnTo>
                  <a:lnTo>
                    <a:pt x="167555" y="352213"/>
                  </a:lnTo>
                  <a:lnTo>
                    <a:pt x="125059" y="344839"/>
                  </a:lnTo>
                  <a:lnTo>
                    <a:pt x="85629" y="327361"/>
                  </a:lnTo>
                  <a:lnTo>
                    <a:pt x="51611" y="300813"/>
                  </a:lnTo>
                  <a:lnTo>
                    <a:pt x="25063" y="266795"/>
                  </a:lnTo>
                  <a:lnTo>
                    <a:pt x="7585" y="227364"/>
                  </a:lnTo>
                  <a:lnTo>
                    <a:pt x="211" y="184869"/>
                  </a:lnTo>
                  <a:lnTo>
                    <a:pt x="0" y="176212"/>
                  </a:lnTo>
                  <a:lnTo>
                    <a:pt x="211" y="167555"/>
                  </a:lnTo>
                  <a:lnTo>
                    <a:pt x="7585" y="125059"/>
                  </a:lnTo>
                  <a:lnTo>
                    <a:pt x="25063" y="85629"/>
                  </a:lnTo>
                  <a:lnTo>
                    <a:pt x="51611" y="51611"/>
                  </a:lnTo>
                  <a:lnTo>
                    <a:pt x="85629" y="25063"/>
                  </a:lnTo>
                  <a:lnTo>
                    <a:pt x="125059" y="7585"/>
                  </a:lnTo>
                  <a:lnTo>
                    <a:pt x="167555" y="211"/>
                  </a:lnTo>
                  <a:lnTo>
                    <a:pt x="176212" y="0"/>
                  </a:lnTo>
                  <a:lnTo>
                    <a:pt x="184869" y="211"/>
                  </a:lnTo>
                  <a:lnTo>
                    <a:pt x="227364" y="7585"/>
                  </a:lnTo>
                  <a:lnTo>
                    <a:pt x="266795" y="25063"/>
                  </a:lnTo>
                  <a:lnTo>
                    <a:pt x="300813" y="51611"/>
                  </a:lnTo>
                  <a:lnTo>
                    <a:pt x="327361" y="85629"/>
                  </a:lnTo>
                  <a:lnTo>
                    <a:pt x="344839" y="125059"/>
                  </a:lnTo>
                  <a:lnTo>
                    <a:pt x="352213" y="167555"/>
                  </a:lnTo>
                  <a:lnTo>
                    <a:pt x="352424" y="176212"/>
                  </a:lnTo>
                  <a:close/>
                </a:path>
              </a:pathLst>
            </a:custGeom>
            <a:ln w="28574">
              <a:solidFill>
                <a:srgbClr val="2453D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791567" y="2265742"/>
            <a:ext cx="168275" cy="1835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 spc="-25" b="1">
                <a:solidFill>
                  <a:srgbClr val="2453D5"/>
                </a:solidFill>
                <a:latin typeface="Arial"/>
                <a:cs typeface="Arial"/>
              </a:rPr>
              <a:t>01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685799" y="3124199"/>
            <a:ext cx="381000" cy="381000"/>
            <a:chOff x="685799" y="3124199"/>
            <a:chExt cx="381000" cy="381000"/>
          </a:xfrm>
        </p:grpSpPr>
        <p:sp>
          <p:nvSpPr>
            <p:cNvPr id="60" name="object 60"/>
            <p:cNvSpPr/>
            <p:nvPr/>
          </p:nvSpPr>
          <p:spPr>
            <a:xfrm>
              <a:off x="700087" y="3138487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176212" y="352424"/>
                  </a:moveTo>
                  <a:lnTo>
                    <a:pt x="133385" y="347142"/>
                  </a:lnTo>
                  <a:lnTo>
                    <a:pt x="93145" y="331619"/>
                  </a:lnTo>
                  <a:lnTo>
                    <a:pt x="57882" y="306785"/>
                  </a:lnTo>
                  <a:lnTo>
                    <a:pt x="29697" y="274110"/>
                  </a:lnTo>
                  <a:lnTo>
                    <a:pt x="10296" y="235567"/>
                  </a:lnTo>
                  <a:lnTo>
                    <a:pt x="846" y="193484"/>
                  </a:lnTo>
                  <a:lnTo>
                    <a:pt x="0" y="176212"/>
                  </a:lnTo>
                  <a:lnTo>
                    <a:pt x="211" y="167555"/>
                  </a:lnTo>
                  <a:lnTo>
                    <a:pt x="7585" y="125059"/>
                  </a:lnTo>
                  <a:lnTo>
                    <a:pt x="25063" y="85628"/>
                  </a:lnTo>
                  <a:lnTo>
                    <a:pt x="51611" y="51611"/>
                  </a:lnTo>
                  <a:lnTo>
                    <a:pt x="85629" y="25063"/>
                  </a:lnTo>
                  <a:lnTo>
                    <a:pt x="125059" y="7585"/>
                  </a:lnTo>
                  <a:lnTo>
                    <a:pt x="167555" y="211"/>
                  </a:lnTo>
                  <a:lnTo>
                    <a:pt x="176212" y="0"/>
                  </a:lnTo>
                  <a:lnTo>
                    <a:pt x="184869" y="211"/>
                  </a:lnTo>
                  <a:lnTo>
                    <a:pt x="227364" y="7585"/>
                  </a:lnTo>
                  <a:lnTo>
                    <a:pt x="266795" y="25063"/>
                  </a:lnTo>
                  <a:lnTo>
                    <a:pt x="300813" y="51611"/>
                  </a:lnTo>
                  <a:lnTo>
                    <a:pt x="327361" y="85628"/>
                  </a:lnTo>
                  <a:lnTo>
                    <a:pt x="344839" y="125059"/>
                  </a:lnTo>
                  <a:lnTo>
                    <a:pt x="352213" y="167555"/>
                  </a:lnTo>
                  <a:lnTo>
                    <a:pt x="352424" y="176212"/>
                  </a:lnTo>
                  <a:lnTo>
                    <a:pt x="352213" y="184869"/>
                  </a:lnTo>
                  <a:lnTo>
                    <a:pt x="344839" y="227364"/>
                  </a:lnTo>
                  <a:lnTo>
                    <a:pt x="327361" y="266795"/>
                  </a:lnTo>
                  <a:lnTo>
                    <a:pt x="300813" y="300813"/>
                  </a:lnTo>
                  <a:lnTo>
                    <a:pt x="266795" y="327361"/>
                  </a:lnTo>
                  <a:lnTo>
                    <a:pt x="227364" y="344839"/>
                  </a:lnTo>
                  <a:lnTo>
                    <a:pt x="184869" y="352213"/>
                  </a:lnTo>
                  <a:lnTo>
                    <a:pt x="176212" y="352424"/>
                  </a:lnTo>
                  <a:close/>
                </a:path>
              </a:pathLst>
            </a:custGeom>
            <a:solidFill>
              <a:srgbClr val="F59D0A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700087" y="3138487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352424" y="176212"/>
                  </a:moveTo>
                  <a:lnTo>
                    <a:pt x="347142" y="219038"/>
                  </a:lnTo>
                  <a:lnTo>
                    <a:pt x="331619" y="259279"/>
                  </a:lnTo>
                  <a:lnTo>
                    <a:pt x="306785" y="294542"/>
                  </a:lnTo>
                  <a:lnTo>
                    <a:pt x="274110" y="322727"/>
                  </a:lnTo>
                  <a:lnTo>
                    <a:pt x="235567" y="342128"/>
                  </a:lnTo>
                  <a:lnTo>
                    <a:pt x="193484" y="351578"/>
                  </a:lnTo>
                  <a:lnTo>
                    <a:pt x="176212" y="352424"/>
                  </a:lnTo>
                  <a:lnTo>
                    <a:pt x="167555" y="352213"/>
                  </a:lnTo>
                  <a:lnTo>
                    <a:pt x="125059" y="344839"/>
                  </a:lnTo>
                  <a:lnTo>
                    <a:pt x="85629" y="327361"/>
                  </a:lnTo>
                  <a:lnTo>
                    <a:pt x="51611" y="300813"/>
                  </a:lnTo>
                  <a:lnTo>
                    <a:pt x="25063" y="266795"/>
                  </a:lnTo>
                  <a:lnTo>
                    <a:pt x="7585" y="227364"/>
                  </a:lnTo>
                  <a:lnTo>
                    <a:pt x="211" y="184869"/>
                  </a:lnTo>
                  <a:lnTo>
                    <a:pt x="0" y="176212"/>
                  </a:lnTo>
                  <a:lnTo>
                    <a:pt x="211" y="167555"/>
                  </a:lnTo>
                  <a:lnTo>
                    <a:pt x="7585" y="125059"/>
                  </a:lnTo>
                  <a:lnTo>
                    <a:pt x="25063" y="85628"/>
                  </a:lnTo>
                  <a:lnTo>
                    <a:pt x="51611" y="51611"/>
                  </a:lnTo>
                  <a:lnTo>
                    <a:pt x="85629" y="25063"/>
                  </a:lnTo>
                  <a:lnTo>
                    <a:pt x="125059" y="7585"/>
                  </a:lnTo>
                  <a:lnTo>
                    <a:pt x="167555" y="211"/>
                  </a:lnTo>
                  <a:lnTo>
                    <a:pt x="176212" y="0"/>
                  </a:lnTo>
                  <a:lnTo>
                    <a:pt x="184869" y="211"/>
                  </a:lnTo>
                  <a:lnTo>
                    <a:pt x="227364" y="7585"/>
                  </a:lnTo>
                  <a:lnTo>
                    <a:pt x="266795" y="25063"/>
                  </a:lnTo>
                  <a:lnTo>
                    <a:pt x="300813" y="51611"/>
                  </a:lnTo>
                  <a:lnTo>
                    <a:pt x="327361" y="85628"/>
                  </a:lnTo>
                  <a:lnTo>
                    <a:pt x="344839" y="125059"/>
                  </a:lnTo>
                  <a:lnTo>
                    <a:pt x="352213" y="167555"/>
                  </a:lnTo>
                  <a:lnTo>
                    <a:pt x="352424" y="176212"/>
                  </a:lnTo>
                  <a:close/>
                </a:path>
              </a:pathLst>
            </a:custGeom>
            <a:ln w="28574">
              <a:solidFill>
                <a:srgbClr val="F59D0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 txBox="1"/>
          <p:nvPr/>
        </p:nvSpPr>
        <p:spPr>
          <a:xfrm>
            <a:off x="779512" y="3208717"/>
            <a:ext cx="196215" cy="1835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 spc="85" b="1">
                <a:solidFill>
                  <a:srgbClr val="F59D0A"/>
                </a:solidFill>
                <a:latin typeface="Arial"/>
                <a:cs typeface="Arial"/>
              </a:rPr>
              <a:t>02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685799" y="3886199"/>
            <a:ext cx="381000" cy="381000"/>
            <a:chOff x="685799" y="3886199"/>
            <a:chExt cx="381000" cy="381000"/>
          </a:xfrm>
        </p:grpSpPr>
        <p:sp>
          <p:nvSpPr>
            <p:cNvPr id="64" name="object 64"/>
            <p:cNvSpPr/>
            <p:nvPr/>
          </p:nvSpPr>
          <p:spPr>
            <a:xfrm>
              <a:off x="700087" y="3900487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176212" y="352424"/>
                  </a:moveTo>
                  <a:lnTo>
                    <a:pt x="133385" y="347142"/>
                  </a:lnTo>
                  <a:lnTo>
                    <a:pt x="93145" y="331619"/>
                  </a:lnTo>
                  <a:lnTo>
                    <a:pt x="57882" y="306784"/>
                  </a:lnTo>
                  <a:lnTo>
                    <a:pt x="29697" y="274110"/>
                  </a:lnTo>
                  <a:lnTo>
                    <a:pt x="10296" y="235566"/>
                  </a:lnTo>
                  <a:lnTo>
                    <a:pt x="846" y="193484"/>
                  </a:lnTo>
                  <a:lnTo>
                    <a:pt x="0" y="176212"/>
                  </a:lnTo>
                  <a:lnTo>
                    <a:pt x="211" y="167555"/>
                  </a:lnTo>
                  <a:lnTo>
                    <a:pt x="7585" y="125059"/>
                  </a:lnTo>
                  <a:lnTo>
                    <a:pt x="25063" y="85628"/>
                  </a:lnTo>
                  <a:lnTo>
                    <a:pt x="51611" y="51611"/>
                  </a:lnTo>
                  <a:lnTo>
                    <a:pt x="85629" y="25063"/>
                  </a:lnTo>
                  <a:lnTo>
                    <a:pt x="125059" y="7585"/>
                  </a:lnTo>
                  <a:lnTo>
                    <a:pt x="167555" y="211"/>
                  </a:lnTo>
                  <a:lnTo>
                    <a:pt x="176212" y="0"/>
                  </a:lnTo>
                  <a:lnTo>
                    <a:pt x="184869" y="211"/>
                  </a:lnTo>
                  <a:lnTo>
                    <a:pt x="227364" y="7585"/>
                  </a:lnTo>
                  <a:lnTo>
                    <a:pt x="266795" y="25063"/>
                  </a:lnTo>
                  <a:lnTo>
                    <a:pt x="300813" y="51611"/>
                  </a:lnTo>
                  <a:lnTo>
                    <a:pt x="327361" y="85628"/>
                  </a:lnTo>
                  <a:lnTo>
                    <a:pt x="344839" y="125059"/>
                  </a:lnTo>
                  <a:lnTo>
                    <a:pt x="352213" y="167555"/>
                  </a:lnTo>
                  <a:lnTo>
                    <a:pt x="352424" y="176212"/>
                  </a:lnTo>
                  <a:lnTo>
                    <a:pt x="352213" y="184869"/>
                  </a:lnTo>
                  <a:lnTo>
                    <a:pt x="344839" y="227364"/>
                  </a:lnTo>
                  <a:lnTo>
                    <a:pt x="327361" y="266794"/>
                  </a:lnTo>
                  <a:lnTo>
                    <a:pt x="300813" y="300813"/>
                  </a:lnTo>
                  <a:lnTo>
                    <a:pt x="266795" y="327360"/>
                  </a:lnTo>
                  <a:lnTo>
                    <a:pt x="227364" y="344838"/>
                  </a:lnTo>
                  <a:lnTo>
                    <a:pt x="184869" y="352213"/>
                  </a:lnTo>
                  <a:lnTo>
                    <a:pt x="176212" y="352424"/>
                  </a:lnTo>
                  <a:close/>
                </a:path>
              </a:pathLst>
            </a:custGeom>
            <a:solidFill>
              <a:srgbClr val="0E9E6E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700087" y="3900487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352424" y="176212"/>
                  </a:moveTo>
                  <a:lnTo>
                    <a:pt x="347142" y="219038"/>
                  </a:lnTo>
                  <a:lnTo>
                    <a:pt x="331619" y="259278"/>
                  </a:lnTo>
                  <a:lnTo>
                    <a:pt x="306785" y="294541"/>
                  </a:lnTo>
                  <a:lnTo>
                    <a:pt x="274110" y="322727"/>
                  </a:lnTo>
                  <a:lnTo>
                    <a:pt x="235567" y="342128"/>
                  </a:lnTo>
                  <a:lnTo>
                    <a:pt x="193484" y="351578"/>
                  </a:lnTo>
                  <a:lnTo>
                    <a:pt x="176212" y="352424"/>
                  </a:lnTo>
                  <a:lnTo>
                    <a:pt x="167555" y="352213"/>
                  </a:lnTo>
                  <a:lnTo>
                    <a:pt x="125059" y="344838"/>
                  </a:lnTo>
                  <a:lnTo>
                    <a:pt x="85629" y="327360"/>
                  </a:lnTo>
                  <a:lnTo>
                    <a:pt x="51611" y="300813"/>
                  </a:lnTo>
                  <a:lnTo>
                    <a:pt x="25063" y="266794"/>
                  </a:lnTo>
                  <a:lnTo>
                    <a:pt x="7585" y="227364"/>
                  </a:lnTo>
                  <a:lnTo>
                    <a:pt x="211" y="184869"/>
                  </a:lnTo>
                  <a:lnTo>
                    <a:pt x="0" y="176212"/>
                  </a:lnTo>
                  <a:lnTo>
                    <a:pt x="211" y="167555"/>
                  </a:lnTo>
                  <a:lnTo>
                    <a:pt x="7585" y="125059"/>
                  </a:lnTo>
                  <a:lnTo>
                    <a:pt x="25063" y="85628"/>
                  </a:lnTo>
                  <a:lnTo>
                    <a:pt x="51611" y="51611"/>
                  </a:lnTo>
                  <a:lnTo>
                    <a:pt x="85629" y="25063"/>
                  </a:lnTo>
                  <a:lnTo>
                    <a:pt x="125059" y="7585"/>
                  </a:lnTo>
                  <a:lnTo>
                    <a:pt x="167555" y="211"/>
                  </a:lnTo>
                  <a:lnTo>
                    <a:pt x="176212" y="0"/>
                  </a:lnTo>
                  <a:lnTo>
                    <a:pt x="184869" y="211"/>
                  </a:lnTo>
                  <a:lnTo>
                    <a:pt x="227364" y="7585"/>
                  </a:lnTo>
                  <a:lnTo>
                    <a:pt x="266795" y="25063"/>
                  </a:lnTo>
                  <a:lnTo>
                    <a:pt x="300813" y="51611"/>
                  </a:lnTo>
                  <a:lnTo>
                    <a:pt x="327361" y="85628"/>
                  </a:lnTo>
                  <a:lnTo>
                    <a:pt x="344839" y="125059"/>
                  </a:lnTo>
                  <a:lnTo>
                    <a:pt x="352213" y="167555"/>
                  </a:lnTo>
                  <a:lnTo>
                    <a:pt x="352424" y="176212"/>
                  </a:lnTo>
                  <a:close/>
                </a:path>
              </a:pathLst>
            </a:custGeom>
            <a:ln w="28574">
              <a:solidFill>
                <a:srgbClr val="0E9E6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/>
          <p:cNvSpPr txBox="1"/>
          <p:nvPr/>
        </p:nvSpPr>
        <p:spPr>
          <a:xfrm>
            <a:off x="778023" y="3970717"/>
            <a:ext cx="200025" cy="1835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 spc="100" b="1">
                <a:solidFill>
                  <a:srgbClr val="0E9E6E"/>
                </a:solidFill>
                <a:latin typeface="Arial"/>
                <a:cs typeface="Arial"/>
              </a:rPr>
              <a:t>03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685799" y="4648199"/>
            <a:ext cx="381000" cy="381000"/>
            <a:chOff x="685799" y="4648199"/>
            <a:chExt cx="381000" cy="381000"/>
          </a:xfrm>
        </p:grpSpPr>
        <p:sp>
          <p:nvSpPr>
            <p:cNvPr id="68" name="object 68"/>
            <p:cNvSpPr/>
            <p:nvPr/>
          </p:nvSpPr>
          <p:spPr>
            <a:xfrm>
              <a:off x="700087" y="4662487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176212" y="352424"/>
                  </a:moveTo>
                  <a:lnTo>
                    <a:pt x="133385" y="347142"/>
                  </a:lnTo>
                  <a:lnTo>
                    <a:pt x="93145" y="331619"/>
                  </a:lnTo>
                  <a:lnTo>
                    <a:pt x="57882" y="306784"/>
                  </a:lnTo>
                  <a:lnTo>
                    <a:pt x="29697" y="274109"/>
                  </a:lnTo>
                  <a:lnTo>
                    <a:pt x="10296" y="235566"/>
                  </a:lnTo>
                  <a:lnTo>
                    <a:pt x="846" y="193484"/>
                  </a:lnTo>
                  <a:lnTo>
                    <a:pt x="0" y="176212"/>
                  </a:lnTo>
                  <a:lnTo>
                    <a:pt x="211" y="167555"/>
                  </a:lnTo>
                  <a:lnTo>
                    <a:pt x="7585" y="125059"/>
                  </a:lnTo>
                  <a:lnTo>
                    <a:pt x="25063" y="85628"/>
                  </a:lnTo>
                  <a:lnTo>
                    <a:pt x="51611" y="51611"/>
                  </a:lnTo>
                  <a:lnTo>
                    <a:pt x="85629" y="25063"/>
                  </a:lnTo>
                  <a:lnTo>
                    <a:pt x="125059" y="7585"/>
                  </a:lnTo>
                  <a:lnTo>
                    <a:pt x="167555" y="211"/>
                  </a:lnTo>
                  <a:lnTo>
                    <a:pt x="176212" y="0"/>
                  </a:lnTo>
                  <a:lnTo>
                    <a:pt x="184869" y="211"/>
                  </a:lnTo>
                  <a:lnTo>
                    <a:pt x="227364" y="7585"/>
                  </a:lnTo>
                  <a:lnTo>
                    <a:pt x="266795" y="25063"/>
                  </a:lnTo>
                  <a:lnTo>
                    <a:pt x="300813" y="51611"/>
                  </a:lnTo>
                  <a:lnTo>
                    <a:pt x="327361" y="85628"/>
                  </a:lnTo>
                  <a:lnTo>
                    <a:pt x="344839" y="125059"/>
                  </a:lnTo>
                  <a:lnTo>
                    <a:pt x="352213" y="167555"/>
                  </a:lnTo>
                  <a:lnTo>
                    <a:pt x="352424" y="176212"/>
                  </a:lnTo>
                  <a:lnTo>
                    <a:pt x="352213" y="184869"/>
                  </a:lnTo>
                  <a:lnTo>
                    <a:pt x="344839" y="227364"/>
                  </a:lnTo>
                  <a:lnTo>
                    <a:pt x="327361" y="266795"/>
                  </a:lnTo>
                  <a:lnTo>
                    <a:pt x="300813" y="300813"/>
                  </a:lnTo>
                  <a:lnTo>
                    <a:pt x="266795" y="327360"/>
                  </a:lnTo>
                  <a:lnTo>
                    <a:pt x="227364" y="344839"/>
                  </a:lnTo>
                  <a:lnTo>
                    <a:pt x="184869" y="352213"/>
                  </a:lnTo>
                  <a:lnTo>
                    <a:pt x="176212" y="352424"/>
                  </a:lnTo>
                  <a:close/>
                </a:path>
              </a:pathLst>
            </a:custGeom>
            <a:solidFill>
              <a:srgbClr val="2453D5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700087" y="4662487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352424" y="176212"/>
                  </a:moveTo>
                  <a:lnTo>
                    <a:pt x="347142" y="219038"/>
                  </a:lnTo>
                  <a:lnTo>
                    <a:pt x="331619" y="259279"/>
                  </a:lnTo>
                  <a:lnTo>
                    <a:pt x="306785" y="294542"/>
                  </a:lnTo>
                  <a:lnTo>
                    <a:pt x="274110" y="322727"/>
                  </a:lnTo>
                  <a:lnTo>
                    <a:pt x="235567" y="342128"/>
                  </a:lnTo>
                  <a:lnTo>
                    <a:pt x="193484" y="351578"/>
                  </a:lnTo>
                  <a:lnTo>
                    <a:pt x="176212" y="352424"/>
                  </a:lnTo>
                  <a:lnTo>
                    <a:pt x="167555" y="352213"/>
                  </a:lnTo>
                  <a:lnTo>
                    <a:pt x="125059" y="344839"/>
                  </a:lnTo>
                  <a:lnTo>
                    <a:pt x="85629" y="327360"/>
                  </a:lnTo>
                  <a:lnTo>
                    <a:pt x="51611" y="300813"/>
                  </a:lnTo>
                  <a:lnTo>
                    <a:pt x="25063" y="266794"/>
                  </a:lnTo>
                  <a:lnTo>
                    <a:pt x="7585" y="227364"/>
                  </a:lnTo>
                  <a:lnTo>
                    <a:pt x="211" y="184869"/>
                  </a:lnTo>
                  <a:lnTo>
                    <a:pt x="0" y="176212"/>
                  </a:lnTo>
                  <a:lnTo>
                    <a:pt x="211" y="167555"/>
                  </a:lnTo>
                  <a:lnTo>
                    <a:pt x="7585" y="125059"/>
                  </a:lnTo>
                  <a:lnTo>
                    <a:pt x="25063" y="85628"/>
                  </a:lnTo>
                  <a:lnTo>
                    <a:pt x="51611" y="51611"/>
                  </a:lnTo>
                  <a:lnTo>
                    <a:pt x="85629" y="25063"/>
                  </a:lnTo>
                  <a:lnTo>
                    <a:pt x="125059" y="7585"/>
                  </a:lnTo>
                  <a:lnTo>
                    <a:pt x="167555" y="211"/>
                  </a:lnTo>
                  <a:lnTo>
                    <a:pt x="176212" y="0"/>
                  </a:lnTo>
                  <a:lnTo>
                    <a:pt x="184869" y="211"/>
                  </a:lnTo>
                  <a:lnTo>
                    <a:pt x="227364" y="7585"/>
                  </a:lnTo>
                  <a:lnTo>
                    <a:pt x="266795" y="25063"/>
                  </a:lnTo>
                  <a:lnTo>
                    <a:pt x="300813" y="51611"/>
                  </a:lnTo>
                  <a:lnTo>
                    <a:pt x="327361" y="85628"/>
                  </a:lnTo>
                  <a:lnTo>
                    <a:pt x="344839" y="125059"/>
                  </a:lnTo>
                  <a:lnTo>
                    <a:pt x="352213" y="167555"/>
                  </a:lnTo>
                  <a:lnTo>
                    <a:pt x="352424" y="176212"/>
                  </a:lnTo>
                  <a:close/>
                </a:path>
              </a:pathLst>
            </a:custGeom>
            <a:ln w="28574">
              <a:solidFill>
                <a:srgbClr val="2453D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/>
          <p:cNvSpPr txBox="1"/>
          <p:nvPr/>
        </p:nvSpPr>
        <p:spPr>
          <a:xfrm>
            <a:off x="776089" y="4732717"/>
            <a:ext cx="204470" cy="1835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 spc="114" b="1">
                <a:solidFill>
                  <a:srgbClr val="2453D5"/>
                </a:solidFill>
                <a:latin typeface="Arial"/>
                <a:cs typeface="Arial"/>
              </a:rPr>
              <a:t>04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685799" y="5410199"/>
            <a:ext cx="381000" cy="381000"/>
            <a:chOff x="685799" y="5410199"/>
            <a:chExt cx="381000" cy="381000"/>
          </a:xfrm>
        </p:grpSpPr>
        <p:sp>
          <p:nvSpPr>
            <p:cNvPr id="72" name="object 72"/>
            <p:cNvSpPr/>
            <p:nvPr/>
          </p:nvSpPr>
          <p:spPr>
            <a:xfrm>
              <a:off x="700087" y="5424487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176212" y="352424"/>
                  </a:moveTo>
                  <a:lnTo>
                    <a:pt x="133385" y="347142"/>
                  </a:lnTo>
                  <a:lnTo>
                    <a:pt x="93145" y="331618"/>
                  </a:lnTo>
                  <a:lnTo>
                    <a:pt x="57882" y="306784"/>
                  </a:lnTo>
                  <a:lnTo>
                    <a:pt x="29697" y="274110"/>
                  </a:lnTo>
                  <a:lnTo>
                    <a:pt x="10296" y="235566"/>
                  </a:lnTo>
                  <a:lnTo>
                    <a:pt x="846" y="193483"/>
                  </a:lnTo>
                  <a:lnTo>
                    <a:pt x="0" y="176212"/>
                  </a:lnTo>
                  <a:lnTo>
                    <a:pt x="211" y="167555"/>
                  </a:lnTo>
                  <a:lnTo>
                    <a:pt x="7585" y="125059"/>
                  </a:lnTo>
                  <a:lnTo>
                    <a:pt x="25063" y="85628"/>
                  </a:lnTo>
                  <a:lnTo>
                    <a:pt x="51611" y="51610"/>
                  </a:lnTo>
                  <a:lnTo>
                    <a:pt x="85629" y="25062"/>
                  </a:lnTo>
                  <a:lnTo>
                    <a:pt x="125059" y="7585"/>
                  </a:lnTo>
                  <a:lnTo>
                    <a:pt x="167555" y="211"/>
                  </a:lnTo>
                  <a:lnTo>
                    <a:pt x="176212" y="0"/>
                  </a:lnTo>
                  <a:lnTo>
                    <a:pt x="184869" y="211"/>
                  </a:lnTo>
                  <a:lnTo>
                    <a:pt x="227364" y="7585"/>
                  </a:lnTo>
                  <a:lnTo>
                    <a:pt x="266795" y="25062"/>
                  </a:lnTo>
                  <a:lnTo>
                    <a:pt x="300813" y="51610"/>
                  </a:lnTo>
                  <a:lnTo>
                    <a:pt x="327361" y="85628"/>
                  </a:lnTo>
                  <a:lnTo>
                    <a:pt x="344839" y="125059"/>
                  </a:lnTo>
                  <a:lnTo>
                    <a:pt x="352213" y="167555"/>
                  </a:lnTo>
                  <a:lnTo>
                    <a:pt x="352424" y="176212"/>
                  </a:lnTo>
                  <a:lnTo>
                    <a:pt x="352213" y="184868"/>
                  </a:lnTo>
                  <a:lnTo>
                    <a:pt x="344839" y="227364"/>
                  </a:lnTo>
                  <a:lnTo>
                    <a:pt x="327361" y="266794"/>
                  </a:lnTo>
                  <a:lnTo>
                    <a:pt x="300813" y="300813"/>
                  </a:lnTo>
                  <a:lnTo>
                    <a:pt x="266795" y="327360"/>
                  </a:lnTo>
                  <a:lnTo>
                    <a:pt x="227364" y="344838"/>
                  </a:lnTo>
                  <a:lnTo>
                    <a:pt x="184869" y="352213"/>
                  </a:lnTo>
                  <a:lnTo>
                    <a:pt x="176212" y="352424"/>
                  </a:lnTo>
                  <a:close/>
                </a:path>
              </a:pathLst>
            </a:custGeom>
            <a:solidFill>
              <a:srgbClr val="F59D0A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700087" y="5424487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352424" y="176212"/>
                  </a:moveTo>
                  <a:lnTo>
                    <a:pt x="347142" y="219038"/>
                  </a:lnTo>
                  <a:lnTo>
                    <a:pt x="331619" y="259278"/>
                  </a:lnTo>
                  <a:lnTo>
                    <a:pt x="306785" y="294541"/>
                  </a:lnTo>
                  <a:lnTo>
                    <a:pt x="274110" y="322726"/>
                  </a:lnTo>
                  <a:lnTo>
                    <a:pt x="235567" y="342128"/>
                  </a:lnTo>
                  <a:lnTo>
                    <a:pt x="193484" y="351578"/>
                  </a:lnTo>
                  <a:lnTo>
                    <a:pt x="176212" y="352424"/>
                  </a:lnTo>
                  <a:lnTo>
                    <a:pt x="167555" y="352213"/>
                  </a:lnTo>
                  <a:lnTo>
                    <a:pt x="125059" y="344838"/>
                  </a:lnTo>
                  <a:lnTo>
                    <a:pt x="85629" y="327360"/>
                  </a:lnTo>
                  <a:lnTo>
                    <a:pt x="51611" y="300813"/>
                  </a:lnTo>
                  <a:lnTo>
                    <a:pt x="25063" y="266794"/>
                  </a:lnTo>
                  <a:lnTo>
                    <a:pt x="7585" y="227364"/>
                  </a:lnTo>
                  <a:lnTo>
                    <a:pt x="211" y="184868"/>
                  </a:lnTo>
                  <a:lnTo>
                    <a:pt x="0" y="176212"/>
                  </a:lnTo>
                  <a:lnTo>
                    <a:pt x="211" y="167555"/>
                  </a:lnTo>
                  <a:lnTo>
                    <a:pt x="7585" y="125059"/>
                  </a:lnTo>
                  <a:lnTo>
                    <a:pt x="25063" y="85628"/>
                  </a:lnTo>
                  <a:lnTo>
                    <a:pt x="51611" y="51610"/>
                  </a:lnTo>
                  <a:lnTo>
                    <a:pt x="85629" y="25062"/>
                  </a:lnTo>
                  <a:lnTo>
                    <a:pt x="125059" y="7585"/>
                  </a:lnTo>
                  <a:lnTo>
                    <a:pt x="167555" y="211"/>
                  </a:lnTo>
                  <a:lnTo>
                    <a:pt x="176212" y="0"/>
                  </a:lnTo>
                  <a:lnTo>
                    <a:pt x="184869" y="211"/>
                  </a:lnTo>
                  <a:lnTo>
                    <a:pt x="227364" y="7585"/>
                  </a:lnTo>
                  <a:lnTo>
                    <a:pt x="266795" y="25062"/>
                  </a:lnTo>
                  <a:lnTo>
                    <a:pt x="300813" y="51610"/>
                  </a:lnTo>
                  <a:lnTo>
                    <a:pt x="327361" y="85628"/>
                  </a:lnTo>
                  <a:lnTo>
                    <a:pt x="344839" y="125059"/>
                  </a:lnTo>
                  <a:lnTo>
                    <a:pt x="352213" y="167555"/>
                  </a:lnTo>
                  <a:lnTo>
                    <a:pt x="352424" y="176212"/>
                  </a:lnTo>
                  <a:close/>
                </a:path>
              </a:pathLst>
            </a:custGeom>
            <a:ln w="28574">
              <a:solidFill>
                <a:srgbClr val="F59D0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/>
          <p:cNvSpPr txBox="1"/>
          <p:nvPr/>
        </p:nvSpPr>
        <p:spPr>
          <a:xfrm>
            <a:off x="779512" y="5494717"/>
            <a:ext cx="196850" cy="1835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 spc="90" b="1">
                <a:solidFill>
                  <a:srgbClr val="F59D0A"/>
                </a:solidFill>
                <a:latin typeface="Arial"/>
                <a:cs typeface="Arial"/>
              </a:rPr>
              <a:t>05</a:t>
            </a:r>
            <a:endParaRPr sz="10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73100" y="6472570"/>
            <a:ext cx="4324350" cy="1631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70"/>
              </a:lnSpc>
            </a:pPr>
            <a:r>
              <a:rPr dirty="0" sz="950" spc="-20" b="1">
                <a:solidFill>
                  <a:srgbClr val="121725"/>
                </a:solidFill>
                <a:latin typeface="Arial"/>
                <a:cs typeface="Arial"/>
              </a:rPr>
              <a:t>AfriTalent</a:t>
            </a:r>
            <a:r>
              <a:rPr dirty="0" sz="950" spc="-7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950" spc="-30" b="1">
                <a:solidFill>
                  <a:srgbClr val="121725"/>
                </a:solidFill>
                <a:latin typeface="Arial"/>
                <a:cs typeface="Arial"/>
              </a:rPr>
              <a:t>By</a:t>
            </a:r>
            <a:r>
              <a:rPr dirty="0" sz="950" spc="-9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21725"/>
                </a:solidFill>
                <a:latin typeface="Arial"/>
                <a:cs typeface="Arial"/>
              </a:rPr>
              <a:t>Agent23</a:t>
            </a:r>
            <a:r>
              <a:rPr dirty="0" sz="950" spc="-4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dirty="0" sz="10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Contact</a:t>
            </a:r>
            <a:r>
              <a:rPr dirty="0" sz="95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:</a:t>
            </a:r>
            <a:r>
              <a:rPr dirty="0" sz="10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40">
                <a:solidFill>
                  <a:srgbClr val="5C6A81"/>
                </a:solidFill>
                <a:latin typeface="Microsoft Sans Serif"/>
                <a:cs typeface="Microsoft Sans Serif"/>
                <a:hlinkClick r:id="rId9"/>
              </a:rPr>
              <a:t>agent</a:t>
            </a:r>
            <a:r>
              <a:rPr dirty="0" sz="1050" spc="-40">
                <a:solidFill>
                  <a:srgbClr val="5C6A81"/>
                </a:solidFill>
                <a:latin typeface="Microsoft Sans Serif"/>
                <a:cs typeface="Microsoft Sans Serif"/>
                <a:hlinkClick r:id="rId9"/>
              </a:rPr>
              <a:t>210601@</a:t>
            </a:r>
            <a:r>
              <a:rPr dirty="0" sz="950" spc="-40">
                <a:solidFill>
                  <a:srgbClr val="5C6A81"/>
                </a:solidFill>
                <a:latin typeface="Microsoft Sans Serif"/>
                <a:cs typeface="Microsoft Sans Serif"/>
                <a:hlinkClick r:id="rId9"/>
              </a:rPr>
              <a:t>gmail</a:t>
            </a:r>
            <a:r>
              <a:rPr dirty="0" sz="1050" spc="-40">
                <a:solidFill>
                  <a:srgbClr val="5C6A81"/>
                </a:solidFill>
                <a:latin typeface="Microsoft Sans Serif"/>
                <a:cs typeface="Microsoft Sans Serif"/>
                <a:hlinkClick r:id="rId9"/>
              </a:rPr>
              <a:t>.</a:t>
            </a:r>
            <a:r>
              <a:rPr dirty="0" sz="950" spc="-40">
                <a:solidFill>
                  <a:srgbClr val="5C6A81"/>
                </a:solidFill>
                <a:latin typeface="Microsoft Sans Serif"/>
                <a:cs typeface="Microsoft Sans Serif"/>
                <a:hlinkClick r:id="rId9"/>
              </a:rPr>
              <a:t>com</a:t>
            </a:r>
            <a:r>
              <a:rPr dirty="0" sz="95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dirty="0" sz="10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5">
                <a:solidFill>
                  <a:srgbClr val="5C6A81"/>
                </a:solidFill>
                <a:latin typeface="Microsoft Sans Serif"/>
                <a:cs typeface="Microsoft Sans Serif"/>
              </a:rPr>
              <a:t>+221</a:t>
            </a:r>
            <a:r>
              <a:rPr dirty="0" sz="10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85">
                <a:solidFill>
                  <a:srgbClr val="5C6A81"/>
                </a:solidFill>
                <a:latin typeface="Microsoft Sans Serif"/>
                <a:cs typeface="Microsoft Sans Serif"/>
              </a:rPr>
              <a:t>71</a:t>
            </a:r>
            <a:r>
              <a:rPr dirty="0" sz="10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008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00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86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9662764" y="6474593"/>
            <a:ext cx="1855470" cy="161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Présentation</a:t>
            </a:r>
            <a:r>
              <a:rPr dirty="0" sz="9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de projet</a:t>
            </a:r>
            <a:r>
              <a:rPr dirty="0" sz="95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web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dirty="0" sz="10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2026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50835" y="566061"/>
            <a:ext cx="85598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b="1">
                <a:solidFill>
                  <a:srgbClr val="5C6A81"/>
                </a:solidFill>
                <a:latin typeface="Arial"/>
                <a:cs typeface="Arial"/>
              </a:rPr>
              <a:t>Slide</a:t>
            </a:r>
            <a:r>
              <a:rPr dirty="0" sz="1150" spc="30" b="1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dirty="0" sz="1100" spc="85" b="1">
                <a:solidFill>
                  <a:srgbClr val="5C6A81"/>
                </a:solidFill>
                <a:latin typeface="Arial"/>
                <a:cs typeface="Arial"/>
              </a:rPr>
              <a:t>06</a:t>
            </a:r>
            <a:r>
              <a:rPr dirty="0" sz="1100" spc="55" b="1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dirty="0" sz="1100" spc="110" b="1">
                <a:solidFill>
                  <a:srgbClr val="5C6A81"/>
                </a:solidFill>
                <a:latin typeface="Arial"/>
                <a:cs typeface="Arial"/>
              </a:rPr>
              <a:t>/</a:t>
            </a:r>
            <a:r>
              <a:rPr dirty="0" sz="1100" spc="35" b="1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dirty="0" sz="1100" spc="-125" b="1">
                <a:solidFill>
                  <a:srgbClr val="5C6A81"/>
                </a:solidFill>
                <a:latin typeface="Arial"/>
                <a:cs typeface="Arial"/>
              </a:rPr>
              <a:t>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85799" y="1733549"/>
            <a:ext cx="533400" cy="38100"/>
          </a:xfrm>
          <a:custGeom>
            <a:avLst/>
            <a:gdLst/>
            <a:ahLst/>
            <a:cxnLst/>
            <a:rect l="l" t="t" r="r" b="b"/>
            <a:pathLst>
              <a:path w="533400" h="38100">
                <a:moveTo>
                  <a:pt x="5168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9049"/>
                </a:lnTo>
                <a:lnTo>
                  <a:pt x="0" y="16523"/>
                </a:lnTo>
                <a:lnTo>
                  <a:pt x="16523" y="0"/>
                </a:lnTo>
                <a:lnTo>
                  <a:pt x="516876" y="0"/>
                </a:lnTo>
                <a:lnTo>
                  <a:pt x="533399" y="16523"/>
                </a:lnTo>
                <a:lnTo>
                  <a:pt x="533399" y="21576"/>
                </a:lnTo>
                <a:lnTo>
                  <a:pt x="519306" y="37616"/>
                </a:lnTo>
                <a:lnTo>
                  <a:pt x="516876" y="38099"/>
                </a:lnTo>
                <a:close/>
              </a:path>
            </a:pathLst>
          </a:custGeom>
          <a:solidFill>
            <a:srgbClr val="F59D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73100" y="1056648"/>
            <a:ext cx="132778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70" b="1">
                <a:solidFill>
                  <a:srgbClr val="2453D5"/>
                </a:solidFill>
                <a:latin typeface="Arial"/>
                <a:cs typeface="Arial"/>
              </a:rPr>
              <a:t>ANATOMI</a:t>
            </a:r>
            <a:r>
              <a:rPr dirty="0" sz="950" spc="-125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2453D5"/>
                </a:solidFill>
                <a:latin typeface="Arial"/>
                <a:cs typeface="Arial"/>
              </a:rPr>
              <a:t>E</a:t>
            </a:r>
            <a:r>
              <a:rPr dirty="0" sz="950" spc="13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2453D5"/>
                </a:solidFill>
                <a:latin typeface="Arial"/>
                <a:cs typeface="Arial"/>
              </a:rPr>
              <a:t>DU</a:t>
            </a:r>
            <a:r>
              <a:rPr dirty="0" sz="950" spc="135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2453D5"/>
                </a:solidFill>
                <a:latin typeface="Arial"/>
                <a:cs typeface="Arial"/>
              </a:rPr>
              <a:t>SI</a:t>
            </a:r>
            <a:r>
              <a:rPr dirty="0" sz="950" spc="-125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950" spc="-25" b="1">
                <a:solidFill>
                  <a:srgbClr val="2453D5"/>
                </a:solidFill>
                <a:latin typeface="Arial"/>
                <a:cs typeface="Arial"/>
              </a:rPr>
              <a:t>TE</a:t>
            </a:r>
            <a:endParaRPr sz="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100" y="1224833"/>
            <a:ext cx="503110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b="1">
                <a:solidFill>
                  <a:srgbClr val="121725"/>
                </a:solidFill>
                <a:latin typeface="Arial"/>
                <a:cs typeface="Arial"/>
              </a:rPr>
              <a:t>Structure</a:t>
            </a:r>
            <a:r>
              <a:rPr dirty="0" sz="2700" spc="-33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2700" spc="90" b="1">
                <a:solidFill>
                  <a:srgbClr val="121725"/>
                </a:solidFill>
                <a:latin typeface="Arial"/>
                <a:cs typeface="Arial"/>
              </a:rPr>
              <a:t>et</a:t>
            </a:r>
            <a:r>
              <a:rPr dirty="0" sz="2700" spc="-31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2700" spc="-20" b="1">
                <a:solidFill>
                  <a:srgbClr val="121725"/>
                </a:solidFill>
                <a:latin typeface="Arial"/>
                <a:cs typeface="Arial"/>
              </a:rPr>
              <a:t>contenu</a:t>
            </a:r>
            <a:r>
              <a:rPr dirty="0" sz="2700" spc="-27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121725"/>
                </a:solidFill>
                <a:latin typeface="Arial"/>
                <a:cs typeface="Arial"/>
              </a:rPr>
              <a:t>des</a:t>
            </a:r>
            <a:r>
              <a:rPr dirty="0" sz="2700" spc="-34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2700" spc="-10" b="1">
                <a:solidFill>
                  <a:srgbClr val="121725"/>
                </a:solidFill>
                <a:latin typeface="Arial"/>
                <a:cs typeface="Arial"/>
              </a:rPr>
              <a:t>pages</a:t>
            </a:r>
            <a:endParaRPr sz="2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100" y="1831789"/>
            <a:ext cx="6512559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Chaque</a:t>
            </a:r>
            <a:r>
              <a:rPr dirty="0" sz="110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page</a:t>
            </a:r>
            <a:r>
              <a:rPr dirty="0" sz="1100" spc="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suit</a:t>
            </a:r>
            <a:r>
              <a:rPr dirty="0" sz="110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une</a:t>
            </a:r>
            <a:r>
              <a:rPr dirty="0" sz="1100" spc="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structure</a:t>
            </a:r>
            <a:r>
              <a:rPr dirty="0" sz="1100" spc="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cohérente</a:t>
            </a:r>
            <a:r>
              <a:rPr dirty="0" sz="110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avec</a:t>
            </a:r>
            <a:r>
              <a:rPr dirty="0" sz="1100" spc="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des</a:t>
            </a:r>
            <a:r>
              <a:rPr dirty="0" sz="1100" spc="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blocs</a:t>
            </a:r>
            <a:r>
              <a:rPr dirty="0" sz="1100" spc="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spécifiques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dirty="0" sz="1200" spc="7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Voici</a:t>
            </a:r>
            <a:r>
              <a:rPr dirty="0" sz="1100" spc="8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dirty="0" sz="110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rôle</a:t>
            </a:r>
            <a:r>
              <a:rPr dirty="0" sz="1100" spc="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dirty="0" sz="1100" spc="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chaque</a:t>
            </a:r>
            <a:r>
              <a:rPr dirty="0" sz="110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élément</a:t>
            </a:r>
            <a:r>
              <a:rPr dirty="0" sz="120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20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799" y="533400"/>
            <a:ext cx="266699" cy="266699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4005" algn="l"/>
              </a:tabLst>
            </a:pPr>
            <a:r>
              <a:rPr dirty="0" sz="1100" spc="35">
                <a:solidFill>
                  <a:srgbClr val="FFFFFF"/>
                </a:solidFill>
              </a:rPr>
              <a:t>A</a:t>
            </a:r>
            <a:r>
              <a:rPr dirty="0" sz="1100">
                <a:solidFill>
                  <a:srgbClr val="FFFFFF"/>
                </a:solidFill>
              </a:rPr>
              <a:t>	</a:t>
            </a:r>
            <a:r>
              <a:rPr dirty="0" spc="-20">
                <a:solidFill>
                  <a:srgbClr val="2453D5"/>
                </a:solidFill>
              </a:rPr>
              <a:t>AfriTalent</a:t>
            </a:r>
            <a:r>
              <a:rPr dirty="0" spc="-80">
                <a:solidFill>
                  <a:srgbClr val="2453D5"/>
                </a:solidFill>
              </a:rPr>
              <a:t> </a:t>
            </a:r>
            <a:r>
              <a:rPr dirty="0" sz="1350" spc="-50"/>
              <a:t>—</a:t>
            </a:r>
            <a:r>
              <a:rPr dirty="0" sz="1350" spc="-210"/>
              <a:t> </a:t>
            </a:r>
            <a:r>
              <a:rPr dirty="0" spc="-25"/>
              <a:t>Présentation</a:t>
            </a:r>
            <a:endParaRPr sz="135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249" y="552449"/>
            <a:ext cx="76199" cy="76199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46175" y="2170175"/>
            <a:ext cx="2697480" cy="1813560"/>
            <a:chOff x="646175" y="2170175"/>
            <a:chExt cx="2697480" cy="1813560"/>
          </a:xfrm>
        </p:grpSpPr>
        <p:sp>
          <p:nvSpPr>
            <p:cNvPr id="11" name="object 11"/>
            <p:cNvSpPr/>
            <p:nvPr/>
          </p:nvSpPr>
          <p:spPr>
            <a:xfrm>
              <a:off x="646175" y="2170175"/>
              <a:ext cx="2697480" cy="1813560"/>
            </a:xfrm>
            <a:custGeom>
              <a:avLst/>
              <a:gdLst/>
              <a:ahLst/>
              <a:cxnLst/>
              <a:rect l="l" t="t" r="r" b="b"/>
              <a:pathLst>
                <a:path w="2697479" h="1813560">
                  <a:moveTo>
                    <a:pt x="2697479" y="1813559"/>
                  </a:moveTo>
                  <a:lnTo>
                    <a:pt x="0" y="1813559"/>
                  </a:lnTo>
                  <a:lnTo>
                    <a:pt x="0" y="0"/>
                  </a:lnTo>
                  <a:lnTo>
                    <a:pt x="2697479" y="0"/>
                  </a:lnTo>
                  <a:lnTo>
                    <a:pt x="2697479" y="39623"/>
                  </a:lnTo>
                  <a:lnTo>
                    <a:pt x="153923" y="39623"/>
                  </a:lnTo>
                  <a:lnTo>
                    <a:pt x="143602" y="40122"/>
                  </a:lnTo>
                  <a:lnTo>
                    <a:pt x="104483" y="52009"/>
                  </a:lnTo>
                  <a:lnTo>
                    <a:pt x="72890" y="77962"/>
                  </a:lnTo>
                  <a:lnTo>
                    <a:pt x="53635" y="114029"/>
                  </a:lnTo>
                  <a:lnTo>
                    <a:pt x="49148" y="144398"/>
                  </a:lnTo>
                  <a:lnTo>
                    <a:pt x="49148" y="1649348"/>
                  </a:lnTo>
                  <a:lnTo>
                    <a:pt x="57124" y="1689443"/>
                  </a:lnTo>
                  <a:lnTo>
                    <a:pt x="79836" y="1723435"/>
                  </a:lnTo>
                  <a:lnTo>
                    <a:pt x="113828" y="1746147"/>
                  </a:lnTo>
                  <a:lnTo>
                    <a:pt x="153923" y="1754123"/>
                  </a:lnTo>
                  <a:lnTo>
                    <a:pt x="2697479" y="1754123"/>
                  </a:lnTo>
                  <a:lnTo>
                    <a:pt x="2697479" y="1813559"/>
                  </a:lnTo>
                  <a:close/>
                </a:path>
                <a:path w="2697479" h="1813560">
                  <a:moveTo>
                    <a:pt x="2697479" y="1754123"/>
                  </a:moveTo>
                  <a:lnTo>
                    <a:pt x="2544698" y="1754123"/>
                  </a:lnTo>
                  <a:lnTo>
                    <a:pt x="2555020" y="1753625"/>
                  </a:lnTo>
                  <a:lnTo>
                    <a:pt x="2565143" y="1752129"/>
                  </a:lnTo>
                  <a:lnTo>
                    <a:pt x="2602919" y="1736481"/>
                  </a:lnTo>
                  <a:lnTo>
                    <a:pt x="2631832" y="1707568"/>
                  </a:lnTo>
                  <a:lnTo>
                    <a:pt x="2647479" y="1669792"/>
                  </a:lnTo>
                  <a:lnTo>
                    <a:pt x="2649473" y="1649348"/>
                  </a:lnTo>
                  <a:lnTo>
                    <a:pt x="2649473" y="144398"/>
                  </a:lnTo>
                  <a:lnTo>
                    <a:pt x="2641497" y="104303"/>
                  </a:lnTo>
                  <a:lnTo>
                    <a:pt x="2618785" y="70311"/>
                  </a:lnTo>
                  <a:lnTo>
                    <a:pt x="2584794" y="47599"/>
                  </a:lnTo>
                  <a:lnTo>
                    <a:pt x="2544698" y="39623"/>
                  </a:lnTo>
                  <a:lnTo>
                    <a:pt x="2697479" y="39623"/>
                  </a:lnTo>
                  <a:lnTo>
                    <a:pt x="2697479" y="1754123"/>
                  </a:lnTo>
                  <a:close/>
                </a:path>
              </a:pathLst>
            </a:custGeom>
            <a:solidFill>
              <a:srgbClr val="121725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90562" y="2205037"/>
              <a:ext cx="2609850" cy="1724025"/>
            </a:xfrm>
            <a:custGeom>
              <a:avLst/>
              <a:gdLst/>
              <a:ahLst/>
              <a:cxnLst/>
              <a:rect l="l" t="t" r="r" b="b"/>
              <a:pathLst>
                <a:path w="2609850" h="1724025">
                  <a:moveTo>
                    <a:pt x="2507504" y="1724024"/>
                  </a:moveTo>
                  <a:lnTo>
                    <a:pt x="102345" y="1724024"/>
                  </a:lnTo>
                  <a:lnTo>
                    <a:pt x="95221" y="1723322"/>
                  </a:lnTo>
                  <a:lnTo>
                    <a:pt x="54661" y="1709559"/>
                  </a:lnTo>
                  <a:lnTo>
                    <a:pt x="22456" y="1681322"/>
                  </a:lnTo>
                  <a:lnTo>
                    <a:pt x="3507" y="1642910"/>
                  </a:lnTo>
                  <a:lnTo>
                    <a:pt x="0" y="1621679"/>
                  </a:lnTo>
                  <a:lnTo>
                    <a:pt x="0" y="1614487"/>
                  </a:lnTo>
                  <a:lnTo>
                    <a:pt x="0" y="102344"/>
                  </a:lnTo>
                  <a:lnTo>
                    <a:pt x="11090" y="60973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2507504" y="0"/>
                  </a:lnTo>
                  <a:lnTo>
                    <a:pt x="2548874" y="11090"/>
                  </a:lnTo>
                  <a:lnTo>
                    <a:pt x="2582852" y="37168"/>
                  </a:lnTo>
                  <a:lnTo>
                    <a:pt x="2604263" y="74263"/>
                  </a:lnTo>
                  <a:lnTo>
                    <a:pt x="2609849" y="102344"/>
                  </a:lnTo>
                  <a:lnTo>
                    <a:pt x="2609849" y="1621679"/>
                  </a:lnTo>
                  <a:lnTo>
                    <a:pt x="2598758" y="1663049"/>
                  </a:lnTo>
                  <a:lnTo>
                    <a:pt x="2572680" y="1697026"/>
                  </a:lnTo>
                  <a:lnTo>
                    <a:pt x="2535585" y="1718438"/>
                  </a:lnTo>
                  <a:lnTo>
                    <a:pt x="2514627" y="1723322"/>
                  </a:lnTo>
                  <a:lnTo>
                    <a:pt x="2507504" y="1724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90562" y="2205037"/>
              <a:ext cx="2609850" cy="1724025"/>
            </a:xfrm>
            <a:custGeom>
              <a:avLst/>
              <a:gdLst/>
              <a:ahLst/>
              <a:cxnLst/>
              <a:rect l="l" t="t" r="r" b="b"/>
              <a:pathLst>
                <a:path w="2609850" h="1724025">
                  <a:moveTo>
                    <a:pt x="0" y="16144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8" y="67619"/>
                  </a:lnTo>
                  <a:lnTo>
                    <a:pt x="11090" y="60973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6" y="42701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2500312" y="0"/>
                  </a:lnTo>
                  <a:lnTo>
                    <a:pt x="2542229" y="8337"/>
                  </a:lnTo>
                  <a:lnTo>
                    <a:pt x="2548874" y="11090"/>
                  </a:lnTo>
                  <a:lnTo>
                    <a:pt x="2555187" y="14464"/>
                  </a:lnTo>
                  <a:lnTo>
                    <a:pt x="2561167" y="18460"/>
                  </a:lnTo>
                  <a:lnTo>
                    <a:pt x="2567147" y="22456"/>
                  </a:lnTo>
                  <a:lnTo>
                    <a:pt x="2572680" y="26996"/>
                  </a:lnTo>
                  <a:lnTo>
                    <a:pt x="2577766" y="32082"/>
                  </a:lnTo>
                  <a:lnTo>
                    <a:pt x="2582852" y="37168"/>
                  </a:lnTo>
                  <a:lnTo>
                    <a:pt x="2587393" y="42701"/>
                  </a:lnTo>
                  <a:lnTo>
                    <a:pt x="2591389" y="48681"/>
                  </a:lnTo>
                  <a:lnTo>
                    <a:pt x="2595384" y="54661"/>
                  </a:lnTo>
                  <a:lnTo>
                    <a:pt x="2598758" y="60973"/>
                  </a:lnTo>
                  <a:lnTo>
                    <a:pt x="2601511" y="67619"/>
                  </a:lnTo>
                  <a:lnTo>
                    <a:pt x="2604263" y="74263"/>
                  </a:lnTo>
                  <a:lnTo>
                    <a:pt x="2606341" y="81113"/>
                  </a:lnTo>
                  <a:lnTo>
                    <a:pt x="2607744" y="88167"/>
                  </a:lnTo>
                  <a:lnTo>
                    <a:pt x="2609147" y="95221"/>
                  </a:lnTo>
                  <a:lnTo>
                    <a:pt x="2609849" y="102345"/>
                  </a:lnTo>
                  <a:lnTo>
                    <a:pt x="2609849" y="109537"/>
                  </a:lnTo>
                  <a:lnTo>
                    <a:pt x="2609849" y="1614487"/>
                  </a:lnTo>
                  <a:lnTo>
                    <a:pt x="2609849" y="1621679"/>
                  </a:lnTo>
                  <a:lnTo>
                    <a:pt x="2609147" y="1628802"/>
                  </a:lnTo>
                  <a:lnTo>
                    <a:pt x="2607744" y="1635856"/>
                  </a:lnTo>
                  <a:lnTo>
                    <a:pt x="2606341" y="1642910"/>
                  </a:lnTo>
                  <a:lnTo>
                    <a:pt x="2591389" y="1675342"/>
                  </a:lnTo>
                  <a:lnTo>
                    <a:pt x="2587393" y="1681322"/>
                  </a:lnTo>
                  <a:lnTo>
                    <a:pt x="2555187" y="1709559"/>
                  </a:lnTo>
                  <a:lnTo>
                    <a:pt x="2542229" y="1715686"/>
                  </a:lnTo>
                  <a:lnTo>
                    <a:pt x="2535585" y="1718438"/>
                  </a:lnTo>
                  <a:lnTo>
                    <a:pt x="2500312" y="1724024"/>
                  </a:lnTo>
                  <a:lnTo>
                    <a:pt x="109537" y="1724024"/>
                  </a:lnTo>
                  <a:lnTo>
                    <a:pt x="67619" y="1715686"/>
                  </a:lnTo>
                  <a:lnTo>
                    <a:pt x="60974" y="1712933"/>
                  </a:lnTo>
                  <a:lnTo>
                    <a:pt x="26997" y="1686855"/>
                  </a:lnTo>
                  <a:lnTo>
                    <a:pt x="18460" y="1675342"/>
                  </a:lnTo>
                  <a:lnTo>
                    <a:pt x="14464" y="1669362"/>
                  </a:lnTo>
                  <a:lnTo>
                    <a:pt x="2104" y="1635856"/>
                  </a:lnTo>
                  <a:lnTo>
                    <a:pt x="701" y="1628802"/>
                  </a:lnTo>
                  <a:lnTo>
                    <a:pt x="0" y="1621679"/>
                  </a:lnTo>
                  <a:lnTo>
                    <a:pt x="0" y="1614487"/>
                  </a:lnTo>
                  <a:close/>
                </a:path>
              </a:pathLst>
            </a:custGeom>
            <a:ln w="9524">
              <a:solidFill>
                <a:srgbClr val="E4E8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47724" y="234314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62803" y="342899"/>
                  </a:moveTo>
                  <a:lnTo>
                    <a:pt x="80096" y="342899"/>
                  </a:lnTo>
                  <a:lnTo>
                    <a:pt x="74521" y="342350"/>
                  </a:lnTo>
                  <a:lnTo>
                    <a:pt x="33418" y="325325"/>
                  </a:lnTo>
                  <a:lnTo>
                    <a:pt x="8679" y="295180"/>
                  </a:lnTo>
                  <a:lnTo>
                    <a:pt x="0" y="262803"/>
                  </a:lnTo>
                  <a:lnTo>
                    <a:pt x="0" y="257174"/>
                  </a:lnTo>
                  <a:lnTo>
                    <a:pt x="0" y="80096"/>
                  </a:lnTo>
                  <a:lnTo>
                    <a:pt x="11319" y="42778"/>
                  </a:lnTo>
                  <a:lnTo>
                    <a:pt x="42778" y="11319"/>
                  </a:lnTo>
                  <a:lnTo>
                    <a:pt x="80096" y="0"/>
                  </a:lnTo>
                  <a:lnTo>
                    <a:pt x="262803" y="0"/>
                  </a:lnTo>
                  <a:lnTo>
                    <a:pt x="300120" y="11319"/>
                  </a:lnTo>
                  <a:lnTo>
                    <a:pt x="331579" y="42778"/>
                  </a:lnTo>
                  <a:lnTo>
                    <a:pt x="342899" y="80096"/>
                  </a:lnTo>
                  <a:lnTo>
                    <a:pt x="342899" y="262803"/>
                  </a:lnTo>
                  <a:lnTo>
                    <a:pt x="331579" y="300120"/>
                  </a:lnTo>
                  <a:lnTo>
                    <a:pt x="300120" y="331579"/>
                  </a:lnTo>
                  <a:lnTo>
                    <a:pt x="268378" y="342350"/>
                  </a:lnTo>
                  <a:lnTo>
                    <a:pt x="262803" y="342899"/>
                  </a:lnTo>
                  <a:close/>
                </a:path>
              </a:pathLst>
            </a:custGeom>
            <a:solidFill>
              <a:srgbClr val="2453D5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9799" y="2460624"/>
              <a:ext cx="158750" cy="10795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835024" y="2704214"/>
            <a:ext cx="2252345" cy="1075055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200" spc="-35" b="1">
                <a:solidFill>
                  <a:srgbClr val="121725"/>
                </a:solidFill>
                <a:latin typeface="Arial"/>
                <a:cs typeface="Arial"/>
              </a:rPr>
              <a:t>Navbar</a:t>
            </a:r>
            <a:r>
              <a:rPr dirty="0" sz="1200" spc="-8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121725"/>
                </a:solidFill>
                <a:latin typeface="Arial"/>
                <a:cs typeface="Arial"/>
              </a:rPr>
              <a:t>fixe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5100"/>
              </a:lnSpc>
              <a:spcBef>
                <a:spcPts val="395"/>
              </a:spcBef>
            </a:pP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Logo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, </a:t>
            </a:r>
            <a:r>
              <a:rPr dirty="0" sz="1100" spc="-70">
                <a:solidFill>
                  <a:srgbClr val="5C6A81"/>
                </a:solidFill>
                <a:latin typeface="Microsoft Sans Serif"/>
                <a:cs typeface="Microsoft Sans Serif"/>
              </a:rPr>
              <a:t>5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liens</a:t>
            </a:r>
            <a:r>
              <a:rPr dirty="0" sz="10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dirty="0" sz="100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navigation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00" spc="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bouton thème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. </a:t>
            </a:r>
            <a:r>
              <a:rPr dirty="0" sz="1000" spc="-25">
                <a:solidFill>
                  <a:srgbClr val="5C6A81"/>
                </a:solidFill>
                <a:latin typeface="Microsoft Sans Serif"/>
                <a:cs typeface="Microsoft Sans Serif"/>
              </a:rPr>
              <a:t>Reste</a:t>
            </a:r>
            <a:r>
              <a:rPr dirty="0" sz="100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visible</a:t>
            </a:r>
            <a:r>
              <a:rPr dirty="0" sz="100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au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scroll</a:t>
            </a:r>
            <a:r>
              <a:rPr dirty="0" sz="1000" spc="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avec</a:t>
            </a:r>
            <a:r>
              <a:rPr dirty="0" sz="100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0">
                <a:solidFill>
                  <a:srgbClr val="5C6A81"/>
                </a:solidFill>
                <a:latin typeface="Microsoft Sans Serif"/>
                <a:cs typeface="Microsoft Sans Serif"/>
              </a:rPr>
              <a:t>effet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dirty="0" sz="100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flou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800" b="1">
                <a:solidFill>
                  <a:srgbClr val="2453D5"/>
                </a:solidFill>
                <a:latin typeface="Arial"/>
                <a:cs typeface="Arial"/>
              </a:rPr>
              <a:t>EN</a:t>
            </a:r>
            <a:r>
              <a:rPr dirty="0" sz="900" b="1">
                <a:solidFill>
                  <a:srgbClr val="2453D5"/>
                </a:solidFill>
                <a:latin typeface="Tahoma"/>
                <a:cs typeface="Tahoma"/>
              </a:rPr>
              <a:t>-</a:t>
            </a:r>
            <a:r>
              <a:rPr dirty="0" sz="800" spc="-20" b="1">
                <a:solidFill>
                  <a:srgbClr val="2453D5"/>
                </a:solidFill>
                <a:latin typeface="Arial"/>
                <a:cs typeface="Arial"/>
              </a:rPr>
              <a:t>TÊTE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28339" y="2170175"/>
            <a:ext cx="5349875" cy="1813560"/>
            <a:chOff x="728339" y="2170175"/>
            <a:chExt cx="5349875" cy="1813560"/>
          </a:xfrm>
        </p:grpSpPr>
        <p:sp>
          <p:nvSpPr>
            <p:cNvPr id="18" name="object 18"/>
            <p:cNvSpPr/>
            <p:nvPr/>
          </p:nvSpPr>
          <p:spPr>
            <a:xfrm>
              <a:off x="728339" y="2209799"/>
              <a:ext cx="2534920" cy="28575"/>
            </a:xfrm>
            <a:custGeom>
              <a:avLst/>
              <a:gdLst/>
              <a:ahLst/>
              <a:cxnLst/>
              <a:rect l="l" t="t" r="r" b="b"/>
              <a:pathLst>
                <a:path w="2534920" h="28575">
                  <a:moveTo>
                    <a:pt x="2534294" y="28574"/>
                  </a:moveTo>
                  <a:lnTo>
                    <a:pt x="0" y="28574"/>
                  </a:lnTo>
                  <a:lnTo>
                    <a:pt x="5323" y="23741"/>
                  </a:lnTo>
                  <a:lnTo>
                    <a:pt x="41390" y="4486"/>
                  </a:lnTo>
                  <a:lnTo>
                    <a:pt x="71760" y="0"/>
                  </a:lnTo>
                  <a:lnTo>
                    <a:pt x="2462534" y="0"/>
                  </a:lnTo>
                  <a:lnTo>
                    <a:pt x="2502629" y="7975"/>
                  </a:lnTo>
                  <a:lnTo>
                    <a:pt x="2534294" y="28574"/>
                  </a:lnTo>
                  <a:close/>
                </a:path>
              </a:pathLst>
            </a:custGeom>
            <a:solidFill>
              <a:srgbClr val="2453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380231" y="2170175"/>
              <a:ext cx="2697480" cy="1813560"/>
            </a:xfrm>
            <a:custGeom>
              <a:avLst/>
              <a:gdLst/>
              <a:ahLst/>
              <a:cxnLst/>
              <a:rect l="l" t="t" r="r" b="b"/>
              <a:pathLst>
                <a:path w="2697479" h="1813560">
                  <a:moveTo>
                    <a:pt x="2697479" y="1813559"/>
                  </a:moveTo>
                  <a:lnTo>
                    <a:pt x="0" y="1813559"/>
                  </a:lnTo>
                  <a:lnTo>
                    <a:pt x="0" y="0"/>
                  </a:lnTo>
                  <a:lnTo>
                    <a:pt x="2697479" y="0"/>
                  </a:lnTo>
                  <a:lnTo>
                    <a:pt x="2697479" y="39623"/>
                  </a:lnTo>
                  <a:lnTo>
                    <a:pt x="153542" y="39623"/>
                  </a:lnTo>
                  <a:lnTo>
                    <a:pt x="143221" y="40122"/>
                  </a:lnTo>
                  <a:lnTo>
                    <a:pt x="104101" y="52009"/>
                  </a:lnTo>
                  <a:lnTo>
                    <a:pt x="72509" y="77962"/>
                  </a:lnTo>
                  <a:lnTo>
                    <a:pt x="53253" y="114029"/>
                  </a:lnTo>
                  <a:lnTo>
                    <a:pt x="48767" y="144398"/>
                  </a:lnTo>
                  <a:lnTo>
                    <a:pt x="48767" y="1649348"/>
                  </a:lnTo>
                  <a:lnTo>
                    <a:pt x="56742" y="1689443"/>
                  </a:lnTo>
                  <a:lnTo>
                    <a:pt x="79455" y="1723435"/>
                  </a:lnTo>
                  <a:lnTo>
                    <a:pt x="113446" y="1746147"/>
                  </a:lnTo>
                  <a:lnTo>
                    <a:pt x="153542" y="1754123"/>
                  </a:lnTo>
                  <a:lnTo>
                    <a:pt x="2697479" y="1754123"/>
                  </a:lnTo>
                  <a:lnTo>
                    <a:pt x="2697479" y="1813559"/>
                  </a:lnTo>
                  <a:close/>
                </a:path>
                <a:path w="2697479" h="1813560">
                  <a:moveTo>
                    <a:pt x="2697479" y="1754123"/>
                  </a:moveTo>
                  <a:lnTo>
                    <a:pt x="2544317" y="1754123"/>
                  </a:lnTo>
                  <a:lnTo>
                    <a:pt x="2554638" y="1753625"/>
                  </a:lnTo>
                  <a:lnTo>
                    <a:pt x="2564761" y="1752129"/>
                  </a:lnTo>
                  <a:lnTo>
                    <a:pt x="2602537" y="1736481"/>
                  </a:lnTo>
                  <a:lnTo>
                    <a:pt x="2631450" y="1707568"/>
                  </a:lnTo>
                  <a:lnTo>
                    <a:pt x="2647098" y="1669792"/>
                  </a:lnTo>
                  <a:lnTo>
                    <a:pt x="2649092" y="1649348"/>
                  </a:lnTo>
                  <a:lnTo>
                    <a:pt x="2649092" y="144398"/>
                  </a:lnTo>
                  <a:lnTo>
                    <a:pt x="2641116" y="104303"/>
                  </a:lnTo>
                  <a:lnTo>
                    <a:pt x="2618404" y="70311"/>
                  </a:lnTo>
                  <a:lnTo>
                    <a:pt x="2584413" y="47599"/>
                  </a:lnTo>
                  <a:lnTo>
                    <a:pt x="2544317" y="39623"/>
                  </a:lnTo>
                  <a:lnTo>
                    <a:pt x="2697479" y="39623"/>
                  </a:lnTo>
                  <a:lnTo>
                    <a:pt x="2697479" y="1754123"/>
                  </a:lnTo>
                  <a:close/>
                </a:path>
              </a:pathLst>
            </a:custGeom>
            <a:solidFill>
              <a:srgbClr val="121725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424237" y="2205037"/>
              <a:ext cx="2609850" cy="1724025"/>
            </a:xfrm>
            <a:custGeom>
              <a:avLst/>
              <a:gdLst/>
              <a:ahLst/>
              <a:cxnLst/>
              <a:rect l="l" t="t" r="r" b="b"/>
              <a:pathLst>
                <a:path w="2609850" h="1724025">
                  <a:moveTo>
                    <a:pt x="2507504" y="1724024"/>
                  </a:moveTo>
                  <a:lnTo>
                    <a:pt x="102345" y="1724024"/>
                  </a:lnTo>
                  <a:lnTo>
                    <a:pt x="95222" y="1723322"/>
                  </a:lnTo>
                  <a:lnTo>
                    <a:pt x="54661" y="1709559"/>
                  </a:lnTo>
                  <a:lnTo>
                    <a:pt x="22456" y="1681322"/>
                  </a:lnTo>
                  <a:lnTo>
                    <a:pt x="3507" y="1642910"/>
                  </a:lnTo>
                  <a:lnTo>
                    <a:pt x="0" y="1621679"/>
                  </a:lnTo>
                  <a:lnTo>
                    <a:pt x="0" y="1614487"/>
                  </a:lnTo>
                  <a:lnTo>
                    <a:pt x="0" y="102344"/>
                  </a:lnTo>
                  <a:lnTo>
                    <a:pt x="11090" y="60973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2507504" y="0"/>
                  </a:lnTo>
                  <a:lnTo>
                    <a:pt x="2548874" y="11090"/>
                  </a:lnTo>
                  <a:lnTo>
                    <a:pt x="2582852" y="37168"/>
                  </a:lnTo>
                  <a:lnTo>
                    <a:pt x="2604263" y="74263"/>
                  </a:lnTo>
                  <a:lnTo>
                    <a:pt x="2609849" y="102344"/>
                  </a:lnTo>
                  <a:lnTo>
                    <a:pt x="2609849" y="1621679"/>
                  </a:lnTo>
                  <a:lnTo>
                    <a:pt x="2598758" y="1663049"/>
                  </a:lnTo>
                  <a:lnTo>
                    <a:pt x="2572680" y="1697026"/>
                  </a:lnTo>
                  <a:lnTo>
                    <a:pt x="2535585" y="1718438"/>
                  </a:lnTo>
                  <a:lnTo>
                    <a:pt x="2514627" y="1723322"/>
                  </a:lnTo>
                  <a:lnTo>
                    <a:pt x="2507504" y="1724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424237" y="2205037"/>
              <a:ext cx="2609850" cy="1724025"/>
            </a:xfrm>
            <a:custGeom>
              <a:avLst/>
              <a:gdLst/>
              <a:ahLst/>
              <a:cxnLst/>
              <a:rect l="l" t="t" r="r" b="b"/>
              <a:pathLst>
                <a:path w="2609850" h="1724025">
                  <a:moveTo>
                    <a:pt x="0" y="16144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9"/>
                  </a:lnTo>
                  <a:lnTo>
                    <a:pt x="11090" y="60973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6" y="42701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2500312" y="0"/>
                  </a:lnTo>
                  <a:lnTo>
                    <a:pt x="2542229" y="8337"/>
                  </a:lnTo>
                  <a:lnTo>
                    <a:pt x="2561167" y="18460"/>
                  </a:lnTo>
                  <a:lnTo>
                    <a:pt x="2567148" y="22456"/>
                  </a:lnTo>
                  <a:lnTo>
                    <a:pt x="2591389" y="48681"/>
                  </a:lnTo>
                  <a:lnTo>
                    <a:pt x="2595385" y="54661"/>
                  </a:lnTo>
                  <a:lnTo>
                    <a:pt x="2598758" y="60973"/>
                  </a:lnTo>
                  <a:lnTo>
                    <a:pt x="2601511" y="67619"/>
                  </a:lnTo>
                  <a:lnTo>
                    <a:pt x="2604263" y="74263"/>
                  </a:lnTo>
                  <a:lnTo>
                    <a:pt x="2606341" y="81113"/>
                  </a:lnTo>
                  <a:lnTo>
                    <a:pt x="2607744" y="88167"/>
                  </a:lnTo>
                  <a:lnTo>
                    <a:pt x="2609147" y="95221"/>
                  </a:lnTo>
                  <a:lnTo>
                    <a:pt x="2609849" y="102345"/>
                  </a:lnTo>
                  <a:lnTo>
                    <a:pt x="2609850" y="109537"/>
                  </a:lnTo>
                  <a:lnTo>
                    <a:pt x="2609850" y="1614487"/>
                  </a:lnTo>
                  <a:lnTo>
                    <a:pt x="2609849" y="1621679"/>
                  </a:lnTo>
                  <a:lnTo>
                    <a:pt x="2609147" y="1628802"/>
                  </a:lnTo>
                  <a:lnTo>
                    <a:pt x="2607744" y="1635856"/>
                  </a:lnTo>
                  <a:lnTo>
                    <a:pt x="2606341" y="1642910"/>
                  </a:lnTo>
                  <a:lnTo>
                    <a:pt x="2604263" y="1649760"/>
                  </a:lnTo>
                  <a:lnTo>
                    <a:pt x="2601511" y="1656405"/>
                  </a:lnTo>
                  <a:lnTo>
                    <a:pt x="2598758" y="1663049"/>
                  </a:lnTo>
                  <a:lnTo>
                    <a:pt x="2572680" y="1697027"/>
                  </a:lnTo>
                  <a:lnTo>
                    <a:pt x="2535585" y="1718438"/>
                  </a:lnTo>
                  <a:lnTo>
                    <a:pt x="2500312" y="1724024"/>
                  </a:lnTo>
                  <a:lnTo>
                    <a:pt x="109537" y="1724024"/>
                  </a:lnTo>
                  <a:lnTo>
                    <a:pt x="67619" y="1715686"/>
                  </a:lnTo>
                  <a:lnTo>
                    <a:pt x="32082" y="1691941"/>
                  </a:lnTo>
                  <a:lnTo>
                    <a:pt x="18460" y="1675342"/>
                  </a:lnTo>
                  <a:lnTo>
                    <a:pt x="14464" y="1669362"/>
                  </a:lnTo>
                  <a:lnTo>
                    <a:pt x="2104" y="1635856"/>
                  </a:lnTo>
                  <a:lnTo>
                    <a:pt x="701" y="1628802"/>
                  </a:lnTo>
                  <a:lnTo>
                    <a:pt x="0" y="1621679"/>
                  </a:lnTo>
                  <a:lnTo>
                    <a:pt x="0" y="1614487"/>
                  </a:lnTo>
                  <a:close/>
                </a:path>
              </a:pathLst>
            </a:custGeom>
            <a:ln w="9524">
              <a:solidFill>
                <a:srgbClr val="E4E8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581399" y="234314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62803" y="342899"/>
                  </a:moveTo>
                  <a:lnTo>
                    <a:pt x="80096" y="342899"/>
                  </a:lnTo>
                  <a:lnTo>
                    <a:pt x="74521" y="342350"/>
                  </a:lnTo>
                  <a:lnTo>
                    <a:pt x="33418" y="325325"/>
                  </a:lnTo>
                  <a:lnTo>
                    <a:pt x="8679" y="295180"/>
                  </a:lnTo>
                  <a:lnTo>
                    <a:pt x="0" y="262803"/>
                  </a:lnTo>
                  <a:lnTo>
                    <a:pt x="0" y="257174"/>
                  </a:lnTo>
                  <a:lnTo>
                    <a:pt x="0" y="80096"/>
                  </a:lnTo>
                  <a:lnTo>
                    <a:pt x="11319" y="42778"/>
                  </a:lnTo>
                  <a:lnTo>
                    <a:pt x="42778" y="11319"/>
                  </a:lnTo>
                  <a:lnTo>
                    <a:pt x="80096" y="0"/>
                  </a:lnTo>
                  <a:lnTo>
                    <a:pt x="262803" y="0"/>
                  </a:lnTo>
                  <a:lnTo>
                    <a:pt x="300121" y="11319"/>
                  </a:lnTo>
                  <a:lnTo>
                    <a:pt x="331579" y="42778"/>
                  </a:lnTo>
                  <a:lnTo>
                    <a:pt x="342899" y="80096"/>
                  </a:lnTo>
                  <a:lnTo>
                    <a:pt x="342899" y="262803"/>
                  </a:lnTo>
                  <a:lnTo>
                    <a:pt x="331579" y="300120"/>
                  </a:lnTo>
                  <a:lnTo>
                    <a:pt x="300121" y="331579"/>
                  </a:lnTo>
                  <a:lnTo>
                    <a:pt x="268378" y="342350"/>
                  </a:lnTo>
                  <a:lnTo>
                    <a:pt x="262803" y="342899"/>
                  </a:lnTo>
                  <a:close/>
                </a:path>
              </a:pathLst>
            </a:custGeom>
            <a:solidFill>
              <a:srgbClr val="F59D0A">
                <a:alpha val="1411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73474" y="2435224"/>
              <a:ext cx="158750" cy="15875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3018184" y="2314530"/>
            <a:ext cx="148590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spc="-25" b="1">
                <a:solidFill>
                  <a:srgbClr val="B5BFD1"/>
                </a:solidFill>
                <a:latin typeface="Arial"/>
                <a:cs typeface="Arial"/>
              </a:rPr>
              <a:t>01</a:t>
            </a:r>
            <a:endParaRPr sz="8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568699" y="2704214"/>
            <a:ext cx="2105660" cy="107315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605"/>
              </a:spcBef>
            </a:pPr>
            <a:r>
              <a:rPr dirty="0" sz="1200" spc="-45" b="1">
                <a:solidFill>
                  <a:srgbClr val="121725"/>
                </a:solidFill>
                <a:latin typeface="Arial"/>
                <a:cs typeface="Arial"/>
              </a:rPr>
              <a:t>Section</a:t>
            </a:r>
            <a:r>
              <a:rPr dirty="0" sz="1200" spc="-5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121725"/>
                </a:solidFill>
                <a:latin typeface="Arial"/>
                <a:cs typeface="Arial"/>
              </a:rPr>
              <a:t>Hero</a:t>
            </a: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5100"/>
              </a:lnSpc>
              <a:spcBef>
                <a:spcPts val="395"/>
              </a:spcBef>
            </a:pP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Titre</a:t>
            </a:r>
            <a:r>
              <a:rPr dirty="0" sz="100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25">
                <a:solidFill>
                  <a:srgbClr val="5C6A81"/>
                </a:solidFill>
                <a:latin typeface="Microsoft Sans Serif"/>
                <a:cs typeface="Microsoft Sans Serif"/>
              </a:rPr>
              <a:t>H</a:t>
            </a:r>
            <a:r>
              <a:rPr dirty="0" sz="1100" spc="-125">
                <a:solidFill>
                  <a:srgbClr val="5C6A81"/>
                </a:solidFill>
                <a:latin typeface="Microsoft Sans Serif"/>
                <a:cs typeface="Microsoft Sans Serif"/>
              </a:rPr>
              <a:t>1,</a:t>
            </a:r>
            <a:r>
              <a:rPr dirty="0" sz="1100" spc="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5">
                <a:solidFill>
                  <a:srgbClr val="5C6A81"/>
                </a:solidFill>
                <a:latin typeface="Microsoft Sans Serif"/>
                <a:cs typeface="Microsoft Sans Serif"/>
              </a:rPr>
              <a:t>sous</a:t>
            </a:r>
            <a:r>
              <a:rPr dirty="0" sz="1100" spc="5">
                <a:solidFill>
                  <a:srgbClr val="5C6A81"/>
                </a:solidFill>
                <a:latin typeface="Microsoft Sans Serif"/>
                <a:cs typeface="Microsoft Sans Serif"/>
              </a:rPr>
              <a:t>-</a:t>
            </a:r>
            <a:r>
              <a:rPr dirty="0" sz="1000" spc="-15">
                <a:solidFill>
                  <a:srgbClr val="5C6A81"/>
                </a:solidFill>
                <a:latin typeface="Microsoft Sans Serif"/>
                <a:cs typeface="Microsoft Sans Serif"/>
              </a:rPr>
              <a:t>titre</a:t>
            </a:r>
            <a:r>
              <a:rPr dirty="0" sz="1100" spc="-15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00" spc="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5">
                <a:solidFill>
                  <a:srgbClr val="5C6A81"/>
                </a:solidFill>
                <a:latin typeface="Microsoft Sans Serif"/>
                <a:cs typeface="Microsoft Sans Serif"/>
              </a:rPr>
              <a:t>image</a:t>
            </a:r>
            <a:r>
              <a:rPr dirty="0" sz="100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illustrative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45">
                <a:solidFill>
                  <a:srgbClr val="5C6A81"/>
                </a:solidFill>
                <a:latin typeface="Microsoft Sans Serif"/>
                <a:cs typeface="Microsoft Sans Serif"/>
              </a:rPr>
              <a:t>(4:3),</a:t>
            </a:r>
            <a:r>
              <a:rPr dirty="0" sz="1100" spc="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70">
                <a:solidFill>
                  <a:srgbClr val="5C6A81"/>
                </a:solidFill>
                <a:latin typeface="Microsoft Sans Serif"/>
                <a:cs typeface="Microsoft Sans Serif"/>
              </a:rPr>
              <a:t>2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boutons d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action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dirty="0" sz="1100" spc="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5">
                <a:solidFill>
                  <a:srgbClr val="5C6A81"/>
                </a:solidFill>
                <a:latin typeface="Microsoft Sans Serif"/>
                <a:cs typeface="Microsoft Sans Serif"/>
              </a:rPr>
              <a:t>Présente</a:t>
            </a:r>
            <a:r>
              <a:rPr dirty="0" sz="100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35">
                <a:solidFill>
                  <a:srgbClr val="5C6A81"/>
                </a:solidFill>
                <a:latin typeface="Microsoft Sans Serif"/>
                <a:cs typeface="Microsoft Sans Serif"/>
              </a:rPr>
              <a:t>la</a:t>
            </a:r>
            <a:r>
              <a:rPr dirty="0" sz="100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5">
                <a:solidFill>
                  <a:srgbClr val="5C6A81"/>
                </a:solidFill>
                <a:latin typeface="Microsoft Sans Serif"/>
                <a:cs typeface="Microsoft Sans Serif"/>
              </a:rPr>
              <a:t>valeur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5">
                <a:solidFill>
                  <a:srgbClr val="5C6A81"/>
                </a:solidFill>
                <a:latin typeface="Microsoft Sans Serif"/>
                <a:cs typeface="Microsoft Sans Serif"/>
              </a:rPr>
              <a:t>en</a:t>
            </a:r>
            <a:r>
              <a:rPr dirty="0" sz="100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70">
                <a:solidFill>
                  <a:srgbClr val="5C6A81"/>
                </a:solidFill>
                <a:latin typeface="Microsoft Sans Serif"/>
                <a:cs typeface="Microsoft Sans Serif"/>
              </a:rPr>
              <a:t>5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5">
                <a:solidFill>
                  <a:srgbClr val="5C6A81"/>
                </a:solidFill>
                <a:latin typeface="Microsoft Sans Serif"/>
                <a:cs typeface="Microsoft Sans Serif"/>
              </a:rPr>
              <a:t>secondes</a:t>
            </a:r>
            <a:r>
              <a:rPr dirty="0" sz="1100" spc="-15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800" spc="-10" b="1">
                <a:solidFill>
                  <a:srgbClr val="B46F08"/>
                </a:solidFill>
                <a:latin typeface="Arial"/>
                <a:cs typeface="Arial"/>
              </a:rPr>
              <a:t>ACCROCHE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462014" y="2170175"/>
            <a:ext cx="5349875" cy="1813560"/>
            <a:chOff x="3462014" y="2170175"/>
            <a:chExt cx="5349875" cy="1813560"/>
          </a:xfrm>
        </p:grpSpPr>
        <p:sp>
          <p:nvSpPr>
            <p:cNvPr id="27" name="object 27"/>
            <p:cNvSpPr/>
            <p:nvPr/>
          </p:nvSpPr>
          <p:spPr>
            <a:xfrm>
              <a:off x="3462014" y="2209799"/>
              <a:ext cx="2534920" cy="28575"/>
            </a:xfrm>
            <a:custGeom>
              <a:avLst/>
              <a:gdLst/>
              <a:ahLst/>
              <a:cxnLst/>
              <a:rect l="l" t="t" r="r" b="b"/>
              <a:pathLst>
                <a:path w="2534920" h="28575">
                  <a:moveTo>
                    <a:pt x="2534294" y="28574"/>
                  </a:moveTo>
                  <a:lnTo>
                    <a:pt x="0" y="28574"/>
                  </a:lnTo>
                  <a:lnTo>
                    <a:pt x="5323" y="23741"/>
                  </a:lnTo>
                  <a:lnTo>
                    <a:pt x="41390" y="4486"/>
                  </a:lnTo>
                  <a:lnTo>
                    <a:pt x="71760" y="0"/>
                  </a:lnTo>
                  <a:lnTo>
                    <a:pt x="2462535" y="0"/>
                  </a:lnTo>
                  <a:lnTo>
                    <a:pt x="2502630" y="7975"/>
                  </a:lnTo>
                  <a:lnTo>
                    <a:pt x="2534294" y="28574"/>
                  </a:lnTo>
                  <a:close/>
                </a:path>
              </a:pathLst>
            </a:custGeom>
            <a:solidFill>
              <a:srgbClr val="F59D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114287" y="2170175"/>
              <a:ext cx="2697480" cy="1813560"/>
            </a:xfrm>
            <a:custGeom>
              <a:avLst/>
              <a:gdLst/>
              <a:ahLst/>
              <a:cxnLst/>
              <a:rect l="l" t="t" r="r" b="b"/>
              <a:pathLst>
                <a:path w="2697479" h="1813560">
                  <a:moveTo>
                    <a:pt x="2697479" y="1813559"/>
                  </a:moveTo>
                  <a:lnTo>
                    <a:pt x="0" y="1813559"/>
                  </a:lnTo>
                  <a:lnTo>
                    <a:pt x="0" y="0"/>
                  </a:lnTo>
                  <a:lnTo>
                    <a:pt x="2697479" y="0"/>
                  </a:lnTo>
                  <a:lnTo>
                    <a:pt x="2697479" y="39623"/>
                  </a:lnTo>
                  <a:lnTo>
                    <a:pt x="153161" y="39623"/>
                  </a:lnTo>
                  <a:lnTo>
                    <a:pt x="142840" y="40122"/>
                  </a:lnTo>
                  <a:lnTo>
                    <a:pt x="103720" y="52009"/>
                  </a:lnTo>
                  <a:lnTo>
                    <a:pt x="72128" y="77962"/>
                  </a:lnTo>
                  <a:lnTo>
                    <a:pt x="52872" y="114029"/>
                  </a:lnTo>
                  <a:lnTo>
                    <a:pt x="48386" y="144398"/>
                  </a:lnTo>
                  <a:lnTo>
                    <a:pt x="48386" y="1649348"/>
                  </a:lnTo>
                  <a:lnTo>
                    <a:pt x="56362" y="1689443"/>
                  </a:lnTo>
                  <a:lnTo>
                    <a:pt x="79074" y="1723435"/>
                  </a:lnTo>
                  <a:lnTo>
                    <a:pt x="113065" y="1746147"/>
                  </a:lnTo>
                  <a:lnTo>
                    <a:pt x="153161" y="1754123"/>
                  </a:lnTo>
                  <a:lnTo>
                    <a:pt x="2697479" y="1754123"/>
                  </a:lnTo>
                  <a:lnTo>
                    <a:pt x="2697479" y="1813559"/>
                  </a:lnTo>
                  <a:close/>
                </a:path>
                <a:path w="2697479" h="1813560">
                  <a:moveTo>
                    <a:pt x="2697479" y="1754123"/>
                  </a:moveTo>
                  <a:lnTo>
                    <a:pt x="2543936" y="1754123"/>
                  </a:lnTo>
                  <a:lnTo>
                    <a:pt x="2554257" y="1753625"/>
                  </a:lnTo>
                  <a:lnTo>
                    <a:pt x="2564380" y="1752129"/>
                  </a:lnTo>
                  <a:lnTo>
                    <a:pt x="2602156" y="1736481"/>
                  </a:lnTo>
                  <a:lnTo>
                    <a:pt x="2631069" y="1707568"/>
                  </a:lnTo>
                  <a:lnTo>
                    <a:pt x="2646717" y="1669792"/>
                  </a:lnTo>
                  <a:lnTo>
                    <a:pt x="2648711" y="1649348"/>
                  </a:lnTo>
                  <a:lnTo>
                    <a:pt x="2648711" y="144398"/>
                  </a:lnTo>
                  <a:lnTo>
                    <a:pt x="2640735" y="104303"/>
                  </a:lnTo>
                  <a:lnTo>
                    <a:pt x="2618023" y="70311"/>
                  </a:lnTo>
                  <a:lnTo>
                    <a:pt x="2584031" y="47599"/>
                  </a:lnTo>
                  <a:lnTo>
                    <a:pt x="2543936" y="39623"/>
                  </a:lnTo>
                  <a:lnTo>
                    <a:pt x="2697479" y="39623"/>
                  </a:lnTo>
                  <a:lnTo>
                    <a:pt x="2697479" y="1754123"/>
                  </a:lnTo>
                  <a:close/>
                </a:path>
              </a:pathLst>
            </a:custGeom>
            <a:solidFill>
              <a:srgbClr val="121725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157911" y="2205037"/>
              <a:ext cx="2609850" cy="1724025"/>
            </a:xfrm>
            <a:custGeom>
              <a:avLst/>
              <a:gdLst/>
              <a:ahLst/>
              <a:cxnLst/>
              <a:rect l="l" t="t" r="r" b="b"/>
              <a:pathLst>
                <a:path w="2609850" h="1724025">
                  <a:moveTo>
                    <a:pt x="2507504" y="1724024"/>
                  </a:moveTo>
                  <a:lnTo>
                    <a:pt x="102345" y="1724024"/>
                  </a:lnTo>
                  <a:lnTo>
                    <a:pt x="95222" y="1723322"/>
                  </a:lnTo>
                  <a:lnTo>
                    <a:pt x="54661" y="1709559"/>
                  </a:lnTo>
                  <a:lnTo>
                    <a:pt x="22456" y="1681322"/>
                  </a:lnTo>
                  <a:lnTo>
                    <a:pt x="3507" y="1642910"/>
                  </a:lnTo>
                  <a:lnTo>
                    <a:pt x="0" y="1621679"/>
                  </a:lnTo>
                  <a:lnTo>
                    <a:pt x="0" y="1614487"/>
                  </a:lnTo>
                  <a:lnTo>
                    <a:pt x="0" y="102344"/>
                  </a:lnTo>
                  <a:lnTo>
                    <a:pt x="11090" y="60973"/>
                  </a:lnTo>
                  <a:lnTo>
                    <a:pt x="37169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2507504" y="0"/>
                  </a:lnTo>
                  <a:lnTo>
                    <a:pt x="2548875" y="11090"/>
                  </a:lnTo>
                  <a:lnTo>
                    <a:pt x="2582852" y="37168"/>
                  </a:lnTo>
                  <a:lnTo>
                    <a:pt x="2604264" y="74263"/>
                  </a:lnTo>
                  <a:lnTo>
                    <a:pt x="2609849" y="102344"/>
                  </a:lnTo>
                  <a:lnTo>
                    <a:pt x="2609849" y="1621679"/>
                  </a:lnTo>
                  <a:lnTo>
                    <a:pt x="2598759" y="1663049"/>
                  </a:lnTo>
                  <a:lnTo>
                    <a:pt x="2572681" y="1697026"/>
                  </a:lnTo>
                  <a:lnTo>
                    <a:pt x="2535585" y="1718438"/>
                  </a:lnTo>
                  <a:lnTo>
                    <a:pt x="2514627" y="1723322"/>
                  </a:lnTo>
                  <a:lnTo>
                    <a:pt x="2507504" y="1724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157911" y="2205037"/>
              <a:ext cx="2609850" cy="1724025"/>
            </a:xfrm>
            <a:custGeom>
              <a:avLst/>
              <a:gdLst/>
              <a:ahLst/>
              <a:cxnLst/>
              <a:rect l="l" t="t" r="r" b="b"/>
              <a:pathLst>
                <a:path w="2609850" h="1724025">
                  <a:moveTo>
                    <a:pt x="0" y="16144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9"/>
                  </a:lnTo>
                  <a:lnTo>
                    <a:pt x="11090" y="60973"/>
                  </a:lnTo>
                  <a:lnTo>
                    <a:pt x="14464" y="54661"/>
                  </a:lnTo>
                  <a:lnTo>
                    <a:pt x="42702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95222" y="701"/>
                  </a:lnTo>
                  <a:lnTo>
                    <a:pt x="109538" y="0"/>
                  </a:lnTo>
                  <a:lnTo>
                    <a:pt x="2500312" y="0"/>
                  </a:lnTo>
                  <a:lnTo>
                    <a:pt x="2507504" y="0"/>
                  </a:lnTo>
                  <a:lnTo>
                    <a:pt x="2514627" y="701"/>
                  </a:lnTo>
                  <a:lnTo>
                    <a:pt x="2521681" y="2104"/>
                  </a:lnTo>
                  <a:lnTo>
                    <a:pt x="2528735" y="3507"/>
                  </a:lnTo>
                  <a:lnTo>
                    <a:pt x="2561168" y="18460"/>
                  </a:lnTo>
                  <a:lnTo>
                    <a:pt x="2567148" y="22456"/>
                  </a:lnTo>
                  <a:lnTo>
                    <a:pt x="2591389" y="48681"/>
                  </a:lnTo>
                  <a:lnTo>
                    <a:pt x="2595384" y="54661"/>
                  </a:lnTo>
                  <a:lnTo>
                    <a:pt x="2609148" y="95221"/>
                  </a:lnTo>
                  <a:lnTo>
                    <a:pt x="2609850" y="109537"/>
                  </a:lnTo>
                  <a:lnTo>
                    <a:pt x="2609850" y="1614487"/>
                  </a:lnTo>
                  <a:lnTo>
                    <a:pt x="2609849" y="1621679"/>
                  </a:lnTo>
                  <a:lnTo>
                    <a:pt x="2609148" y="1628802"/>
                  </a:lnTo>
                  <a:lnTo>
                    <a:pt x="2607744" y="1635856"/>
                  </a:lnTo>
                  <a:lnTo>
                    <a:pt x="2606341" y="1642910"/>
                  </a:lnTo>
                  <a:lnTo>
                    <a:pt x="2587393" y="1681322"/>
                  </a:lnTo>
                  <a:lnTo>
                    <a:pt x="2555188" y="1709559"/>
                  </a:lnTo>
                  <a:lnTo>
                    <a:pt x="2521681" y="1721919"/>
                  </a:lnTo>
                  <a:lnTo>
                    <a:pt x="2514627" y="1723322"/>
                  </a:lnTo>
                  <a:lnTo>
                    <a:pt x="2507504" y="1724024"/>
                  </a:lnTo>
                  <a:lnTo>
                    <a:pt x="2500312" y="1724024"/>
                  </a:lnTo>
                  <a:lnTo>
                    <a:pt x="109538" y="1724024"/>
                  </a:lnTo>
                  <a:lnTo>
                    <a:pt x="67619" y="1715686"/>
                  </a:lnTo>
                  <a:lnTo>
                    <a:pt x="32082" y="1691941"/>
                  </a:lnTo>
                  <a:lnTo>
                    <a:pt x="8337" y="1656405"/>
                  </a:lnTo>
                  <a:lnTo>
                    <a:pt x="5585" y="1649760"/>
                  </a:lnTo>
                  <a:lnTo>
                    <a:pt x="3507" y="1642910"/>
                  </a:lnTo>
                  <a:lnTo>
                    <a:pt x="2104" y="1635856"/>
                  </a:lnTo>
                  <a:lnTo>
                    <a:pt x="701" y="1628802"/>
                  </a:lnTo>
                  <a:lnTo>
                    <a:pt x="0" y="1621679"/>
                  </a:lnTo>
                  <a:lnTo>
                    <a:pt x="0" y="1614487"/>
                  </a:lnTo>
                  <a:close/>
                </a:path>
              </a:pathLst>
            </a:custGeom>
            <a:ln w="9524">
              <a:solidFill>
                <a:srgbClr val="E4E8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315074" y="234314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62803" y="342899"/>
                  </a:moveTo>
                  <a:lnTo>
                    <a:pt x="80095" y="342899"/>
                  </a:lnTo>
                  <a:lnTo>
                    <a:pt x="74521" y="342350"/>
                  </a:lnTo>
                  <a:lnTo>
                    <a:pt x="33417" y="325325"/>
                  </a:lnTo>
                  <a:lnTo>
                    <a:pt x="8678" y="295180"/>
                  </a:lnTo>
                  <a:lnTo>
                    <a:pt x="0" y="262803"/>
                  </a:lnTo>
                  <a:lnTo>
                    <a:pt x="0" y="257174"/>
                  </a:lnTo>
                  <a:lnTo>
                    <a:pt x="0" y="80096"/>
                  </a:lnTo>
                  <a:lnTo>
                    <a:pt x="11319" y="42778"/>
                  </a:lnTo>
                  <a:lnTo>
                    <a:pt x="42778" y="11319"/>
                  </a:lnTo>
                  <a:lnTo>
                    <a:pt x="80095" y="0"/>
                  </a:lnTo>
                  <a:lnTo>
                    <a:pt x="262803" y="0"/>
                  </a:lnTo>
                  <a:lnTo>
                    <a:pt x="300120" y="11319"/>
                  </a:lnTo>
                  <a:lnTo>
                    <a:pt x="331578" y="42778"/>
                  </a:lnTo>
                  <a:lnTo>
                    <a:pt x="342899" y="80096"/>
                  </a:lnTo>
                  <a:lnTo>
                    <a:pt x="342899" y="262803"/>
                  </a:lnTo>
                  <a:lnTo>
                    <a:pt x="331578" y="300120"/>
                  </a:lnTo>
                  <a:lnTo>
                    <a:pt x="300120" y="331579"/>
                  </a:lnTo>
                  <a:lnTo>
                    <a:pt x="268377" y="342350"/>
                  </a:lnTo>
                  <a:lnTo>
                    <a:pt x="262803" y="342899"/>
                  </a:lnTo>
                  <a:close/>
                </a:path>
              </a:pathLst>
            </a:custGeom>
            <a:solidFill>
              <a:srgbClr val="0E9E6E">
                <a:alpha val="1411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07149" y="2441574"/>
              <a:ext cx="158750" cy="146050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5731321" y="2314530"/>
            <a:ext cx="17208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spc="65" b="1">
                <a:solidFill>
                  <a:srgbClr val="B5BFD1"/>
                </a:solidFill>
                <a:latin typeface="Arial"/>
                <a:cs typeface="Arial"/>
              </a:rPr>
              <a:t>02</a:t>
            </a:r>
            <a:endParaRPr sz="8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302375" y="2704214"/>
            <a:ext cx="1845945" cy="107315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200" spc="-60" b="1">
                <a:solidFill>
                  <a:srgbClr val="121725"/>
                </a:solidFill>
                <a:latin typeface="Arial"/>
                <a:cs typeface="Arial"/>
              </a:rPr>
              <a:t>Bande</a:t>
            </a:r>
            <a:r>
              <a:rPr dirty="0" sz="1200" spc="-10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200" spc="-30" b="1">
                <a:solidFill>
                  <a:srgbClr val="121725"/>
                </a:solidFill>
                <a:latin typeface="Arial"/>
                <a:cs typeface="Arial"/>
              </a:rPr>
              <a:t>de</a:t>
            </a:r>
            <a:r>
              <a:rPr dirty="0" sz="1200" spc="-10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21725"/>
                </a:solidFill>
                <a:latin typeface="Arial"/>
                <a:cs typeface="Arial"/>
              </a:rPr>
              <a:t>statistiques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9800"/>
              </a:lnSpc>
              <a:spcBef>
                <a:spcPts val="330"/>
              </a:spcBef>
            </a:pP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3</a:t>
            </a:r>
            <a:r>
              <a:rPr dirty="0" sz="110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chiffres</a:t>
            </a:r>
            <a:r>
              <a:rPr dirty="0" sz="100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clés</a:t>
            </a:r>
            <a:r>
              <a:rPr dirty="0" sz="100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animés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au</a:t>
            </a:r>
            <a:r>
              <a:rPr dirty="0" sz="1000" spc="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scroll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.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Crédibilise</a:t>
            </a:r>
            <a:r>
              <a:rPr dirty="0" sz="100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la</a:t>
            </a:r>
            <a:r>
              <a:rPr dirty="0" sz="100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plateforme</a:t>
            </a:r>
            <a:r>
              <a:rPr dirty="0" sz="100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par</a:t>
            </a:r>
            <a:r>
              <a:rPr dirty="0" sz="100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5">
                <a:solidFill>
                  <a:srgbClr val="5C6A81"/>
                </a:solidFill>
                <a:latin typeface="Microsoft Sans Serif"/>
                <a:cs typeface="Microsoft Sans Serif"/>
              </a:rPr>
              <a:t>des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indicateurs</a:t>
            </a:r>
            <a:r>
              <a:rPr dirty="0" sz="1000" spc="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quantitatifs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800" b="1">
                <a:solidFill>
                  <a:srgbClr val="0E9E6E"/>
                </a:solidFill>
                <a:latin typeface="Arial"/>
                <a:cs typeface="Arial"/>
              </a:rPr>
              <a:t>PREUVE</a:t>
            </a:r>
            <a:r>
              <a:rPr dirty="0" sz="800" spc="130" b="1">
                <a:solidFill>
                  <a:srgbClr val="0E9E6E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0E9E6E"/>
                </a:solidFill>
                <a:latin typeface="Arial"/>
                <a:cs typeface="Arial"/>
              </a:rPr>
              <a:t>SOCIALE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195689" y="2170175"/>
            <a:ext cx="5350510" cy="1813560"/>
            <a:chOff x="6195689" y="2170175"/>
            <a:chExt cx="5350510" cy="1813560"/>
          </a:xfrm>
        </p:grpSpPr>
        <p:sp>
          <p:nvSpPr>
            <p:cNvPr id="36" name="object 36"/>
            <p:cNvSpPr/>
            <p:nvPr/>
          </p:nvSpPr>
          <p:spPr>
            <a:xfrm>
              <a:off x="6195689" y="2209799"/>
              <a:ext cx="2534920" cy="28575"/>
            </a:xfrm>
            <a:custGeom>
              <a:avLst/>
              <a:gdLst/>
              <a:ahLst/>
              <a:cxnLst/>
              <a:rect l="l" t="t" r="r" b="b"/>
              <a:pathLst>
                <a:path w="2534920" h="28575">
                  <a:moveTo>
                    <a:pt x="2534294" y="28574"/>
                  </a:moveTo>
                  <a:lnTo>
                    <a:pt x="0" y="28574"/>
                  </a:lnTo>
                  <a:lnTo>
                    <a:pt x="5323" y="23741"/>
                  </a:lnTo>
                  <a:lnTo>
                    <a:pt x="41390" y="4486"/>
                  </a:lnTo>
                  <a:lnTo>
                    <a:pt x="71760" y="0"/>
                  </a:lnTo>
                  <a:lnTo>
                    <a:pt x="2462535" y="0"/>
                  </a:lnTo>
                  <a:lnTo>
                    <a:pt x="2502629" y="7975"/>
                  </a:lnTo>
                  <a:lnTo>
                    <a:pt x="2534294" y="28574"/>
                  </a:lnTo>
                  <a:close/>
                </a:path>
              </a:pathLst>
            </a:custGeom>
            <a:solidFill>
              <a:srgbClr val="0E9E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8848343" y="2170175"/>
              <a:ext cx="2697480" cy="1813560"/>
            </a:xfrm>
            <a:custGeom>
              <a:avLst/>
              <a:gdLst/>
              <a:ahLst/>
              <a:cxnLst/>
              <a:rect l="l" t="t" r="r" b="b"/>
              <a:pathLst>
                <a:path w="2697479" h="1813560">
                  <a:moveTo>
                    <a:pt x="2697479" y="1813559"/>
                  </a:moveTo>
                  <a:lnTo>
                    <a:pt x="0" y="1813559"/>
                  </a:lnTo>
                  <a:lnTo>
                    <a:pt x="0" y="0"/>
                  </a:lnTo>
                  <a:lnTo>
                    <a:pt x="2697479" y="0"/>
                  </a:lnTo>
                  <a:lnTo>
                    <a:pt x="2697479" y="39623"/>
                  </a:lnTo>
                  <a:lnTo>
                    <a:pt x="152780" y="39623"/>
                  </a:lnTo>
                  <a:lnTo>
                    <a:pt x="142459" y="40122"/>
                  </a:lnTo>
                  <a:lnTo>
                    <a:pt x="103339" y="52009"/>
                  </a:lnTo>
                  <a:lnTo>
                    <a:pt x="71747" y="77962"/>
                  </a:lnTo>
                  <a:lnTo>
                    <a:pt x="52491" y="114029"/>
                  </a:lnTo>
                  <a:lnTo>
                    <a:pt x="48005" y="144398"/>
                  </a:lnTo>
                  <a:lnTo>
                    <a:pt x="48005" y="1649348"/>
                  </a:lnTo>
                  <a:lnTo>
                    <a:pt x="55981" y="1689443"/>
                  </a:lnTo>
                  <a:lnTo>
                    <a:pt x="78693" y="1723435"/>
                  </a:lnTo>
                  <a:lnTo>
                    <a:pt x="112685" y="1746147"/>
                  </a:lnTo>
                  <a:lnTo>
                    <a:pt x="152780" y="1754123"/>
                  </a:lnTo>
                  <a:lnTo>
                    <a:pt x="2697479" y="1754123"/>
                  </a:lnTo>
                  <a:lnTo>
                    <a:pt x="2697479" y="1813559"/>
                  </a:lnTo>
                  <a:close/>
                </a:path>
                <a:path w="2697479" h="1813560">
                  <a:moveTo>
                    <a:pt x="2697479" y="1754123"/>
                  </a:moveTo>
                  <a:lnTo>
                    <a:pt x="2543555" y="1754123"/>
                  </a:lnTo>
                  <a:lnTo>
                    <a:pt x="2553876" y="1753625"/>
                  </a:lnTo>
                  <a:lnTo>
                    <a:pt x="2563999" y="1752129"/>
                  </a:lnTo>
                  <a:lnTo>
                    <a:pt x="2601775" y="1736481"/>
                  </a:lnTo>
                  <a:lnTo>
                    <a:pt x="2630687" y="1707568"/>
                  </a:lnTo>
                  <a:lnTo>
                    <a:pt x="2646335" y="1669792"/>
                  </a:lnTo>
                  <a:lnTo>
                    <a:pt x="2648330" y="1649348"/>
                  </a:lnTo>
                  <a:lnTo>
                    <a:pt x="2648330" y="144398"/>
                  </a:lnTo>
                  <a:lnTo>
                    <a:pt x="2640353" y="104303"/>
                  </a:lnTo>
                  <a:lnTo>
                    <a:pt x="2617641" y="70311"/>
                  </a:lnTo>
                  <a:lnTo>
                    <a:pt x="2583650" y="47599"/>
                  </a:lnTo>
                  <a:lnTo>
                    <a:pt x="2543555" y="39623"/>
                  </a:lnTo>
                  <a:lnTo>
                    <a:pt x="2697479" y="39623"/>
                  </a:lnTo>
                  <a:lnTo>
                    <a:pt x="2697479" y="1754123"/>
                  </a:lnTo>
                  <a:close/>
                </a:path>
              </a:pathLst>
            </a:custGeom>
            <a:solidFill>
              <a:srgbClr val="121725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8891586" y="2205037"/>
              <a:ext cx="2609850" cy="1724025"/>
            </a:xfrm>
            <a:custGeom>
              <a:avLst/>
              <a:gdLst/>
              <a:ahLst/>
              <a:cxnLst/>
              <a:rect l="l" t="t" r="r" b="b"/>
              <a:pathLst>
                <a:path w="2609850" h="1724025">
                  <a:moveTo>
                    <a:pt x="2507503" y="1724024"/>
                  </a:moveTo>
                  <a:lnTo>
                    <a:pt x="102344" y="1724024"/>
                  </a:lnTo>
                  <a:lnTo>
                    <a:pt x="95220" y="1723322"/>
                  </a:lnTo>
                  <a:lnTo>
                    <a:pt x="54661" y="1709559"/>
                  </a:lnTo>
                  <a:lnTo>
                    <a:pt x="22454" y="1681322"/>
                  </a:lnTo>
                  <a:lnTo>
                    <a:pt x="3507" y="1642910"/>
                  </a:lnTo>
                  <a:lnTo>
                    <a:pt x="0" y="1621679"/>
                  </a:lnTo>
                  <a:lnTo>
                    <a:pt x="0" y="1614487"/>
                  </a:lnTo>
                  <a:lnTo>
                    <a:pt x="0" y="102344"/>
                  </a:lnTo>
                  <a:lnTo>
                    <a:pt x="11089" y="60973"/>
                  </a:lnTo>
                  <a:lnTo>
                    <a:pt x="37167" y="26996"/>
                  </a:lnTo>
                  <a:lnTo>
                    <a:pt x="74262" y="5585"/>
                  </a:lnTo>
                  <a:lnTo>
                    <a:pt x="102344" y="0"/>
                  </a:lnTo>
                  <a:lnTo>
                    <a:pt x="2507503" y="0"/>
                  </a:lnTo>
                  <a:lnTo>
                    <a:pt x="2548874" y="11090"/>
                  </a:lnTo>
                  <a:lnTo>
                    <a:pt x="2582852" y="37168"/>
                  </a:lnTo>
                  <a:lnTo>
                    <a:pt x="2604262" y="74263"/>
                  </a:lnTo>
                  <a:lnTo>
                    <a:pt x="2609848" y="102344"/>
                  </a:lnTo>
                  <a:lnTo>
                    <a:pt x="2609848" y="1621679"/>
                  </a:lnTo>
                  <a:lnTo>
                    <a:pt x="2598758" y="1663049"/>
                  </a:lnTo>
                  <a:lnTo>
                    <a:pt x="2572681" y="1697026"/>
                  </a:lnTo>
                  <a:lnTo>
                    <a:pt x="2535584" y="1718438"/>
                  </a:lnTo>
                  <a:lnTo>
                    <a:pt x="2514627" y="1723322"/>
                  </a:lnTo>
                  <a:lnTo>
                    <a:pt x="2507503" y="1724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8891586" y="2205037"/>
              <a:ext cx="2609850" cy="1724025"/>
            </a:xfrm>
            <a:custGeom>
              <a:avLst/>
              <a:gdLst/>
              <a:ahLst/>
              <a:cxnLst/>
              <a:rect l="l" t="t" r="r" b="b"/>
              <a:pathLst>
                <a:path w="2609850" h="1724025">
                  <a:moveTo>
                    <a:pt x="0" y="16144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14463" y="54661"/>
                  </a:lnTo>
                  <a:lnTo>
                    <a:pt x="18459" y="48681"/>
                  </a:lnTo>
                  <a:lnTo>
                    <a:pt x="22454" y="42701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7" y="26996"/>
                  </a:lnTo>
                  <a:lnTo>
                    <a:pt x="42700" y="22456"/>
                  </a:lnTo>
                  <a:lnTo>
                    <a:pt x="48680" y="18460"/>
                  </a:lnTo>
                  <a:lnTo>
                    <a:pt x="54661" y="14464"/>
                  </a:lnTo>
                  <a:lnTo>
                    <a:pt x="88166" y="2104"/>
                  </a:lnTo>
                  <a:lnTo>
                    <a:pt x="95220" y="701"/>
                  </a:lnTo>
                  <a:lnTo>
                    <a:pt x="102344" y="0"/>
                  </a:lnTo>
                  <a:lnTo>
                    <a:pt x="109537" y="0"/>
                  </a:lnTo>
                  <a:lnTo>
                    <a:pt x="2500312" y="0"/>
                  </a:lnTo>
                  <a:lnTo>
                    <a:pt x="2507503" y="0"/>
                  </a:lnTo>
                  <a:lnTo>
                    <a:pt x="2514627" y="701"/>
                  </a:lnTo>
                  <a:lnTo>
                    <a:pt x="2521681" y="2104"/>
                  </a:lnTo>
                  <a:lnTo>
                    <a:pt x="2528736" y="3507"/>
                  </a:lnTo>
                  <a:lnTo>
                    <a:pt x="2561167" y="18460"/>
                  </a:lnTo>
                  <a:lnTo>
                    <a:pt x="2567147" y="22456"/>
                  </a:lnTo>
                  <a:lnTo>
                    <a:pt x="2572681" y="26996"/>
                  </a:lnTo>
                  <a:lnTo>
                    <a:pt x="2577766" y="32082"/>
                  </a:lnTo>
                  <a:lnTo>
                    <a:pt x="2582852" y="37168"/>
                  </a:lnTo>
                  <a:lnTo>
                    <a:pt x="2601510" y="67619"/>
                  </a:lnTo>
                  <a:lnTo>
                    <a:pt x="2604262" y="74263"/>
                  </a:lnTo>
                  <a:lnTo>
                    <a:pt x="2606340" y="81113"/>
                  </a:lnTo>
                  <a:lnTo>
                    <a:pt x="2607744" y="88167"/>
                  </a:lnTo>
                  <a:lnTo>
                    <a:pt x="2609147" y="95221"/>
                  </a:lnTo>
                  <a:lnTo>
                    <a:pt x="2609848" y="102345"/>
                  </a:lnTo>
                  <a:lnTo>
                    <a:pt x="2609849" y="109537"/>
                  </a:lnTo>
                  <a:lnTo>
                    <a:pt x="2609849" y="1614487"/>
                  </a:lnTo>
                  <a:lnTo>
                    <a:pt x="2609848" y="1621679"/>
                  </a:lnTo>
                  <a:lnTo>
                    <a:pt x="2609147" y="1628802"/>
                  </a:lnTo>
                  <a:lnTo>
                    <a:pt x="2607744" y="1635856"/>
                  </a:lnTo>
                  <a:lnTo>
                    <a:pt x="2606340" y="1642910"/>
                  </a:lnTo>
                  <a:lnTo>
                    <a:pt x="2587392" y="1681322"/>
                  </a:lnTo>
                  <a:lnTo>
                    <a:pt x="2555188" y="1709559"/>
                  </a:lnTo>
                  <a:lnTo>
                    <a:pt x="2542229" y="1715686"/>
                  </a:lnTo>
                  <a:lnTo>
                    <a:pt x="2535584" y="1718438"/>
                  </a:lnTo>
                  <a:lnTo>
                    <a:pt x="2500312" y="1724024"/>
                  </a:lnTo>
                  <a:lnTo>
                    <a:pt x="109537" y="1724024"/>
                  </a:lnTo>
                  <a:lnTo>
                    <a:pt x="67617" y="1715686"/>
                  </a:lnTo>
                  <a:lnTo>
                    <a:pt x="32082" y="1691941"/>
                  </a:lnTo>
                  <a:lnTo>
                    <a:pt x="26996" y="1686855"/>
                  </a:lnTo>
                  <a:lnTo>
                    <a:pt x="22454" y="1681322"/>
                  </a:lnTo>
                  <a:lnTo>
                    <a:pt x="18459" y="1675342"/>
                  </a:lnTo>
                  <a:lnTo>
                    <a:pt x="14463" y="1669362"/>
                  </a:lnTo>
                  <a:lnTo>
                    <a:pt x="701" y="1628802"/>
                  </a:lnTo>
                  <a:lnTo>
                    <a:pt x="0" y="1621679"/>
                  </a:lnTo>
                  <a:lnTo>
                    <a:pt x="0" y="1614487"/>
                  </a:lnTo>
                  <a:close/>
                </a:path>
              </a:pathLst>
            </a:custGeom>
            <a:ln w="9524">
              <a:solidFill>
                <a:srgbClr val="E4E8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9048748" y="234314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62804" y="342899"/>
                  </a:moveTo>
                  <a:lnTo>
                    <a:pt x="80096" y="342899"/>
                  </a:lnTo>
                  <a:lnTo>
                    <a:pt x="74521" y="342350"/>
                  </a:lnTo>
                  <a:lnTo>
                    <a:pt x="33418" y="325325"/>
                  </a:lnTo>
                  <a:lnTo>
                    <a:pt x="8679" y="295180"/>
                  </a:lnTo>
                  <a:lnTo>
                    <a:pt x="0" y="262803"/>
                  </a:lnTo>
                  <a:lnTo>
                    <a:pt x="0" y="257174"/>
                  </a:lnTo>
                  <a:lnTo>
                    <a:pt x="0" y="80096"/>
                  </a:lnTo>
                  <a:lnTo>
                    <a:pt x="11319" y="42778"/>
                  </a:lnTo>
                  <a:lnTo>
                    <a:pt x="42778" y="11319"/>
                  </a:lnTo>
                  <a:lnTo>
                    <a:pt x="80096" y="0"/>
                  </a:lnTo>
                  <a:lnTo>
                    <a:pt x="262804" y="0"/>
                  </a:lnTo>
                  <a:lnTo>
                    <a:pt x="300119" y="11319"/>
                  </a:lnTo>
                  <a:lnTo>
                    <a:pt x="331579" y="42778"/>
                  </a:lnTo>
                  <a:lnTo>
                    <a:pt x="342899" y="80096"/>
                  </a:lnTo>
                  <a:lnTo>
                    <a:pt x="342899" y="262803"/>
                  </a:lnTo>
                  <a:lnTo>
                    <a:pt x="331579" y="300120"/>
                  </a:lnTo>
                  <a:lnTo>
                    <a:pt x="300120" y="331579"/>
                  </a:lnTo>
                  <a:lnTo>
                    <a:pt x="268378" y="342350"/>
                  </a:lnTo>
                  <a:lnTo>
                    <a:pt x="262804" y="342899"/>
                  </a:lnTo>
                  <a:close/>
                </a:path>
              </a:pathLst>
            </a:custGeom>
            <a:solidFill>
              <a:srgbClr val="2453D5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40824" y="2435224"/>
              <a:ext cx="158750" cy="158750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8463060" y="2314530"/>
            <a:ext cx="175260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spc="80" b="1">
                <a:solidFill>
                  <a:srgbClr val="B5BFD1"/>
                </a:solidFill>
                <a:latin typeface="Arial"/>
                <a:cs typeface="Arial"/>
              </a:rPr>
              <a:t>03</a:t>
            </a:r>
            <a:endParaRPr sz="8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036049" y="2704214"/>
            <a:ext cx="2245360" cy="107315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605"/>
              </a:spcBef>
            </a:pPr>
            <a:r>
              <a:rPr dirty="0" sz="1200" spc="-45" b="1">
                <a:solidFill>
                  <a:srgbClr val="121725"/>
                </a:solidFill>
                <a:latin typeface="Arial"/>
                <a:cs typeface="Arial"/>
              </a:rPr>
              <a:t>Grille</a:t>
            </a:r>
            <a:r>
              <a:rPr dirty="0" sz="1200" spc="-9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200" spc="-30" b="1">
                <a:solidFill>
                  <a:srgbClr val="121725"/>
                </a:solidFill>
                <a:latin typeface="Arial"/>
                <a:cs typeface="Arial"/>
              </a:rPr>
              <a:t>de</a:t>
            </a:r>
            <a:r>
              <a:rPr dirty="0" sz="1200" spc="-9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21725"/>
                </a:solidFill>
                <a:latin typeface="Arial"/>
                <a:cs typeface="Arial"/>
              </a:rPr>
              <a:t>cartes</a:t>
            </a: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5100"/>
              </a:lnSpc>
              <a:spcBef>
                <a:spcPts val="395"/>
              </a:spcBef>
            </a:pP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Cartes</a:t>
            </a:r>
            <a:r>
              <a:rPr dirty="0" sz="100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freelances</a:t>
            </a:r>
            <a:r>
              <a:rPr dirty="0" sz="100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(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page</a:t>
            </a:r>
            <a:r>
              <a:rPr dirty="0" sz="100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0">
                <a:solidFill>
                  <a:srgbClr val="5C6A81"/>
                </a:solidFill>
                <a:latin typeface="Microsoft Sans Serif"/>
                <a:cs typeface="Microsoft Sans Serif"/>
              </a:rPr>
              <a:t>Freelances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)</a:t>
            </a:r>
            <a:r>
              <a:rPr dirty="0" sz="110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5">
                <a:solidFill>
                  <a:srgbClr val="5C6A81"/>
                </a:solidFill>
                <a:latin typeface="Microsoft Sans Serif"/>
                <a:cs typeface="Microsoft Sans Serif"/>
              </a:rPr>
              <a:t>ou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cartes</a:t>
            </a:r>
            <a:r>
              <a:rPr dirty="0" sz="100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tarifaires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(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page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0">
                <a:solidFill>
                  <a:srgbClr val="5C6A81"/>
                </a:solidFill>
                <a:latin typeface="Microsoft Sans Serif"/>
                <a:cs typeface="Microsoft Sans Serif"/>
              </a:rPr>
              <a:t>Tarifs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).</a:t>
            </a:r>
            <a:r>
              <a:rPr dirty="0" sz="1100" spc="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Organise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l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information</a:t>
            </a:r>
            <a:r>
              <a:rPr dirty="0" sz="1000" spc="9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visuellement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800" spc="-10" b="1">
                <a:solidFill>
                  <a:srgbClr val="2453D5"/>
                </a:solidFill>
                <a:latin typeface="Arial"/>
                <a:cs typeface="Arial"/>
              </a:rPr>
              <a:t>CONTENU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46175" y="2209799"/>
            <a:ext cx="10817860" cy="3611879"/>
            <a:chOff x="646175" y="2209799"/>
            <a:chExt cx="10817860" cy="3611879"/>
          </a:xfrm>
        </p:grpSpPr>
        <p:sp>
          <p:nvSpPr>
            <p:cNvPr id="45" name="object 45"/>
            <p:cNvSpPr/>
            <p:nvPr/>
          </p:nvSpPr>
          <p:spPr>
            <a:xfrm>
              <a:off x="8929364" y="2209799"/>
              <a:ext cx="2534920" cy="28575"/>
            </a:xfrm>
            <a:custGeom>
              <a:avLst/>
              <a:gdLst/>
              <a:ahLst/>
              <a:cxnLst/>
              <a:rect l="l" t="t" r="r" b="b"/>
              <a:pathLst>
                <a:path w="2534920" h="28575">
                  <a:moveTo>
                    <a:pt x="2534293" y="28574"/>
                  </a:moveTo>
                  <a:lnTo>
                    <a:pt x="0" y="28574"/>
                  </a:lnTo>
                  <a:lnTo>
                    <a:pt x="5323" y="23741"/>
                  </a:lnTo>
                  <a:lnTo>
                    <a:pt x="41390" y="4486"/>
                  </a:lnTo>
                  <a:lnTo>
                    <a:pt x="71760" y="0"/>
                  </a:lnTo>
                  <a:lnTo>
                    <a:pt x="2462535" y="0"/>
                  </a:lnTo>
                  <a:lnTo>
                    <a:pt x="2502629" y="7975"/>
                  </a:lnTo>
                  <a:lnTo>
                    <a:pt x="2534293" y="28574"/>
                  </a:lnTo>
                  <a:close/>
                </a:path>
              </a:pathLst>
            </a:custGeom>
            <a:solidFill>
              <a:srgbClr val="2453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646175" y="4017263"/>
              <a:ext cx="2697480" cy="1804670"/>
            </a:xfrm>
            <a:custGeom>
              <a:avLst/>
              <a:gdLst/>
              <a:ahLst/>
              <a:cxnLst/>
              <a:rect l="l" t="t" r="r" b="b"/>
              <a:pathLst>
                <a:path w="2697479" h="1804670">
                  <a:moveTo>
                    <a:pt x="2697479" y="1804415"/>
                  </a:moveTo>
                  <a:lnTo>
                    <a:pt x="0" y="1804415"/>
                  </a:lnTo>
                  <a:lnTo>
                    <a:pt x="0" y="0"/>
                  </a:lnTo>
                  <a:lnTo>
                    <a:pt x="2697479" y="0"/>
                  </a:lnTo>
                  <a:lnTo>
                    <a:pt x="2697479" y="40385"/>
                  </a:lnTo>
                  <a:lnTo>
                    <a:pt x="153923" y="40385"/>
                  </a:lnTo>
                  <a:lnTo>
                    <a:pt x="143602" y="40884"/>
                  </a:lnTo>
                  <a:lnTo>
                    <a:pt x="104483" y="52771"/>
                  </a:lnTo>
                  <a:lnTo>
                    <a:pt x="72890" y="78724"/>
                  </a:lnTo>
                  <a:lnTo>
                    <a:pt x="53635" y="114791"/>
                  </a:lnTo>
                  <a:lnTo>
                    <a:pt x="49148" y="145160"/>
                  </a:lnTo>
                  <a:lnTo>
                    <a:pt x="49148" y="1640585"/>
                  </a:lnTo>
                  <a:lnTo>
                    <a:pt x="57124" y="1680680"/>
                  </a:lnTo>
                  <a:lnTo>
                    <a:pt x="79836" y="1714672"/>
                  </a:lnTo>
                  <a:lnTo>
                    <a:pt x="113828" y="1737384"/>
                  </a:lnTo>
                  <a:lnTo>
                    <a:pt x="153923" y="1745360"/>
                  </a:lnTo>
                  <a:lnTo>
                    <a:pt x="2697479" y="1745360"/>
                  </a:lnTo>
                  <a:lnTo>
                    <a:pt x="2697479" y="1804415"/>
                  </a:lnTo>
                  <a:close/>
                </a:path>
                <a:path w="2697479" h="1804670">
                  <a:moveTo>
                    <a:pt x="2697479" y="1745360"/>
                  </a:moveTo>
                  <a:lnTo>
                    <a:pt x="2544698" y="1745360"/>
                  </a:lnTo>
                  <a:lnTo>
                    <a:pt x="2555020" y="1744862"/>
                  </a:lnTo>
                  <a:lnTo>
                    <a:pt x="2565143" y="1743366"/>
                  </a:lnTo>
                  <a:lnTo>
                    <a:pt x="2602919" y="1727718"/>
                  </a:lnTo>
                  <a:lnTo>
                    <a:pt x="2631832" y="1698805"/>
                  </a:lnTo>
                  <a:lnTo>
                    <a:pt x="2647479" y="1661029"/>
                  </a:lnTo>
                  <a:lnTo>
                    <a:pt x="2649473" y="1640585"/>
                  </a:lnTo>
                  <a:lnTo>
                    <a:pt x="2649473" y="145160"/>
                  </a:lnTo>
                  <a:lnTo>
                    <a:pt x="2641497" y="105064"/>
                  </a:lnTo>
                  <a:lnTo>
                    <a:pt x="2618785" y="71073"/>
                  </a:lnTo>
                  <a:lnTo>
                    <a:pt x="2584794" y="48361"/>
                  </a:lnTo>
                  <a:lnTo>
                    <a:pt x="2544698" y="40385"/>
                  </a:lnTo>
                  <a:lnTo>
                    <a:pt x="2697479" y="40385"/>
                  </a:lnTo>
                  <a:lnTo>
                    <a:pt x="2697479" y="1745360"/>
                  </a:lnTo>
                  <a:close/>
                </a:path>
              </a:pathLst>
            </a:custGeom>
            <a:solidFill>
              <a:srgbClr val="121725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690562" y="4052887"/>
              <a:ext cx="2609850" cy="1714500"/>
            </a:xfrm>
            <a:custGeom>
              <a:avLst/>
              <a:gdLst/>
              <a:ahLst/>
              <a:cxnLst/>
              <a:rect l="l" t="t" r="r" b="b"/>
              <a:pathLst>
                <a:path w="2609850" h="1714500">
                  <a:moveTo>
                    <a:pt x="2507504" y="1714499"/>
                  </a:moveTo>
                  <a:lnTo>
                    <a:pt x="102345" y="1714499"/>
                  </a:lnTo>
                  <a:lnTo>
                    <a:pt x="95221" y="1713797"/>
                  </a:lnTo>
                  <a:lnTo>
                    <a:pt x="54661" y="1700034"/>
                  </a:lnTo>
                  <a:lnTo>
                    <a:pt x="22456" y="1671797"/>
                  </a:lnTo>
                  <a:lnTo>
                    <a:pt x="3507" y="1633385"/>
                  </a:lnTo>
                  <a:lnTo>
                    <a:pt x="0" y="1612154"/>
                  </a:lnTo>
                  <a:lnTo>
                    <a:pt x="0" y="1604962"/>
                  </a:lnTo>
                  <a:lnTo>
                    <a:pt x="0" y="102345"/>
                  </a:lnTo>
                  <a:lnTo>
                    <a:pt x="11090" y="60973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2507504" y="0"/>
                  </a:lnTo>
                  <a:lnTo>
                    <a:pt x="2548874" y="11089"/>
                  </a:lnTo>
                  <a:lnTo>
                    <a:pt x="2582852" y="37168"/>
                  </a:lnTo>
                  <a:lnTo>
                    <a:pt x="2604263" y="74263"/>
                  </a:lnTo>
                  <a:lnTo>
                    <a:pt x="2609849" y="102345"/>
                  </a:lnTo>
                  <a:lnTo>
                    <a:pt x="2609849" y="1612154"/>
                  </a:lnTo>
                  <a:lnTo>
                    <a:pt x="2598758" y="1653524"/>
                  </a:lnTo>
                  <a:lnTo>
                    <a:pt x="2572680" y="1687502"/>
                  </a:lnTo>
                  <a:lnTo>
                    <a:pt x="2535585" y="1708912"/>
                  </a:lnTo>
                  <a:lnTo>
                    <a:pt x="2514627" y="1713797"/>
                  </a:lnTo>
                  <a:lnTo>
                    <a:pt x="2507504" y="1714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690562" y="4052887"/>
              <a:ext cx="2609850" cy="1714500"/>
            </a:xfrm>
            <a:custGeom>
              <a:avLst/>
              <a:gdLst/>
              <a:ahLst/>
              <a:cxnLst/>
              <a:rect l="l" t="t" r="r" b="b"/>
              <a:pathLst>
                <a:path w="2609850" h="1714500">
                  <a:moveTo>
                    <a:pt x="0" y="160496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8" y="67618"/>
                  </a:lnTo>
                  <a:lnTo>
                    <a:pt x="11090" y="60973"/>
                  </a:lnTo>
                  <a:lnTo>
                    <a:pt x="14464" y="54661"/>
                  </a:lnTo>
                  <a:lnTo>
                    <a:pt x="18460" y="48680"/>
                  </a:lnTo>
                  <a:lnTo>
                    <a:pt x="22456" y="42700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5"/>
                  </a:lnTo>
                  <a:lnTo>
                    <a:pt x="48681" y="18459"/>
                  </a:lnTo>
                  <a:lnTo>
                    <a:pt x="54661" y="14463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2500312" y="0"/>
                  </a:lnTo>
                  <a:lnTo>
                    <a:pt x="2507504" y="0"/>
                  </a:lnTo>
                  <a:lnTo>
                    <a:pt x="2514627" y="701"/>
                  </a:lnTo>
                  <a:lnTo>
                    <a:pt x="2521681" y="2104"/>
                  </a:lnTo>
                  <a:lnTo>
                    <a:pt x="2528735" y="3507"/>
                  </a:lnTo>
                  <a:lnTo>
                    <a:pt x="2561167" y="18459"/>
                  </a:lnTo>
                  <a:lnTo>
                    <a:pt x="2567147" y="22455"/>
                  </a:lnTo>
                  <a:lnTo>
                    <a:pt x="2572680" y="26996"/>
                  </a:lnTo>
                  <a:lnTo>
                    <a:pt x="2577766" y="32082"/>
                  </a:lnTo>
                  <a:lnTo>
                    <a:pt x="2582852" y="37168"/>
                  </a:lnTo>
                  <a:lnTo>
                    <a:pt x="2587393" y="42701"/>
                  </a:lnTo>
                  <a:lnTo>
                    <a:pt x="2591389" y="48681"/>
                  </a:lnTo>
                  <a:lnTo>
                    <a:pt x="2595384" y="54661"/>
                  </a:lnTo>
                  <a:lnTo>
                    <a:pt x="2609147" y="95221"/>
                  </a:lnTo>
                  <a:lnTo>
                    <a:pt x="2609849" y="109537"/>
                  </a:lnTo>
                  <a:lnTo>
                    <a:pt x="2609849" y="1604962"/>
                  </a:lnTo>
                  <a:lnTo>
                    <a:pt x="2609849" y="1612154"/>
                  </a:lnTo>
                  <a:lnTo>
                    <a:pt x="2609147" y="1619277"/>
                  </a:lnTo>
                  <a:lnTo>
                    <a:pt x="2607744" y="1626331"/>
                  </a:lnTo>
                  <a:lnTo>
                    <a:pt x="2606341" y="1633385"/>
                  </a:lnTo>
                  <a:lnTo>
                    <a:pt x="2604263" y="1640235"/>
                  </a:lnTo>
                  <a:lnTo>
                    <a:pt x="2601511" y="1646879"/>
                  </a:lnTo>
                  <a:lnTo>
                    <a:pt x="2598758" y="1653524"/>
                  </a:lnTo>
                  <a:lnTo>
                    <a:pt x="2595384" y="1659836"/>
                  </a:lnTo>
                  <a:lnTo>
                    <a:pt x="2591389" y="1665816"/>
                  </a:lnTo>
                  <a:lnTo>
                    <a:pt x="2587393" y="1671797"/>
                  </a:lnTo>
                  <a:lnTo>
                    <a:pt x="2555187" y="1700034"/>
                  </a:lnTo>
                  <a:lnTo>
                    <a:pt x="2521681" y="1712394"/>
                  </a:lnTo>
                  <a:lnTo>
                    <a:pt x="2514627" y="1713797"/>
                  </a:lnTo>
                  <a:lnTo>
                    <a:pt x="2507504" y="1714499"/>
                  </a:lnTo>
                  <a:lnTo>
                    <a:pt x="2500312" y="1714499"/>
                  </a:lnTo>
                  <a:lnTo>
                    <a:pt x="109537" y="1714499"/>
                  </a:lnTo>
                  <a:lnTo>
                    <a:pt x="67619" y="1706160"/>
                  </a:lnTo>
                  <a:lnTo>
                    <a:pt x="32082" y="1682416"/>
                  </a:lnTo>
                  <a:lnTo>
                    <a:pt x="8338" y="1646879"/>
                  </a:lnTo>
                  <a:lnTo>
                    <a:pt x="5585" y="1640235"/>
                  </a:lnTo>
                  <a:lnTo>
                    <a:pt x="3507" y="1633385"/>
                  </a:lnTo>
                  <a:lnTo>
                    <a:pt x="2104" y="1626331"/>
                  </a:lnTo>
                  <a:lnTo>
                    <a:pt x="701" y="1619277"/>
                  </a:lnTo>
                  <a:lnTo>
                    <a:pt x="0" y="1612154"/>
                  </a:lnTo>
                  <a:lnTo>
                    <a:pt x="0" y="1604962"/>
                  </a:lnTo>
                  <a:close/>
                </a:path>
              </a:pathLst>
            </a:custGeom>
            <a:ln w="9524">
              <a:solidFill>
                <a:srgbClr val="E4E8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847724" y="419099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62803" y="342899"/>
                  </a:moveTo>
                  <a:lnTo>
                    <a:pt x="80096" y="342899"/>
                  </a:lnTo>
                  <a:lnTo>
                    <a:pt x="74521" y="342350"/>
                  </a:lnTo>
                  <a:lnTo>
                    <a:pt x="33418" y="325324"/>
                  </a:lnTo>
                  <a:lnTo>
                    <a:pt x="8679" y="295180"/>
                  </a:lnTo>
                  <a:lnTo>
                    <a:pt x="0" y="262803"/>
                  </a:lnTo>
                  <a:lnTo>
                    <a:pt x="0" y="257174"/>
                  </a:lnTo>
                  <a:lnTo>
                    <a:pt x="0" y="80096"/>
                  </a:lnTo>
                  <a:lnTo>
                    <a:pt x="11319" y="42778"/>
                  </a:lnTo>
                  <a:lnTo>
                    <a:pt x="42778" y="11319"/>
                  </a:lnTo>
                  <a:lnTo>
                    <a:pt x="80096" y="0"/>
                  </a:lnTo>
                  <a:lnTo>
                    <a:pt x="262803" y="0"/>
                  </a:lnTo>
                  <a:lnTo>
                    <a:pt x="300120" y="11319"/>
                  </a:lnTo>
                  <a:lnTo>
                    <a:pt x="331579" y="42778"/>
                  </a:lnTo>
                  <a:lnTo>
                    <a:pt x="342899" y="80096"/>
                  </a:lnTo>
                  <a:lnTo>
                    <a:pt x="342899" y="262803"/>
                  </a:lnTo>
                  <a:lnTo>
                    <a:pt x="331579" y="300120"/>
                  </a:lnTo>
                  <a:lnTo>
                    <a:pt x="300120" y="331579"/>
                  </a:lnTo>
                  <a:lnTo>
                    <a:pt x="268378" y="342350"/>
                  </a:lnTo>
                  <a:lnTo>
                    <a:pt x="262803" y="342899"/>
                  </a:lnTo>
                  <a:close/>
                </a:path>
              </a:pathLst>
            </a:custGeom>
            <a:solidFill>
              <a:srgbClr val="F59D0A">
                <a:alpha val="1411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46149" y="4289424"/>
              <a:ext cx="146050" cy="146050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11193313" y="2314530"/>
            <a:ext cx="179070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spc="90" b="1">
                <a:solidFill>
                  <a:srgbClr val="B5BFD1"/>
                </a:solidFill>
                <a:latin typeface="Arial"/>
                <a:cs typeface="Arial"/>
              </a:rPr>
              <a:t>04</a:t>
            </a:r>
            <a:endParaRPr sz="8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35024" y="4552064"/>
            <a:ext cx="2285365" cy="107315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200" spc="-55" b="1">
                <a:solidFill>
                  <a:srgbClr val="121725"/>
                </a:solidFill>
                <a:latin typeface="Arial"/>
                <a:cs typeface="Arial"/>
              </a:rPr>
              <a:t>Barre</a:t>
            </a:r>
            <a:r>
              <a:rPr dirty="0" sz="1200" spc="-10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200" spc="-30" b="1">
                <a:solidFill>
                  <a:srgbClr val="121725"/>
                </a:solidFill>
                <a:latin typeface="Arial"/>
                <a:cs typeface="Arial"/>
              </a:rPr>
              <a:t>de</a:t>
            </a:r>
            <a:r>
              <a:rPr dirty="0" sz="1200" spc="-10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21725"/>
                </a:solidFill>
                <a:latin typeface="Arial"/>
                <a:cs typeface="Arial"/>
              </a:rPr>
              <a:t>filtres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Boutons</a:t>
            </a:r>
            <a:r>
              <a:rPr dirty="0" sz="100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Tous</a:t>
            </a:r>
            <a:r>
              <a:rPr dirty="0" sz="100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/</a:t>
            </a:r>
            <a:r>
              <a:rPr dirty="0" sz="110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Développement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/</a:t>
            </a:r>
            <a:r>
              <a:rPr dirty="0" sz="110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Design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/</a:t>
            </a:r>
            <a:r>
              <a:rPr dirty="0" sz="110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5">
                <a:solidFill>
                  <a:srgbClr val="5C6A81"/>
                </a:solidFill>
                <a:latin typeface="Microsoft Sans Serif"/>
                <a:cs typeface="Microsoft Sans Serif"/>
              </a:rPr>
              <a:t>Data</a:t>
            </a:r>
            <a:r>
              <a:rPr dirty="0" sz="1100" spc="-25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dirty="0" sz="1100" spc="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Permet</a:t>
            </a:r>
            <a:r>
              <a:rPr dirty="0" sz="10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un</a:t>
            </a:r>
            <a:r>
              <a:rPr dirty="0" sz="1000" spc="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filtrage</a:t>
            </a:r>
            <a:r>
              <a:rPr dirty="0" sz="100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instantané </a:t>
            </a:r>
            <a:r>
              <a:rPr dirty="0" sz="1000" spc="-25">
                <a:solidFill>
                  <a:srgbClr val="5C6A81"/>
                </a:solidFill>
                <a:latin typeface="Microsoft Sans Serif"/>
                <a:cs typeface="Microsoft Sans Serif"/>
              </a:rPr>
              <a:t>par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catégorie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800" spc="-10" b="1">
                <a:solidFill>
                  <a:srgbClr val="B46F08"/>
                </a:solidFill>
                <a:latin typeface="Arial"/>
                <a:cs typeface="Arial"/>
              </a:rPr>
              <a:t>NAVIGATION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728340" y="4017264"/>
            <a:ext cx="5349875" cy="1804670"/>
            <a:chOff x="728340" y="4017264"/>
            <a:chExt cx="5349875" cy="1804670"/>
          </a:xfrm>
        </p:grpSpPr>
        <p:sp>
          <p:nvSpPr>
            <p:cNvPr id="54" name="object 54"/>
            <p:cNvSpPr/>
            <p:nvPr/>
          </p:nvSpPr>
          <p:spPr>
            <a:xfrm>
              <a:off x="728340" y="4057649"/>
              <a:ext cx="2534920" cy="28575"/>
            </a:xfrm>
            <a:custGeom>
              <a:avLst/>
              <a:gdLst/>
              <a:ahLst/>
              <a:cxnLst/>
              <a:rect l="l" t="t" r="r" b="b"/>
              <a:pathLst>
                <a:path w="2534920" h="28575">
                  <a:moveTo>
                    <a:pt x="2534294" y="28574"/>
                  </a:moveTo>
                  <a:lnTo>
                    <a:pt x="0" y="28574"/>
                  </a:lnTo>
                  <a:lnTo>
                    <a:pt x="5323" y="23742"/>
                  </a:lnTo>
                  <a:lnTo>
                    <a:pt x="41390" y="4486"/>
                  </a:lnTo>
                  <a:lnTo>
                    <a:pt x="71759" y="0"/>
                  </a:lnTo>
                  <a:lnTo>
                    <a:pt x="2462534" y="0"/>
                  </a:lnTo>
                  <a:lnTo>
                    <a:pt x="2502629" y="7975"/>
                  </a:lnTo>
                  <a:lnTo>
                    <a:pt x="2534294" y="28574"/>
                  </a:lnTo>
                  <a:close/>
                </a:path>
              </a:pathLst>
            </a:custGeom>
            <a:solidFill>
              <a:srgbClr val="F59D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380231" y="4017264"/>
              <a:ext cx="2697480" cy="1804670"/>
            </a:xfrm>
            <a:custGeom>
              <a:avLst/>
              <a:gdLst/>
              <a:ahLst/>
              <a:cxnLst/>
              <a:rect l="l" t="t" r="r" b="b"/>
              <a:pathLst>
                <a:path w="2697479" h="1804670">
                  <a:moveTo>
                    <a:pt x="2697479" y="1804415"/>
                  </a:moveTo>
                  <a:lnTo>
                    <a:pt x="0" y="1804415"/>
                  </a:lnTo>
                  <a:lnTo>
                    <a:pt x="0" y="0"/>
                  </a:lnTo>
                  <a:lnTo>
                    <a:pt x="2697479" y="0"/>
                  </a:lnTo>
                  <a:lnTo>
                    <a:pt x="2697479" y="40385"/>
                  </a:lnTo>
                  <a:lnTo>
                    <a:pt x="153542" y="40385"/>
                  </a:lnTo>
                  <a:lnTo>
                    <a:pt x="143221" y="40884"/>
                  </a:lnTo>
                  <a:lnTo>
                    <a:pt x="104101" y="52771"/>
                  </a:lnTo>
                  <a:lnTo>
                    <a:pt x="72509" y="78724"/>
                  </a:lnTo>
                  <a:lnTo>
                    <a:pt x="53253" y="114791"/>
                  </a:lnTo>
                  <a:lnTo>
                    <a:pt x="48767" y="145160"/>
                  </a:lnTo>
                  <a:lnTo>
                    <a:pt x="48767" y="1640585"/>
                  </a:lnTo>
                  <a:lnTo>
                    <a:pt x="56742" y="1680680"/>
                  </a:lnTo>
                  <a:lnTo>
                    <a:pt x="79455" y="1714672"/>
                  </a:lnTo>
                  <a:lnTo>
                    <a:pt x="113446" y="1737384"/>
                  </a:lnTo>
                  <a:lnTo>
                    <a:pt x="153542" y="1745360"/>
                  </a:lnTo>
                  <a:lnTo>
                    <a:pt x="2697479" y="1745360"/>
                  </a:lnTo>
                  <a:lnTo>
                    <a:pt x="2697479" y="1804415"/>
                  </a:lnTo>
                  <a:close/>
                </a:path>
                <a:path w="2697479" h="1804670">
                  <a:moveTo>
                    <a:pt x="2697479" y="1745360"/>
                  </a:moveTo>
                  <a:lnTo>
                    <a:pt x="2544317" y="1745360"/>
                  </a:lnTo>
                  <a:lnTo>
                    <a:pt x="2554638" y="1744862"/>
                  </a:lnTo>
                  <a:lnTo>
                    <a:pt x="2564761" y="1743366"/>
                  </a:lnTo>
                  <a:lnTo>
                    <a:pt x="2602537" y="1727718"/>
                  </a:lnTo>
                  <a:lnTo>
                    <a:pt x="2631450" y="1698805"/>
                  </a:lnTo>
                  <a:lnTo>
                    <a:pt x="2647098" y="1661029"/>
                  </a:lnTo>
                  <a:lnTo>
                    <a:pt x="2649092" y="1640585"/>
                  </a:lnTo>
                  <a:lnTo>
                    <a:pt x="2649092" y="145160"/>
                  </a:lnTo>
                  <a:lnTo>
                    <a:pt x="2641116" y="105064"/>
                  </a:lnTo>
                  <a:lnTo>
                    <a:pt x="2618404" y="71073"/>
                  </a:lnTo>
                  <a:lnTo>
                    <a:pt x="2584412" y="48361"/>
                  </a:lnTo>
                  <a:lnTo>
                    <a:pt x="2544317" y="40385"/>
                  </a:lnTo>
                  <a:lnTo>
                    <a:pt x="2697479" y="40385"/>
                  </a:lnTo>
                  <a:lnTo>
                    <a:pt x="2697479" y="1745360"/>
                  </a:lnTo>
                  <a:close/>
                </a:path>
              </a:pathLst>
            </a:custGeom>
            <a:solidFill>
              <a:srgbClr val="121725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3424236" y="4052887"/>
              <a:ext cx="2609850" cy="1714500"/>
            </a:xfrm>
            <a:custGeom>
              <a:avLst/>
              <a:gdLst/>
              <a:ahLst/>
              <a:cxnLst/>
              <a:rect l="l" t="t" r="r" b="b"/>
              <a:pathLst>
                <a:path w="2609850" h="1714500">
                  <a:moveTo>
                    <a:pt x="2507504" y="1714499"/>
                  </a:moveTo>
                  <a:lnTo>
                    <a:pt x="102345" y="1714499"/>
                  </a:lnTo>
                  <a:lnTo>
                    <a:pt x="95222" y="1713797"/>
                  </a:lnTo>
                  <a:lnTo>
                    <a:pt x="54661" y="1700034"/>
                  </a:lnTo>
                  <a:lnTo>
                    <a:pt x="22456" y="1671797"/>
                  </a:lnTo>
                  <a:lnTo>
                    <a:pt x="3507" y="1633385"/>
                  </a:lnTo>
                  <a:lnTo>
                    <a:pt x="0" y="1612154"/>
                  </a:lnTo>
                  <a:lnTo>
                    <a:pt x="0" y="1604962"/>
                  </a:lnTo>
                  <a:lnTo>
                    <a:pt x="0" y="102345"/>
                  </a:lnTo>
                  <a:lnTo>
                    <a:pt x="11090" y="60973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2507504" y="0"/>
                  </a:lnTo>
                  <a:lnTo>
                    <a:pt x="2548874" y="11089"/>
                  </a:lnTo>
                  <a:lnTo>
                    <a:pt x="2582852" y="37168"/>
                  </a:lnTo>
                  <a:lnTo>
                    <a:pt x="2604263" y="74263"/>
                  </a:lnTo>
                  <a:lnTo>
                    <a:pt x="2609849" y="102345"/>
                  </a:lnTo>
                  <a:lnTo>
                    <a:pt x="2609849" y="1612154"/>
                  </a:lnTo>
                  <a:lnTo>
                    <a:pt x="2598758" y="1653524"/>
                  </a:lnTo>
                  <a:lnTo>
                    <a:pt x="2572680" y="1687502"/>
                  </a:lnTo>
                  <a:lnTo>
                    <a:pt x="2535585" y="1708912"/>
                  </a:lnTo>
                  <a:lnTo>
                    <a:pt x="2514627" y="1713797"/>
                  </a:lnTo>
                  <a:lnTo>
                    <a:pt x="2507504" y="1714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424236" y="4052887"/>
              <a:ext cx="2609850" cy="1714500"/>
            </a:xfrm>
            <a:custGeom>
              <a:avLst/>
              <a:gdLst/>
              <a:ahLst/>
              <a:cxnLst/>
              <a:rect l="l" t="t" r="r" b="b"/>
              <a:pathLst>
                <a:path w="2609850" h="1714500">
                  <a:moveTo>
                    <a:pt x="0" y="160496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8"/>
                  </a:lnTo>
                  <a:lnTo>
                    <a:pt x="11090" y="60973"/>
                  </a:lnTo>
                  <a:lnTo>
                    <a:pt x="14464" y="54661"/>
                  </a:lnTo>
                  <a:lnTo>
                    <a:pt x="18460" y="48680"/>
                  </a:lnTo>
                  <a:lnTo>
                    <a:pt x="22456" y="42700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5"/>
                  </a:lnTo>
                  <a:lnTo>
                    <a:pt x="48681" y="18459"/>
                  </a:lnTo>
                  <a:lnTo>
                    <a:pt x="54661" y="14463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2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2500312" y="0"/>
                  </a:lnTo>
                  <a:lnTo>
                    <a:pt x="2507504" y="0"/>
                  </a:lnTo>
                  <a:lnTo>
                    <a:pt x="2514627" y="701"/>
                  </a:lnTo>
                  <a:lnTo>
                    <a:pt x="2521682" y="2104"/>
                  </a:lnTo>
                  <a:lnTo>
                    <a:pt x="2528735" y="3507"/>
                  </a:lnTo>
                  <a:lnTo>
                    <a:pt x="2561167" y="18459"/>
                  </a:lnTo>
                  <a:lnTo>
                    <a:pt x="2567148" y="22455"/>
                  </a:lnTo>
                  <a:lnTo>
                    <a:pt x="2595385" y="54661"/>
                  </a:lnTo>
                  <a:lnTo>
                    <a:pt x="2601511" y="67618"/>
                  </a:lnTo>
                  <a:lnTo>
                    <a:pt x="2604263" y="74263"/>
                  </a:lnTo>
                  <a:lnTo>
                    <a:pt x="2606341" y="81112"/>
                  </a:lnTo>
                  <a:lnTo>
                    <a:pt x="2607744" y="88167"/>
                  </a:lnTo>
                  <a:lnTo>
                    <a:pt x="2609147" y="95221"/>
                  </a:lnTo>
                  <a:lnTo>
                    <a:pt x="2609849" y="102345"/>
                  </a:lnTo>
                  <a:lnTo>
                    <a:pt x="2609850" y="109537"/>
                  </a:lnTo>
                  <a:lnTo>
                    <a:pt x="2609850" y="1604962"/>
                  </a:lnTo>
                  <a:lnTo>
                    <a:pt x="2609849" y="1612154"/>
                  </a:lnTo>
                  <a:lnTo>
                    <a:pt x="2609147" y="1619277"/>
                  </a:lnTo>
                  <a:lnTo>
                    <a:pt x="2607744" y="1626331"/>
                  </a:lnTo>
                  <a:lnTo>
                    <a:pt x="2606341" y="1633385"/>
                  </a:lnTo>
                  <a:lnTo>
                    <a:pt x="2604263" y="1640235"/>
                  </a:lnTo>
                  <a:lnTo>
                    <a:pt x="2601511" y="1646879"/>
                  </a:lnTo>
                  <a:lnTo>
                    <a:pt x="2598758" y="1653524"/>
                  </a:lnTo>
                  <a:lnTo>
                    <a:pt x="2595385" y="1659836"/>
                  </a:lnTo>
                  <a:lnTo>
                    <a:pt x="2591389" y="1665816"/>
                  </a:lnTo>
                  <a:lnTo>
                    <a:pt x="2587393" y="1671797"/>
                  </a:lnTo>
                  <a:lnTo>
                    <a:pt x="2555187" y="1700034"/>
                  </a:lnTo>
                  <a:lnTo>
                    <a:pt x="2514627" y="1713797"/>
                  </a:lnTo>
                  <a:lnTo>
                    <a:pt x="2500312" y="1714499"/>
                  </a:lnTo>
                  <a:lnTo>
                    <a:pt x="109537" y="1714499"/>
                  </a:lnTo>
                  <a:lnTo>
                    <a:pt x="102345" y="1714499"/>
                  </a:lnTo>
                  <a:lnTo>
                    <a:pt x="95222" y="1713797"/>
                  </a:lnTo>
                  <a:lnTo>
                    <a:pt x="88167" y="1712394"/>
                  </a:lnTo>
                  <a:lnTo>
                    <a:pt x="81113" y="1710990"/>
                  </a:lnTo>
                  <a:lnTo>
                    <a:pt x="42701" y="1692043"/>
                  </a:lnTo>
                  <a:lnTo>
                    <a:pt x="14464" y="1659836"/>
                  </a:lnTo>
                  <a:lnTo>
                    <a:pt x="8337" y="1646879"/>
                  </a:lnTo>
                  <a:lnTo>
                    <a:pt x="5585" y="1640235"/>
                  </a:lnTo>
                  <a:lnTo>
                    <a:pt x="3507" y="1633385"/>
                  </a:lnTo>
                  <a:lnTo>
                    <a:pt x="2104" y="1626331"/>
                  </a:lnTo>
                  <a:lnTo>
                    <a:pt x="701" y="1619277"/>
                  </a:lnTo>
                  <a:lnTo>
                    <a:pt x="0" y="1612154"/>
                  </a:lnTo>
                  <a:lnTo>
                    <a:pt x="0" y="1604962"/>
                  </a:lnTo>
                  <a:close/>
                </a:path>
              </a:pathLst>
            </a:custGeom>
            <a:ln w="9524">
              <a:solidFill>
                <a:srgbClr val="E4E8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581399" y="419099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62803" y="342899"/>
                  </a:moveTo>
                  <a:lnTo>
                    <a:pt x="80096" y="342899"/>
                  </a:lnTo>
                  <a:lnTo>
                    <a:pt x="74521" y="342350"/>
                  </a:lnTo>
                  <a:lnTo>
                    <a:pt x="33418" y="325324"/>
                  </a:lnTo>
                  <a:lnTo>
                    <a:pt x="8679" y="295180"/>
                  </a:lnTo>
                  <a:lnTo>
                    <a:pt x="0" y="262803"/>
                  </a:lnTo>
                  <a:lnTo>
                    <a:pt x="0" y="257174"/>
                  </a:lnTo>
                  <a:lnTo>
                    <a:pt x="0" y="80096"/>
                  </a:lnTo>
                  <a:lnTo>
                    <a:pt x="11319" y="42778"/>
                  </a:lnTo>
                  <a:lnTo>
                    <a:pt x="42778" y="11319"/>
                  </a:lnTo>
                  <a:lnTo>
                    <a:pt x="80096" y="0"/>
                  </a:lnTo>
                  <a:lnTo>
                    <a:pt x="262803" y="0"/>
                  </a:lnTo>
                  <a:lnTo>
                    <a:pt x="300121" y="11319"/>
                  </a:lnTo>
                  <a:lnTo>
                    <a:pt x="331579" y="42778"/>
                  </a:lnTo>
                  <a:lnTo>
                    <a:pt x="342899" y="80096"/>
                  </a:lnTo>
                  <a:lnTo>
                    <a:pt x="342899" y="262803"/>
                  </a:lnTo>
                  <a:lnTo>
                    <a:pt x="331579" y="300120"/>
                  </a:lnTo>
                  <a:lnTo>
                    <a:pt x="300121" y="331579"/>
                  </a:lnTo>
                  <a:lnTo>
                    <a:pt x="268378" y="342350"/>
                  </a:lnTo>
                  <a:lnTo>
                    <a:pt x="262803" y="342899"/>
                  </a:lnTo>
                  <a:close/>
                </a:path>
              </a:pathLst>
            </a:custGeom>
            <a:solidFill>
              <a:srgbClr val="0E9E6E">
                <a:alpha val="1411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63949" y="4273550"/>
              <a:ext cx="177800" cy="177800"/>
            </a:xfrm>
            <a:prstGeom prst="rect">
              <a:avLst/>
            </a:prstGeom>
          </p:spPr>
        </p:pic>
      </p:grpSp>
      <p:sp>
        <p:nvSpPr>
          <p:cNvPr id="60" name="object 60"/>
          <p:cNvSpPr txBox="1"/>
          <p:nvPr/>
        </p:nvSpPr>
        <p:spPr>
          <a:xfrm>
            <a:off x="2998092" y="4162380"/>
            <a:ext cx="172720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spc="65" b="1">
                <a:solidFill>
                  <a:srgbClr val="B5BFD1"/>
                </a:solidFill>
                <a:latin typeface="Arial"/>
                <a:cs typeface="Arial"/>
              </a:rPr>
              <a:t>05</a:t>
            </a:r>
            <a:endParaRPr sz="8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568699" y="4552064"/>
            <a:ext cx="2189480" cy="107315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200" spc="-125" b="1">
                <a:solidFill>
                  <a:srgbClr val="121725"/>
                </a:solidFill>
                <a:latin typeface="Arial"/>
                <a:cs typeface="Arial"/>
              </a:rPr>
              <a:t>FAQ</a:t>
            </a:r>
            <a:r>
              <a:rPr dirty="0" sz="1200" spc="-10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200" spc="-40" b="1">
                <a:solidFill>
                  <a:srgbClr val="121725"/>
                </a:solidFill>
                <a:latin typeface="Arial"/>
                <a:cs typeface="Arial"/>
              </a:rPr>
              <a:t>en</a:t>
            </a:r>
            <a:r>
              <a:rPr dirty="0" sz="1200" spc="-7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21725"/>
                </a:solidFill>
                <a:latin typeface="Arial"/>
                <a:cs typeface="Arial"/>
              </a:rPr>
              <a:t>accordéon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5100"/>
              </a:lnSpc>
              <a:spcBef>
                <a:spcPts val="395"/>
              </a:spcBef>
            </a:pP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3</a:t>
            </a:r>
            <a:r>
              <a:rPr dirty="0" sz="110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questions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/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réponses</a:t>
            </a:r>
            <a:r>
              <a:rPr dirty="0" sz="10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dépliables</a:t>
            </a:r>
            <a:r>
              <a:rPr dirty="0" sz="10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sur</a:t>
            </a:r>
            <a:r>
              <a:rPr dirty="0" sz="1000" spc="-25">
                <a:solidFill>
                  <a:srgbClr val="5C6A81"/>
                </a:solidFill>
                <a:latin typeface="Microsoft Sans Serif"/>
                <a:cs typeface="Microsoft Sans Serif"/>
              </a:rPr>
              <a:t> la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page</a:t>
            </a:r>
            <a:r>
              <a:rPr dirty="0" sz="100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Tarifs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dirty="0" sz="110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0">
                <a:solidFill>
                  <a:srgbClr val="5C6A81"/>
                </a:solidFill>
                <a:latin typeface="Microsoft Sans Serif"/>
                <a:cs typeface="Microsoft Sans Serif"/>
              </a:rPr>
              <a:t>Réduit</a:t>
            </a:r>
            <a:r>
              <a:rPr dirty="0" sz="100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les</a:t>
            </a:r>
            <a:r>
              <a:rPr dirty="0" sz="100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frictions décisionnelles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800" spc="-10" b="1">
                <a:solidFill>
                  <a:srgbClr val="0E9E6E"/>
                </a:solidFill>
                <a:latin typeface="Arial"/>
                <a:cs typeface="Arial"/>
              </a:rPr>
              <a:t>SUPPORT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3462014" y="4017264"/>
            <a:ext cx="5349875" cy="1804670"/>
            <a:chOff x="3462014" y="4017264"/>
            <a:chExt cx="5349875" cy="1804670"/>
          </a:xfrm>
        </p:grpSpPr>
        <p:sp>
          <p:nvSpPr>
            <p:cNvPr id="63" name="object 63"/>
            <p:cNvSpPr/>
            <p:nvPr/>
          </p:nvSpPr>
          <p:spPr>
            <a:xfrm>
              <a:off x="3462014" y="4057649"/>
              <a:ext cx="2534920" cy="28575"/>
            </a:xfrm>
            <a:custGeom>
              <a:avLst/>
              <a:gdLst/>
              <a:ahLst/>
              <a:cxnLst/>
              <a:rect l="l" t="t" r="r" b="b"/>
              <a:pathLst>
                <a:path w="2534920" h="28575">
                  <a:moveTo>
                    <a:pt x="2534294" y="28574"/>
                  </a:moveTo>
                  <a:lnTo>
                    <a:pt x="0" y="28574"/>
                  </a:lnTo>
                  <a:lnTo>
                    <a:pt x="5323" y="23742"/>
                  </a:lnTo>
                  <a:lnTo>
                    <a:pt x="41390" y="4486"/>
                  </a:lnTo>
                  <a:lnTo>
                    <a:pt x="71760" y="0"/>
                  </a:lnTo>
                  <a:lnTo>
                    <a:pt x="2462535" y="0"/>
                  </a:lnTo>
                  <a:lnTo>
                    <a:pt x="2502629" y="7975"/>
                  </a:lnTo>
                  <a:lnTo>
                    <a:pt x="2534294" y="28574"/>
                  </a:lnTo>
                  <a:close/>
                </a:path>
              </a:pathLst>
            </a:custGeom>
            <a:solidFill>
              <a:srgbClr val="0E9E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6114287" y="4017264"/>
              <a:ext cx="2697480" cy="1804670"/>
            </a:xfrm>
            <a:custGeom>
              <a:avLst/>
              <a:gdLst/>
              <a:ahLst/>
              <a:cxnLst/>
              <a:rect l="l" t="t" r="r" b="b"/>
              <a:pathLst>
                <a:path w="2697479" h="1804670">
                  <a:moveTo>
                    <a:pt x="2697479" y="1804415"/>
                  </a:moveTo>
                  <a:lnTo>
                    <a:pt x="0" y="1804415"/>
                  </a:lnTo>
                  <a:lnTo>
                    <a:pt x="0" y="0"/>
                  </a:lnTo>
                  <a:lnTo>
                    <a:pt x="2697479" y="0"/>
                  </a:lnTo>
                  <a:lnTo>
                    <a:pt x="2697479" y="40385"/>
                  </a:lnTo>
                  <a:lnTo>
                    <a:pt x="153161" y="40385"/>
                  </a:lnTo>
                  <a:lnTo>
                    <a:pt x="142840" y="40884"/>
                  </a:lnTo>
                  <a:lnTo>
                    <a:pt x="103720" y="52771"/>
                  </a:lnTo>
                  <a:lnTo>
                    <a:pt x="72128" y="78724"/>
                  </a:lnTo>
                  <a:lnTo>
                    <a:pt x="52872" y="114791"/>
                  </a:lnTo>
                  <a:lnTo>
                    <a:pt x="48386" y="145160"/>
                  </a:lnTo>
                  <a:lnTo>
                    <a:pt x="48386" y="1640585"/>
                  </a:lnTo>
                  <a:lnTo>
                    <a:pt x="56362" y="1680680"/>
                  </a:lnTo>
                  <a:lnTo>
                    <a:pt x="79074" y="1714672"/>
                  </a:lnTo>
                  <a:lnTo>
                    <a:pt x="113065" y="1737384"/>
                  </a:lnTo>
                  <a:lnTo>
                    <a:pt x="153161" y="1745360"/>
                  </a:lnTo>
                  <a:lnTo>
                    <a:pt x="2697479" y="1745360"/>
                  </a:lnTo>
                  <a:lnTo>
                    <a:pt x="2697479" y="1804415"/>
                  </a:lnTo>
                  <a:close/>
                </a:path>
                <a:path w="2697479" h="1804670">
                  <a:moveTo>
                    <a:pt x="2697479" y="1745360"/>
                  </a:moveTo>
                  <a:lnTo>
                    <a:pt x="2543936" y="1745360"/>
                  </a:lnTo>
                  <a:lnTo>
                    <a:pt x="2554257" y="1744862"/>
                  </a:lnTo>
                  <a:lnTo>
                    <a:pt x="2564380" y="1743366"/>
                  </a:lnTo>
                  <a:lnTo>
                    <a:pt x="2602156" y="1727718"/>
                  </a:lnTo>
                  <a:lnTo>
                    <a:pt x="2631069" y="1698805"/>
                  </a:lnTo>
                  <a:lnTo>
                    <a:pt x="2646717" y="1661029"/>
                  </a:lnTo>
                  <a:lnTo>
                    <a:pt x="2648711" y="1640585"/>
                  </a:lnTo>
                  <a:lnTo>
                    <a:pt x="2648711" y="145160"/>
                  </a:lnTo>
                  <a:lnTo>
                    <a:pt x="2640735" y="105064"/>
                  </a:lnTo>
                  <a:lnTo>
                    <a:pt x="2618023" y="71073"/>
                  </a:lnTo>
                  <a:lnTo>
                    <a:pt x="2584031" y="48361"/>
                  </a:lnTo>
                  <a:lnTo>
                    <a:pt x="2543936" y="40385"/>
                  </a:lnTo>
                  <a:lnTo>
                    <a:pt x="2697479" y="40385"/>
                  </a:lnTo>
                  <a:lnTo>
                    <a:pt x="2697479" y="1745360"/>
                  </a:lnTo>
                  <a:close/>
                </a:path>
              </a:pathLst>
            </a:custGeom>
            <a:solidFill>
              <a:srgbClr val="121725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6157911" y="4052887"/>
              <a:ext cx="2609850" cy="1714500"/>
            </a:xfrm>
            <a:custGeom>
              <a:avLst/>
              <a:gdLst/>
              <a:ahLst/>
              <a:cxnLst/>
              <a:rect l="l" t="t" r="r" b="b"/>
              <a:pathLst>
                <a:path w="2609850" h="1714500">
                  <a:moveTo>
                    <a:pt x="2507504" y="1714499"/>
                  </a:moveTo>
                  <a:lnTo>
                    <a:pt x="102345" y="1714499"/>
                  </a:lnTo>
                  <a:lnTo>
                    <a:pt x="95222" y="1713797"/>
                  </a:lnTo>
                  <a:lnTo>
                    <a:pt x="54661" y="1700034"/>
                  </a:lnTo>
                  <a:lnTo>
                    <a:pt x="22456" y="1671797"/>
                  </a:lnTo>
                  <a:lnTo>
                    <a:pt x="3507" y="1633385"/>
                  </a:lnTo>
                  <a:lnTo>
                    <a:pt x="0" y="1612154"/>
                  </a:lnTo>
                  <a:lnTo>
                    <a:pt x="0" y="1604962"/>
                  </a:lnTo>
                  <a:lnTo>
                    <a:pt x="0" y="102345"/>
                  </a:lnTo>
                  <a:lnTo>
                    <a:pt x="11090" y="60973"/>
                  </a:lnTo>
                  <a:lnTo>
                    <a:pt x="37169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2507504" y="0"/>
                  </a:lnTo>
                  <a:lnTo>
                    <a:pt x="2548875" y="11089"/>
                  </a:lnTo>
                  <a:lnTo>
                    <a:pt x="2582852" y="37168"/>
                  </a:lnTo>
                  <a:lnTo>
                    <a:pt x="2604264" y="74263"/>
                  </a:lnTo>
                  <a:lnTo>
                    <a:pt x="2609849" y="102345"/>
                  </a:lnTo>
                  <a:lnTo>
                    <a:pt x="2609849" y="1612154"/>
                  </a:lnTo>
                  <a:lnTo>
                    <a:pt x="2598759" y="1653524"/>
                  </a:lnTo>
                  <a:lnTo>
                    <a:pt x="2572681" y="1687502"/>
                  </a:lnTo>
                  <a:lnTo>
                    <a:pt x="2535585" y="1708912"/>
                  </a:lnTo>
                  <a:lnTo>
                    <a:pt x="2514627" y="1713797"/>
                  </a:lnTo>
                  <a:lnTo>
                    <a:pt x="2507504" y="1714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6157911" y="4052887"/>
              <a:ext cx="2609850" cy="1714500"/>
            </a:xfrm>
            <a:custGeom>
              <a:avLst/>
              <a:gdLst/>
              <a:ahLst/>
              <a:cxnLst/>
              <a:rect l="l" t="t" r="r" b="b"/>
              <a:pathLst>
                <a:path w="2609850" h="1714500">
                  <a:moveTo>
                    <a:pt x="0" y="160496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8"/>
                  </a:lnTo>
                  <a:lnTo>
                    <a:pt x="11090" y="60973"/>
                  </a:lnTo>
                  <a:lnTo>
                    <a:pt x="14464" y="54661"/>
                  </a:lnTo>
                  <a:lnTo>
                    <a:pt x="42702" y="22455"/>
                  </a:lnTo>
                  <a:lnTo>
                    <a:pt x="48681" y="18459"/>
                  </a:lnTo>
                  <a:lnTo>
                    <a:pt x="54661" y="14463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2" y="701"/>
                  </a:lnTo>
                  <a:lnTo>
                    <a:pt x="102345" y="0"/>
                  </a:lnTo>
                  <a:lnTo>
                    <a:pt x="109538" y="0"/>
                  </a:lnTo>
                  <a:lnTo>
                    <a:pt x="2500312" y="0"/>
                  </a:lnTo>
                  <a:lnTo>
                    <a:pt x="2507504" y="0"/>
                  </a:lnTo>
                  <a:lnTo>
                    <a:pt x="2514627" y="701"/>
                  </a:lnTo>
                  <a:lnTo>
                    <a:pt x="2521681" y="2104"/>
                  </a:lnTo>
                  <a:lnTo>
                    <a:pt x="2528735" y="3507"/>
                  </a:lnTo>
                  <a:lnTo>
                    <a:pt x="2561168" y="18459"/>
                  </a:lnTo>
                  <a:lnTo>
                    <a:pt x="2567148" y="22455"/>
                  </a:lnTo>
                  <a:lnTo>
                    <a:pt x="2595384" y="54661"/>
                  </a:lnTo>
                  <a:lnTo>
                    <a:pt x="2609148" y="95221"/>
                  </a:lnTo>
                  <a:lnTo>
                    <a:pt x="2609850" y="109537"/>
                  </a:lnTo>
                  <a:lnTo>
                    <a:pt x="2609850" y="1604962"/>
                  </a:lnTo>
                  <a:lnTo>
                    <a:pt x="2609849" y="1612154"/>
                  </a:lnTo>
                  <a:lnTo>
                    <a:pt x="2609148" y="1619277"/>
                  </a:lnTo>
                  <a:lnTo>
                    <a:pt x="2607744" y="1626331"/>
                  </a:lnTo>
                  <a:lnTo>
                    <a:pt x="2606341" y="1633385"/>
                  </a:lnTo>
                  <a:lnTo>
                    <a:pt x="2587393" y="1671797"/>
                  </a:lnTo>
                  <a:lnTo>
                    <a:pt x="2555188" y="1700034"/>
                  </a:lnTo>
                  <a:lnTo>
                    <a:pt x="2521681" y="1712394"/>
                  </a:lnTo>
                  <a:lnTo>
                    <a:pt x="2514627" y="1713797"/>
                  </a:lnTo>
                  <a:lnTo>
                    <a:pt x="2507504" y="1714499"/>
                  </a:lnTo>
                  <a:lnTo>
                    <a:pt x="2500312" y="1714499"/>
                  </a:lnTo>
                  <a:lnTo>
                    <a:pt x="109538" y="1714499"/>
                  </a:lnTo>
                  <a:lnTo>
                    <a:pt x="102345" y="1714499"/>
                  </a:lnTo>
                  <a:lnTo>
                    <a:pt x="95222" y="1713797"/>
                  </a:lnTo>
                  <a:lnTo>
                    <a:pt x="88167" y="1712394"/>
                  </a:lnTo>
                  <a:lnTo>
                    <a:pt x="81113" y="1710990"/>
                  </a:lnTo>
                  <a:lnTo>
                    <a:pt x="42702" y="1692043"/>
                  </a:lnTo>
                  <a:lnTo>
                    <a:pt x="14464" y="1659836"/>
                  </a:lnTo>
                  <a:lnTo>
                    <a:pt x="8337" y="1646879"/>
                  </a:lnTo>
                  <a:lnTo>
                    <a:pt x="5585" y="1640235"/>
                  </a:lnTo>
                  <a:lnTo>
                    <a:pt x="3507" y="1633385"/>
                  </a:lnTo>
                  <a:lnTo>
                    <a:pt x="2104" y="1626331"/>
                  </a:lnTo>
                  <a:lnTo>
                    <a:pt x="701" y="1619277"/>
                  </a:lnTo>
                  <a:lnTo>
                    <a:pt x="0" y="1612154"/>
                  </a:lnTo>
                  <a:lnTo>
                    <a:pt x="0" y="1604962"/>
                  </a:lnTo>
                  <a:close/>
                </a:path>
              </a:pathLst>
            </a:custGeom>
            <a:ln w="9524">
              <a:solidFill>
                <a:srgbClr val="E4E8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6315074" y="419099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62803" y="342899"/>
                  </a:moveTo>
                  <a:lnTo>
                    <a:pt x="80095" y="342899"/>
                  </a:lnTo>
                  <a:lnTo>
                    <a:pt x="74521" y="342350"/>
                  </a:lnTo>
                  <a:lnTo>
                    <a:pt x="33417" y="325324"/>
                  </a:lnTo>
                  <a:lnTo>
                    <a:pt x="8678" y="295180"/>
                  </a:lnTo>
                  <a:lnTo>
                    <a:pt x="0" y="262803"/>
                  </a:lnTo>
                  <a:lnTo>
                    <a:pt x="0" y="257174"/>
                  </a:lnTo>
                  <a:lnTo>
                    <a:pt x="0" y="80096"/>
                  </a:lnTo>
                  <a:lnTo>
                    <a:pt x="11319" y="42778"/>
                  </a:lnTo>
                  <a:lnTo>
                    <a:pt x="42778" y="11319"/>
                  </a:lnTo>
                  <a:lnTo>
                    <a:pt x="80095" y="0"/>
                  </a:lnTo>
                  <a:lnTo>
                    <a:pt x="262803" y="0"/>
                  </a:lnTo>
                  <a:lnTo>
                    <a:pt x="300120" y="11319"/>
                  </a:lnTo>
                  <a:lnTo>
                    <a:pt x="331578" y="42778"/>
                  </a:lnTo>
                  <a:lnTo>
                    <a:pt x="342899" y="80096"/>
                  </a:lnTo>
                  <a:lnTo>
                    <a:pt x="342899" y="262803"/>
                  </a:lnTo>
                  <a:lnTo>
                    <a:pt x="331578" y="300120"/>
                  </a:lnTo>
                  <a:lnTo>
                    <a:pt x="300120" y="331579"/>
                  </a:lnTo>
                  <a:lnTo>
                    <a:pt x="268377" y="342350"/>
                  </a:lnTo>
                  <a:lnTo>
                    <a:pt x="262803" y="342899"/>
                  </a:lnTo>
                  <a:close/>
                </a:path>
              </a:pathLst>
            </a:custGeom>
            <a:solidFill>
              <a:srgbClr val="2453D5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13499" y="4273550"/>
              <a:ext cx="146050" cy="177800"/>
            </a:xfrm>
            <a:prstGeom prst="rect">
              <a:avLst/>
            </a:prstGeom>
          </p:spPr>
        </p:pic>
      </p:grpSp>
      <p:sp>
        <p:nvSpPr>
          <p:cNvPr id="69" name="object 69"/>
          <p:cNvSpPr txBox="1"/>
          <p:nvPr/>
        </p:nvSpPr>
        <p:spPr>
          <a:xfrm>
            <a:off x="5728791" y="4162380"/>
            <a:ext cx="17589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spc="80" b="1">
                <a:solidFill>
                  <a:srgbClr val="B5BFD1"/>
                </a:solidFill>
                <a:latin typeface="Arial"/>
                <a:cs typeface="Arial"/>
              </a:rPr>
              <a:t>06</a:t>
            </a:r>
            <a:endParaRPr sz="85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302375" y="4552064"/>
            <a:ext cx="2319020" cy="107315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200" spc="-55" b="1">
                <a:solidFill>
                  <a:srgbClr val="121725"/>
                </a:solidFill>
                <a:latin typeface="Arial"/>
                <a:cs typeface="Arial"/>
              </a:rPr>
              <a:t>Formulaire</a:t>
            </a:r>
            <a:r>
              <a:rPr dirty="0" sz="1200" spc="-7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200" spc="-30" b="1">
                <a:solidFill>
                  <a:srgbClr val="121725"/>
                </a:solidFill>
                <a:latin typeface="Arial"/>
                <a:cs typeface="Arial"/>
              </a:rPr>
              <a:t>de</a:t>
            </a:r>
            <a:r>
              <a:rPr dirty="0" sz="1200" spc="-6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21725"/>
                </a:solidFill>
                <a:latin typeface="Arial"/>
                <a:cs typeface="Arial"/>
              </a:rPr>
              <a:t>contact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5100"/>
              </a:lnSpc>
              <a:spcBef>
                <a:spcPts val="395"/>
              </a:spcBef>
            </a:pP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4</a:t>
            </a:r>
            <a:r>
              <a:rPr dirty="0" sz="1100" spc="-7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champs</a:t>
            </a:r>
            <a:r>
              <a:rPr dirty="0" sz="1000" spc="-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(</a:t>
            </a:r>
            <a:r>
              <a:rPr dirty="0" sz="1000" spc="-20">
                <a:solidFill>
                  <a:srgbClr val="5C6A81"/>
                </a:solidFill>
                <a:latin typeface="Microsoft Sans Serif"/>
                <a:cs typeface="Microsoft Sans Serif"/>
              </a:rPr>
              <a:t>nom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, </a:t>
            </a:r>
            <a:r>
              <a:rPr dirty="0" sz="1000" spc="-20">
                <a:solidFill>
                  <a:srgbClr val="5C6A81"/>
                </a:solidFill>
                <a:latin typeface="Microsoft Sans Serif"/>
                <a:cs typeface="Microsoft Sans Serif"/>
              </a:rPr>
              <a:t>email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,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sujet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0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message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)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avec</a:t>
            </a:r>
            <a:r>
              <a:rPr dirty="0" sz="100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validation</a:t>
            </a:r>
            <a:r>
              <a:rPr dirty="0" sz="100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Bootstrap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dirty="0" sz="110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Catégorise</a:t>
            </a:r>
            <a:r>
              <a:rPr dirty="0" sz="100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5">
                <a:solidFill>
                  <a:srgbClr val="5C6A81"/>
                </a:solidFill>
                <a:latin typeface="Microsoft Sans Serif"/>
                <a:cs typeface="Microsoft Sans Serif"/>
              </a:rPr>
              <a:t>les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demandes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800" spc="-10" b="1">
                <a:solidFill>
                  <a:srgbClr val="2453D5"/>
                </a:solidFill>
                <a:latin typeface="Arial"/>
                <a:cs typeface="Arial"/>
              </a:rPr>
              <a:t>CONVERSION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6195689" y="4017264"/>
            <a:ext cx="5350510" cy="1804670"/>
            <a:chOff x="6195689" y="4017264"/>
            <a:chExt cx="5350510" cy="1804670"/>
          </a:xfrm>
        </p:grpSpPr>
        <p:sp>
          <p:nvSpPr>
            <p:cNvPr id="72" name="object 72"/>
            <p:cNvSpPr/>
            <p:nvPr/>
          </p:nvSpPr>
          <p:spPr>
            <a:xfrm>
              <a:off x="6195689" y="4057649"/>
              <a:ext cx="2534920" cy="28575"/>
            </a:xfrm>
            <a:custGeom>
              <a:avLst/>
              <a:gdLst/>
              <a:ahLst/>
              <a:cxnLst/>
              <a:rect l="l" t="t" r="r" b="b"/>
              <a:pathLst>
                <a:path w="2534920" h="28575">
                  <a:moveTo>
                    <a:pt x="2534294" y="28574"/>
                  </a:moveTo>
                  <a:lnTo>
                    <a:pt x="0" y="28574"/>
                  </a:lnTo>
                  <a:lnTo>
                    <a:pt x="5323" y="23742"/>
                  </a:lnTo>
                  <a:lnTo>
                    <a:pt x="41390" y="4486"/>
                  </a:lnTo>
                  <a:lnTo>
                    <a:pt x="71760" y="0"/>
                  </a:lnTo>
                  <a:lnTo>
                    <a:pt x="2462535" y="0"/>
                  </a:lnTo>
                  <a:lnTo>
                    <a:pt x="2502629" y="7975"/>
                  </a:lnTo>
                  <a:lnTo>
                    <a:pt x="2534294" y="28574"/>
                  </a:lnTo>
                  <a:close/>
                </a:path>
              </a:pathLst>
            </a:custGeom>
            <a:solidFill>
              <a:srgbClr val="2453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8848343" y="4017264"/>
              <a:ext cx="2697480" cy="1804670"/>
            </a:xfrm>
            <a:custGeom>
              <a:avLst/>
              <a:gdLst/>
              <a:ahLst/>
              <a:cxnLst/>
              <a:rect l="l" t="t" r="r" b="b"/>
              <a:pathLst>
                <a:path w="2697479" h="1804670">
                  <a:moveTo>
                    <a:pt x="2697479" y="1804415"/>
                  </a:moveTo>
                  <a:lnTo>
                    <a:pt x="0" y="1804415"/>
                  </a:lnTo>
                  <a:lnTo>
                    <a:pt x="0" y="0"/>
                  </a:lnTo>
                  <a:lnTo>
                    <a:pt x="2697479" y="0"/>
                  </a:lnTo>
                  <a:lnTo>
                    <a:pt x="2697479" y="40385"/>
                  </a:lnTo>
                  <a:lnTo>
                    <a:pt x="152780" y="40385"/>
                  </a:lnTo>
                  <a:lnTo>
                    <a:pt x="142459" y="40884"/>
                  </a:lnTo>
                  <a:lnTo>
                    <a:pt x="103339" y="52771"/>
                  </a:lnTo>
                  <a:lnTo>
                    <a:pt x="71747" y="78724"/>
                  </a:lnTo>
                  <a:lnTo>
                    <a:pt x="52491" y="114791"/>
                  </a:lnTo>
                  <a:lnTo>
                    <a:pt x="48005" y="145160"/>
                  </a:lnTo>
                  <a:lnTo>
                    <a:pt x="48005" y="1640585"/>
                  </a:lnTo>
                  <a:lnTo>
                    <a:pt x="55981" y="1680680"/>
                  </a:lnTo>
                  <a:lnTo>
                    <a:pt x="78693" y="1714672"/>
                  </a:lnTo>
                  <a:lnTo>
                    <a:pt x="112685" y="1737384"/>
                  </a:lnTo>
                  <a:lnTo>
                    <a:pt x="152780" y="1745360"/>
                  </a:lnTo>
                  <a:lnTo>
                    <a:pt x="2697479" y="1745360"/>
                  </a:lnTo>
                  <a:lnTo>
                    <a:pt x="2697479" y="1804415"/>
                  </a:lnTo>
                  <a:close/>
                </a:path>
                <a:path w="2697479" h="1804670">
                  <a:moveTo>
                    <a:pt x="2697479" y="1745360"/>
                  </a:moveTo>
                  <a:lnTo>
                    <a:pt x="2543555" y="1745360"/>
                  </a:lnTo>
                  <a:lnTo>
                    <a:pt x="2553876" y="1744862"/>
                  </a:lnTo>
                  <a:lnTo>
                    <a:pt x="2563999" y="1743366"/>
                  </a:lnTo>
                  <a:lnTo>
                    <a:pt x="2601775" y="1727718"/>
                  </a:lnTo>
                  <a:lnTo>
                    <a:pt x="2630687" y="1698805"/>
                  </a:lnTo>
                  <a:lnTo>
                    <a:pt x="2646335" y="1661029"/>
                  </a:lnTo>
                  <a:lnTo>
                    <a:pt x="2648330" y="1640585"/>
                  </a:lnTo>
                  <a:lnTo>
                    <a:pt x="2648330" y="145160"/>
                  </a:lnTo>
                  <a:lnTo>
                    <a:pt x="2640353" y="105064"/>
                  </a:lnTo>
                  <a:lnTo>
                    <a:pt x="2617641" y="71073"/>
                  </a:lnTo>
                  <a:lnTo>
                    <a:pt x="2583650" y="48361"/>
                  </a:lnTo>
                  <a:lnTo>
                    <a:pt x="2543555" y="40385"/>
                  </a:lnTo>
                  <a:lnTo>
                    <a:pt x="2697479" y="40385"/>
                  </a:lnTo>
                  <a:lnTo>
                    <a:pt x="2697479" y="1745360"/>
                  </a:lnTo>
                  <a:close/>
                </a:path>
              </a:pathLst>
            </a:custGeom>
            <a:solidFill>
              <a:srgbClr val="121725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8891586" y="4052887"/>
              <a:ext cx="2609850" cy="1714500"/>
            </a:xfrm>
            <a:custGeom>
              <a:avLst/>
              <a:gdLst/>
              <a:ahLst/>
              <a:cxnLst/>
              <a:rect l="l" t="t" r="r" b="b"/>
              <a:pathLst>
                <a:path w="2609850" h="1714500">
                  <a:moveTo>
                    <a:pt x="2507503" y="1714499"/>
                  </a:moveTo>
                  <a:lnTo>
                    <a:pt x="102344" y="1714499"/>
                  </a:lnTo>
                  <a:lnTo>
                    <a:pt x="95220" y="1713797"/>
                  </a:lnTo>
                  <a:lnTo>
                    <a:pt x="54661" y="1700034"/>
                  </a:lnTo>
                  <a:lnTo>
                    <a:pt x="22454" y="1671797"/>
                  </a:lnTo>
                  <a:lnTo>
                    <a:pt x="3507" y="1633385"/>
                  </a:lnTo>
                  <a:lnTo>
                    <a:pt x="0" y="1612154"/>
                  </a:lnTo>
                  <a:lnTo>
                    <a:pt x="0" y="1604962"/>
                  </a:lnTo>
                  <a:lnTo>
                    <a:pt x="0" y="102345"/>
                  </a:lnTo>
                  <a:lnTo>
                    <a:pt x="11089" y="60973"/>
                  </a:lnTo>
                  <a:lnTo>
                    <a:pt x="37167" y="26996"/>
                  </a:lnTo>
                  <a:lnTo>
                    <a:pt x="74262" y="5585"/>
                  </a:lnTo>
                  <a:lnTo>
                    <a:pt x="102344" y="0"/>
                  </a:lnTo>
                  <a:lnTo>
                    <a:pt x="2507503" y="0"/>
                  </a:lnTo>
                  <a:lnTo>
                    <a:pt x="2548874" y="11089"/>
                  </a:lnTo>
                  <a:lnTo>
                    <a:pt x="2582852" y="37168"/>
                  </a:lnTo>
                  <a:lnTo>
                    <a:pt x="2604262" y="74263"/>
                  </a:lnTo>
                  <a:lnTo>
                    <a:pt x="2609848" y="102345"/>
                  </a:lnTo>
                  <a:lnTo>
                    <a:pt x="2609848" y="1612154"/>
                  </a:lnTo>
                  <a:lnTo>
                    <a:pt x="2598758" y="1653524"/>
                  </a:lnTo>
                  <a:lnTo>
                    <a:pt x="2572681" y="1687502"/>
                  </a:lnTo>
                  <a:lnTo>
                    <a:pt x="2535584" y="1708912"/>
                  </a:lnTo>
                  <a:lnTo>
                    <a:pt x="2514627" y="1713797"/>
                  </a:lnTo>
                  <a:lnTo>
                    <a:pt x="2507503" y="1714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8891586" y="4052887"/>
              <a:ext cx="2609850" cy="1714500"/>
            </a:xfrm>
            <a:custGeom>
              <a:avLst/>
              <a:gdLst/>
              <a:ahLst/>
              <a:cxnLst/>
              <a:rect l="l" t="t" r="r" b="b"/>
              <a:pathLst>
                <a:path w="2609850" h="1714500">
                  <a:moveTo>
                    <a:pt x="0" y="160496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14463" y="54661"/>
                  </a:lnTo>
                  <a:lnTo>
                    <a:pt x="32082" y="32082"/>
                  </a:lnTo>
                  <a:lnTo>
                    <a:pt x="37167" y="26996"/>
                  </a:lnTo>
                  <a:lnTo>
                    <a:pt x="42700" y="22455"/>
                  </a:lnTo>
                  <a:lnTo>
                    <a:pt x="48680" y="18459"/>
                  </a:lnTo>
                  <a:lnTo>
                    <a:pt x="54661" y="14463"/>
                  </a:lnTo>
                  <a:lnTo>
                    <a:pt x="88166" y="2104"/>
                  </a:lnTo>
                  <a:lnTo>
                    <a:pt x="95220" y="701"/>
                  </a:lnTo>
                  <a:lnTo>
                    <a:pt x="102344" y="0"/>
                  </a:lnTo>
                  <a:lnTo>
                    <a:pt x="109537" y="0"/>
                  </a:lnTo>
                  <a:lnTo>
                    <a:pt x="2500312" y="0"/>
                  </a:lnTo>
                  <a:lnTo>
                    <a:pt x="2507503" y="0"/>
                  </a:lnTo>
                  <a:lnTo>
                    <a:pt x="2514627" y="701"/>
                  </a:lnTo>
                  <a:lnTo>
                    <a:pt x="2521681" y="2104"/>
                  </a:lnTo>
                  <a:lnTo>
                    <a:pt x="2528736" y="3507"/>
                  </a:lnTo>
                  <a:lnTo>
                    <a:pt x="2561167" y="18459"/>
                  </a:lnTo>
                  <a:lnTo>
                    <a:pt x="2567147" y="22455"/>
                  </a:lnTo>
                  <a:lnTo>
                    <a:pt x="2572681" y="26996"/>
                  </a:lnTo>
                  <a:lnTo>
                    <a:pt x="2577766" y="32082"/>
                  </a:lnTo>
                  <a:lnTo>
                    <a:pt x="2582852" y="37168"/>
                  </a:lnTo>
                  <a:lnTo>
                    <a:pt x="2604262" y="74263"/>
                  </a:lnTo>
                  <a:lnTo>
                    <a:pt x="2607744" y="88167"/>
                  </a:lnTo>
                  <a:lnTo>
                    <a:pt x="2609147" y="95221"/>
                  </a:lnTo>
                  <a:lnTo>
                    <a:pt x="2609848" y="102345"/>
                  </a:lnTo>
                  <a:lnTo>
                    <a:pt x="2609849" y="109537"/>
                  </a:lnTo>
                  <a:lnTo>
                    <a:pt x="2609849" y="1604962"/>
                  </a:lnTo>
                  <a:lnTo>
                    <a:pt x="2609848" y="1612154"/>
                  </a:lnTo>
                  <a:lnTo>
                    <a:pt x="2609147" y="1619277"/>
                  </a:lnTo>
                  <a:lnTo>
                    <a:pt x="2607744" y="1626331"/>
                  </a:lnTo>
                  <a:lnTo>
                    <a:pt x="2606340" y="1633385"/>
                  </a:lnTo>
                  <a:lnTo>
                    <a:pt x="2604262" y="1640235"/>
                  </a:lnTo>
                  <a:lnTo>
                    <a:pt x="2601510" y="1646879"/>
                  </a:lnTo>
                  <a:lnTo>
                    <a:pt x="2598758" y="1653524"/>
                  </a:lnTo>
                  <a:lnTo>
                    <a:pt x="2572681" y="1687502"/>
                  </a:lnTo>
                  <a:lnTo>
                    <a:pt x="2535584" y="1708912"/>
                  </a:lnTo>
                  <a:lnTo>
                    <a:pt x="2521681" y="1712394"/>
                  </a:lnTo>
                  <a:lnTo>
                    <a:pt x="2514627" y="1713797"/>
                  </a:lnTo>
                  <a:lnTo>
                    <a:pt x="2507503" y="1714499"/>
                  </a:lnTo>
                  <a:lnTo>
                    <a:pt x="2500312" y="1714499"/>
                  </a:lnTo>
                  <a:lnTo>
                    <a:pt x="109537" y="1714499"/>
                  </a:lnTo>
                  <a:lnTo>
                    <a:pt x="102344" y="1714499"/>
                  </a:lnTo>
                  <a:lnTo>
                    <a:pt x="95220" y="1713797"/>
                  </a:lnTo>
                  <a:lnTo>
                    <a:pt x="88166" y="1712394"/>
                  </a:lnTo>
                  <a:lnTo>
                    <a:pt x="81112" y="1710990"/>
                  </a:lnTo>
                  <a:lnTo>
                    <a:pt x="42700" y="1692043"/>
                  </a:lnTo>
                  <a:lnTo>
                    <a:pt x="32082" y="1682416"/>
                  </a:lnTo>
                  <a:lnTo>
                    <a:pt x="26996" y="1677330"/>
                  </a:lnTo>
                  <a:lnTo>
                    <a:pt x="5585" y="1640235"/>
                  </a:lnTo>
                  <a:lnTo>
                    <a:pt x="0" y="1612154"/>
                  </a:lnTo>
                  <a:lnTo>
                    <a:pt x="0" y="1604962"/>
                  </a:lnTo>
                  <a:close/>
                </a:path>
              </a:pathLst>
            </a:custGeom>
            <a:ln w="9524">
              <a:solidFill>
                <a:srgbClr val="E4E8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9048748" y="419099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62804" y="342899"/>
                  </a:moveTo>
                  <a:lnTo>
                    <a:pt x="80096" y="342899"/>
                  </a:lnTo>
                  <a:lnTo>
                    <a:pt x="74521" y="342350"/>
                  </a:lnTo>
                  <a:lnTo>
                    <a:pt x="33418" y="325324"/>
                  </a:lnTo>
                  <a:lnTo>
                    <a:pt x="8679" y="295180"/>
                  </a:lnTo>
                  <a:lnTo>
                    <a:pt x="0" y="262803"/>
                  </a:lnTo>
                  <a:lnTo>
                    <a:pt x="0" y="257174"/>
                  </a:lnTo>
                  <a:lnTo>
                    <a:pt x="0" y="80096"/>
                  </a:lnTo>
                  <a:lnTo>
                    <a:pt x="11319" y="42778"/>
                  </a:lnTo>
                  <a:lnTo>
                    <a:pt x="42778" y="11319"/>
                  </a:lnTo>
                  <a:lnTo>
                    <a:pt x="80096" y="0"/>
                  </a:lnTo>
                  <a:lnTo>
                    <a:pt x="262804" y="0"/>
                  </a:lnTo>
                  <a:lnTo>
                    <a:pt x="300119" y="11319"/>
                  </a:lnTo>
                  <a:lnTo>
                    <a:pt x="331579" y="42778"/>
                  </a:lnTo>
                  <a:lnTo>
                    <a:pt x="342899" y="80096"/>
                  </a:lnTo>
                  <a:lnTo>
                    <a:pt x="342899" y="262803"/>
                  </a:lnTo>
                  <a:lnTo>
                    <a:pt x="331579" y="300120"/>
                  </a:lnTo>
                  <a:lnTo>
                    <a:pt x="300120" y="331579"/>
                  </a:lnTo>
                  <a:lnTo>
                    <a:pt x="268378" y="342350"/>
                  </a:lnTo>
                  <a:lnTo>
                    <a:pt x="262804" y="342899"/>
                  </a:lnTo>
                  <a:close/>
                </a:path>
              </a:pathLst>
            </a:custGeom>
            <a:solidFill>
              <a:srgbClr val="F59D0A">
                <a:alpha val="1411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140824" y="4298950"/>
              <a:ext cx="158750" cy="127000"/>
            </a:xfrm>
            <a:prstGeom prst="rect">
              <a:avLst/>
            </a:prstGeom>
          </p:spPr>
        </p:pic>
      </p:grpSp>
      <p:sp>
        <p:nvSpPr>
          <p:cNvPr id="78" name="object 78"/>
          <p:cNvSpPr txBox="1"/>
          <p:nvPr/>
        </p:nvSpPr>
        <p:spPr>
          <a:xfrm>
            <a:off x="8472288" y="4162380"/>
            <a:ext cx="166370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spc="40" b="1">
                <a:solidFill>
                  <a:srgbClr val="B5BFD1"/>
                </a:solidFill>
                <a:latin typeface="Arial"/>
                <a:cs typeface="Arial"/>
              </a:rPr>
              <a:t>07</a:t>
            </a:r>
            <a:endParaRPr sz="85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9036049" y="4552064"/>
            <a:ext cx="2275205" cy="107315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605"/>
              </a:spcBef>
            </a:pPr>
            <a:r>
              <a:rPr dirty="0" sz="1200" spc="-50" b="1">
                <a:solidFill>
                  <a:srgbClr val="121725"/>
                </a:solidFill>
                <a:latin typeface="Arial"/>
                <a:cs typeface="Arial"/>
              </a:rPr>
              <a:t>Footer</a:t>
            </a:r>
            <a:r>
              <a:rPr dirty="0" sz="1200" spc="-9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21725"/>
                </a:solidFill>
                <a:latin typeface="Arial"/>
                <a:cs typeface="Arial"/>
              </a:rPr>
              <a:t>sombre</a:t>
            </a: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5100"/>
              </a:lnSpc>
              <a:spcBef>
                <a:spcPts val="395"/>
              </a:spcBef>
            </a:pP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Description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liens</a:t>
            </a:r>
            <a:r>
              <a:rPr dirty="0" sz="100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rapides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coordonnées </a:t>
            </a:r>
            <a:r>
              <a:rPr dirty="0" sz="1100" spc="-25">
                <a:solidFill>
                  <a:srgbClr val="5C6A81"/>
                </a:solidFill>
                <a:latin typeface="Microsoft Sans Serif"/>
                <a:cs typeface="Microsoft Sans Serif"/>
              </a:rPr>
              <a:t>(</a:t>
            </a:r>
            <a:r>
              <a:rPr dirty="0" sz="1000" spc="-25">
                <a:solidFill>
                  <a:srgbClr val="5C6A81"/>
                </a:solidFill>
                <a:latin typeface="Microsoft Sans Serif"/>
                <a:cs typeface="Microsoft Sans Serif"/>
              </a:rPr>
              <a:t>email</a:t>
            </a:r>
            <a:r>
              <a:rPr dirty="0" sz="1100" spc="-25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téléphone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WhatsApp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).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Cohérent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sur</a:t>
            </a:r>
            <a:r>
              <a:rPr dirty="0" sz="10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toutes</a:t>
            </a:r>
            <a:r>
              <a:rPr dirty="0" sz="100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les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pages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  <a:p>
            <a:pPr algn="just" marL="12700">
              <a:lnSpc>
                <a:spcPct val="100000"/>
              </a:lnSpc>
              <a:spcBef>
                <a:spcPts val="780"/>
              </a:spcBef>
            </a:pPr>
            <a:r>
              <a:rPr dirty="0" sz="800" b="1">
                <a:solidFill>
                  <a:srgbClr val="B46F08"/>
                </a:solidFill>
                <a:latin typeface="Arial"/>
                <a:cs typeface="Arial"/>
              </a:rPr>
              <a:t>PIED</a:t>
            </a:r>
            <a:r>
              <a:rPr dirty="0" sz="800" spc="55" b="1">
                <a:solidFill>
                  <a:srgbClr val="B46F08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B46F08"/>
                </a:solidFill>
                <a:latin typeface="Arial"/>
                <a:cs typeface="Arial"/>
              </a:rPr>
              <a:t>DE</a:t>
            </a:r>
            <a:r>
              <a:rPr dirty="0" sz="800" spc="70" b="1">
                <a:solidFill>
                  <a:srgbClr val="B46F08"/>
                </a:solidFill>
                <a:latin typeface="Arial"/>
                <a:cs typeface="Arial"/>
              </a:rPr>
              <a:t> </a:t>
            </a:r>
            <a:r>
              <a:rPr dirty="0" sz="800" spc="-20" b="1">
                <a:solidFill>
                  <a:srgbClr val="B46F08"/>
                </a:solidFill>
                <a:latin typeface="Arial"/>
                <a:cs typeface="Arial"/>
              </a:rPr>
              <a:t>PAGE</a:t>
            </a:r>
            <a:endParaRPr sz="800">
              <a:latin typeface="Arial"/>
              <a:cs typeface="Arial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8929364" y="4057649"/>
            <a:ext cx="2534920" cy="28575"/>
          </a:xfrm>
          <a:custGeom>
            <a:avLst/>
            <a:gdLst/>
            <a:ahLst/>
            <a:cxnLst/>
            <a:rect l="l" t="t" r="r" b="b"/>
            <a:pathLst>
              <a:path w="2534920" h="28575">
                <a:moveTo>
                  <a:pt x="2534293" y="28574"/>
                </a:moveTo>
                <a:lnTo>
                  <a:pt x="0" y="28574"/>
                </a:lnTo>
                <a:lnTo>
                  <a:pt x="5323" y="23742"/>
                </a:lnTo>
                <a:lnTo>
                  <a:pt x="41390" y="4486"/>
                </a:lnTo>
                <a:lnTo>
                  <a:pt x="71760" y="0"/>
                </a:lnTo>
                <a:lnTo>
                  <a:pt x="2462535" y="0"/>
                </a:lnTo>
                <a:lnTo>
                  <a:pt x="2502629" y="7975"/>
                </a:lnTo>
                <a:lnTo>
                  <a:pt x="2534293" y="28574"/>
                </a:lnTo>
                <a:close/>
              </a:path>
            </a:pathLst>
          </a:custGeom>
          <a:solidFill>
            <a:srgbClr val="F59D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 txBox="1"/>
          <p:nvPr/>
        </p:nvSpPr>
        <p:spPr>
          <a:xfrm>
            <a:off x="11195843" y="4162380"/>
            <a:ext cx="17589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spc="80" b="1">
                <a:solidFill>
                  <a:srgbClr val="B5BFD1"/>
                </a:solidFill>
                <a:latin typeface="Arial"/>
                <a:cs typeface="Arial"/>
              </a:rPr>
              <a:t>08</a:t>
            </a:r>
            <a:endParaRPr sz="850">
              <a:latin typeface="Arial"/>
              <a:cs typeface="Arial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685799" y="6334124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10820399" y="9524"/>
                </a:moveTo>
                <a:lnTo>
                  <a:pt x="0" y="9524"/>
                </a:lnTo>
                <a:lnTo>
                  <a:pt x="0" y="0"/>
                </a:lnTo>
                <a:lnTo>
                  <a:pt x="10820399" y="0"/>
                </a:lnTo>
                <a:lnTo>
                  <a:pt x="10820399" y="9524"/>
                </a:lnTo>
                <a:close/>
              </a:path>
            </a:pathLst>
          </a:custGeom>
          <a:solidFill>
            <a:srgbClr val="E4E8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 txBox="1"/>
          <p:nvPr/>
        </p:nvSpPr>
        <p:spPr>
          <a:xfrm>
            <a:off x="673100" y="6472570"/>
            <a:ext cx="4324350" cy="1631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70"/>
              </a:lnSpc>
            </a:pPr>
            <a:r>
              <a:rPr dirty="0" sz="950" spc="-20" b="1">
                <a:solidFill>
                  <a:srgbClr val="121725"/>
                </a:solidFill>
                <a:latin typeface="Arial"/>
                <a:cs typeface="Arial"/>
              </a:rPr>
              <a:t>AfriTalent</a:t>
            </a:r>
            <a:r>
              <a:rPr dirty="0" sz="950" spc="-7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950" spc="-30" b="1">
                <a:solidFill>
                  <a:srgbClr val="121725"/>
                </a:solidFill>
                <a:latin typeface="Arial"/>
                <a:cs typeface="Arial"/>
              </a:rPr>
              <a:t>By</a:t>
            </a:r>
            <a:r>
              <a:rPr dirty="0" sz="950" spc="-9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21725"/>
                </a:solidFill>
                <a:latin typeface="Arial"/>
                <a:cs typeface="Arial"/>
              </a:rPr>
              <a:t>Agent23</a:t>
            </a:r>
            <a:r>
              <a:rPr dirty="0" sz="950" spc="-4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dirty="0" sz="10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Contact</a:t>
            </a:r>
            <a:r>
              <a:rPr dirty="0" sz="95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:</a:t>
            </a:r>
            <a:r>
              <a:rPr dirty="0" sz="10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40">
                <a:solidFill>
                  <a:srgbClr val="5C6A81"/>
                </a:solidFill>
                <a:latin typeface="Microsoft Sans Serif"/>
                <a:cs typeface="Microsoft Sans Serif"/>
                <a:hlinkClick r:id="rId12"/>
              </a:rPr>
              <a:t>agent</a:t>
            </a:r>
            <a:r>
              <a:rPr dirty="0" sz="1050" spc="-40">
                <a:solidFill>
                  <a:srgbClr val="5C6A81"/>
                </a:solidFill>
                <a:latin typeface="Microsoft Sans Serif"/>
                <a:cs typeface="Microsoft Sans Serif"/>
                <a:hlinkClick r:id="rId12"/>
              </a:rPr>
              <a:t>210601@</a:t>
            </a:r>
            <a:r>
              <a:rPr dirty="0" sz="950" spc="-40">
                <a:solidFill>
                  <a:srgbClr val="5C6A81"/>
                </a:solidFill>
                <a:latin typeface="Microsoft Sans Serif"/>
                <a:cs typeface="Microsoft Sans Serif"/>
                <a:hlinkClick r:id="rId12"/>
              </a:rPr>
              <a:t>gmail</a:t>
            </a:r>
            <a:r>
              <a:rPr dirty="0" sz="1050" spc="-40">
                <a:solidFill>
                  <a:srgbClr val="5C6A81"/>
                </a:solidFill>
                <a:latin typeface="Microsoft Sans Serif"/>
                <a:cs typeface="Microsoft Sans Serif"/>
                <a:hlinkClick r:id="rId12"/>
              </a:rPr>
              <a:t>.</a:t>
            </a:r>
            <a:r>
              <a:rPr dirty="0" sz="950" spc="-40">
                <a:solidFill>
                  <a:srgbClr val="5C6A81"/>
                </a:solidFill>
                <a:latin typeface="Microsoft Sans Serif"/>
                <a:cs typeface="Microsoft Sans Serif"/>
                <a:hlinkClick r:id="rId12"/>
              </a:rPr>
              <a:t>com</a:t>
            </a:r>
            <a:r>
              <a:rPr dirty="0" sz="95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dirty="0" sz="10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5">
                <a:solidFill>
                  <a:srgbClr val="5C6A81"/>
                </a:solidFill>
                <a:latin typeface="Microsoft Sans Serif"/>
                <a:cs typeface="Microsoft Sans Serif"/>
              </a:rPr>
              <a:t>+221</a:t>
            </a:r>
            <a:r>
              <a:rPr dirty="0" sz="10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85">
                <a:solidFill>
                  <a:srgbClr val="5C6A81"/>
                </a:solidFill>
                <a:latin typeface="Microsoft Sans Serif"/>
                <a:cs typeface="Microsoft Sans Serif"/>
              </a:rPr>
              <a:t>71</a:t>
            </a:r>
            <a:r>
              <a:rPr dirty="0" sz="10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008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00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86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9662764" y="6474593"/>
            <a:ext cx="1855470" cy="161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Présentation</a:t>
            </a:r>
            <a:r>
              <a:rPr dirty="0" sz="9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de projet</a:t>
            </a:r>
            <a:r>
              <a:rPr dirty="0" sz="95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web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dirty="0" sz="10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2026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1848" y="566061"/>
            <a:ext cx="84518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b="1">
                <a:solidFill>
                  <a:srgbClr val="5C6A81"/>
                </a:solidFill>
                <a:latin typeface="Arial"/>
                <a:cs typeface="Arial"/>
              </a:rPr>
              <a:t>Slide</a:t>
            </a:r>
            <a:r>
              <a:rPr dirty="0" sz="1150" spc="60" b="1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5C6A81"/>
                </a:solidFill>
                <a:latin typeface="Arial"/>
                <a:cs typeface="Arial"/>
              </a:rPr>
              <a:t>07</a:t>
            </a:r>
            <a:r>
              <a:rPr dirty="0" sz="1100" spc="75" b="1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dirty="0" sz="1100" spc="110" b="1">
                <a:solidFill>
                  <a:srgbClr val="5C6A81"/>
                </a:solidFill>
                <a:latin typeface="Arial"/>
                <a:cs typeface="Arial"/>
              </a:rPr>
              <a:t>/</a:t>
            </a:r>
            <a:r>
              <a:rPr dirty="0" sz="1100" spc="60" b="1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dirty="0" sz="1100" spc="-120" b="1">
                <a:solidFill>
                  <a:srgbClr val="5C6A81"/>
                </a:solidFill>
                <a:latin typeface="Arial"/>
                <a:cs typeface="Arial"/>
              </a:rPr>
              <a:t>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85799" y="1733549"/>
            <a:ext cx="533400" cy="38100"/>
          </a:xfrm>
          <a:custGeom>
            <a:avLst/>
            <a:gdLst/>
            <a:ahLst/>
            <a:cxnLst/>
            <a:rect l="l" t="t" r="r" b="b"/>
            <a:pathLst>
              <a:path w="533400" h="38100">
                <a:moveTo>
                  <a:pt x="5168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9049"/>
                </a:lnTo>
                <a:lnTo>
                  <a:pt x="0" y="16523"/>
                </a:lnTo>
                <a:lnTo>
                  <a:pt x="16523" y="0"/>
                </a:lnTo>
                <a:lnTo>
                  <a:pt x="516876" y="0"/>
                </a:lnTo>
                <a:lnTo>
                  <a:pt x="533399" y="16523"/>
                </a:lnTo>
                <a:lnTo>
                  <a:pt x="533399" y="21576"/>
                </a:lnTo>
                <a:lnTo>
                  <a:pt x="519306" y="37616"/>
                </a:lnTo>
                <a:lnTo>
                  <a:pt x="516876" y="38099"/>
                </a:lnTo>
                <a:close/>
              </a:path>
            </a:pathLst>
          </a:custGeom>
          <a:solidFill>
            <a:srgbClr val="F59D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73100" y="1056643"/>
            <a:ext cx="90043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b="1">
                <a:solidFill>
                  <a:srgbClr val="2453D5"/>
                </a:solidFill>
                <a:latin typeface="Arial"/>
                <a:cs typeface="Arial"/>
              </a:rPr>
              <a:t>DESI</a:t>
            </a:r>
            <a:r>
              <a:rPr dirty="0" sz="950" spc="-11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2453D5"/>
                </a:solidFill>
                <a:latin typeface="Arial"/>
                <a:cs typeface="Arial"/>
              </a:rPr>
              <a:t>GN</a:t>
            </a:r>
            <a:r>
              <a:rPr dirty="0" sz="950" spc="19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2453D5"/>
                </a:solidFill>
                <a:latin typeface="Cambria"/>
                <a:cs typeface="Cambria"/>
              </a:rPr>
              <a:t>&amp;</a:t>
            </a:r>
            <a:r>
              <a:rPr dirty="0" sz="950" spc="195" b="1">
                <a:solidFill>
                  <a:srgbClr val="2453D5"/>
                </a:solidFill>
                <a:latin typeface="Cambria"/>
                <a:cs typeface="Cambria"/>
              </a:rPr>
              <a:t> </a:t>
            </a:r>
            <a:r>
              <a:rPr dirty="0" sz="950" spc="50" b="1">
                <a:solidFill>
                  <a:srgbClr val="2453D5"/>
                </a:solidFill>
                <a:latin typeface="Arial"/>
                <a:cs typeface="Arial"/>
              </a:rPr>
              <a:t>UX</a:t>
            </a:r>
            <a:endParaRPr sz="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100" y="1209178"/>
            <a:ext cx="5184775" cy="4565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800" spc="-114" b="1">
                <a:solidFill>
                  <a:srgbClr val="121725"/>
                </a:solidFill>
                <a:latin typeface="Arial"/>
                <a:cs typeface="Arial"/>
              </a:rPr>
              <a:t>Logique</a:t>
            </a:r>
            <a:r>
              <a:rPr dirty="0" sz="2800" spc="-35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2800" spc="-35" b="1">
                <a:solidFill>
                  <a:srgbClr val="121725"/>
                </a:solidFill>
                <a:latin typeface="Arial"/>
                <a:cs typeface="Arial"/>
              </a:rPr>
              <a:t>de</a:t>
            </a:r>
            <a:r>
              <a:rPr dirty="0" sz="2800" spc="-35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2800" spc="-80" b="1">
                <a:solidFill>
                  <a:srgbClr val="121725"/>
                </a:solidFill>
                <a:latin typeface="Arial"/>
                <a:cs typeface="Arial"/>
              </a:rPr>
              <a:t>conception</a:t>
            </a:r>
            <a:r>
              <a:rPr dirty="0" sz="2800" spc="-29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2800" spc="50" b="1">
                <a:solidFill>
                  <a:srgbClr val="121725"/>
                </a:solidFill>
                <a:latin typeface="Arial"/>
                <a:cs typeface="Arial"/>
              </a:rPr>
              <a:t>et</a:t>
            </a:r>
            <a:r>
              <a:rPr dirty="0" sz="2800" spc="-34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2800" spc="-40" b="1">
                <a:solidFill>
                  <a:srgbClr val="121725"/>
                </a:solidFill>
                <a:latin typeface="Arial"/>
                <a:cs typeface="Arial"/>
              </a:rPr>
              <a:t>design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85799" y="2676524"/>
            <a:ext cx="5838825" cy="9525"/>
          </a:xfrm>
          <a:custGeom>
            <a:avLst/>
            <a:gdLst/>
            <a:ahLst/>
            <a:cxnLst/>
            <a:rect l="l" t="t" r="r" b="b"/>
            <a:pathLst>
              <a:path w="5838825" h="9525">
                <a:moveTo>
                  <a:pt x="5838824" y="9524"/>
                </a:moveTo>
                <a:lnTo>
                  <a:pt x="0" y="9524"/>
                </a:lnTo>
                <a:lnTo>
                  <a:pt x="0" y="0"/>
                </a:lnTo>
                <a:lnTo>
                  <a:pt x="5838824" y="0"/>
                </a:lnTo>
                <a:lnTo>
                  <a:pt x="5838824" y="9524"/>
                </a:lnTo>
                <a:close/>
              </a:path>
            </a:pathLst>
          </a:custGeom>
          <a:solidFill>
            <a:srgbClr val="E4E8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85799" y="3486149"/>
            <a:ext cx="5838825" cy="9525"/>
          </a:xfrm>
          <a:custGeom>
            <a:avLst/>
            <a:gdLst/>
            <a:ahLst/>
            <a:cxnLst/>
            <a:rect l="l" t="t" r="r" b="b"/>
            <a:pathLst>
              <a:path w="5838825" h="9525">
                <a:moveTo>
                  <a:pt x="5838824" y="9524"/>
                </a:moveTo>
                <a:lnTo>
                  <a:pt x="0" y="9524"/>
                </a:lnTo>
                <a:lnTo>
                  <a:pt x="0" y="0"/>
                </a:lnTo>
                <a:lnTo>
                  <a:pt x="5838824" y="0"/>
                </a:lnTo>
                <a:lnTo>
                  <a:pt x="5838824" y="9524"/>
                </a:lnTo>
                <a:close/>
              </a:path>
            </a:pathLst>
          </a:custGeom>
          <a:solidFill>
            <a:srgbClr val="E4E8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85799" y="4295774"/>
            <a:ext cx="5838825" cy="9525"/>
          </a:xfrm>
          <a:custGeom>
            <a:avLst/>
            <a:gdLst/>
            <a:ahLst/>
            <a:cxnLst/>
            <a:rect l="l" t="t" r="r" b="b"/>
            <a:pathLst>
              <a:path w="5838825" h="9525">
                <a:moveTo>
                  <a:pt x="5838824" y="9524"/>
                </a:moveTo>
                <a:lnTo>
                  <a:pt x="0" y="9524"/>
                </a:lnTo>
                <a:lnTo>
                  <a:pt x="0" y="0"/>
                </a:lnTo>
                <a:lnTo>
                  <a:pt x="5838824" y="0"/>
                </a:lnTo>
                <a:lnTo>
                  <a:pt x="5838824" y="9524"/>
                </a:lnTo>
                <a:close/>
              </a:path>
            </a:pathLst>
          </a:custGeom>
          <a:solidFill>
            <a:srgbClr val="E4E8F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685799" y="1981199"/>
            <a:ext cx="381000" cy="381000"/>
            <a:chOff x="685799" y="1981199"/>
            <a:chExt cx="381000" cy="381000"/>
          </a:xfrm>
        </p:grpSpPr>
        <p:sp>
          <p:nvSpPr>
            <p:cNvPr id="10" name="object 10"/>
            <p:cNvSpPr/>
            <p:nvPr/>
          </p:nvSpPr>
          <p:spPr>
            <a:xfrm>
              <a:off x="685799" y="19811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292004" y="380999"/>
                  </a:moveTo>
                  <a:lnTo>
                    <a:pt x="88995" y="380999"/>
                  </a:lnTo>
                  <a:lnTo>
                    <a:pt x="82801" y="380389"/>
                  </a:lnTo>
                  <a:lnTo>
                    <a:pt x="37131" y="361472"/>
                  </a:lnTo>
                  <a:lnTo>
                    <a:pt x="9643" y="327978"/>
                  </a:lnTo>
                  <a:lnTo>
                    <a:pt x="0" y="292004"/>
                  </a:lnTo>
                  <a:lnTo>
                    <a:pt x="0" y="285749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2" y="12577"/>
                  </a:lnTo>
                  <a:lnTo>
                    <a:pt x="88995" y="0"/>
                  </a:lnTo>
                  <a:lnTo>
                    <a:pt x="292004" y="0"/>
                  </a:lnTo>
                  <a:lnTo>
                    <a:pt x="333467" y="12577"/>
                  </a:lnTo>
                  <a:lnTo>
                    <a:pt x="368422" y="47531"/>
                  </a:lnTo>
                  <a:lnTo>
                    <a:pt x="380999" y="88995"/>
                  </a:lnTo>
                  <a:lnTo>
                    <a:pt x="380999" y="292004"/>
                  </a:lnTo>
                  <a:lnTo>
                    <a:pt x="368422" y="333467"/>
                  </a:lnTo>
                  <a:lnTo>
                    <a:pt x="333467" y="368421"/>
                  </a:lnTo>
                  <a:lnTo>
                    <a:pt x="298198" y="380389"/>
                  </a:lnTo>
                  <a:lnTo>
                    <a:pt x="292004" y="380999"/>
                  </a:lnTo>
                  <a:close/>
                </a:path>
              </a:pathLst>
            </a:custGeom>
            <a:solidFill>
              <a:srgbClr val="2453D5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6924" y="2108199"/>
              <a:ext cx="158750" cy="127000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181099" y="1990724"/>
            <a:ext cx="266700" cy="180975"/>
          </a:xfrm>
          <a:custGeom>
            <a:avLst/>
            <a:gdLst/>
            <a:ahLst/>
            <a:cxnLst/>
            <a:rect l="l" t="t" r="r" b="b"/>
            <a:pathLst>
              <a:path w="266700" h="180975">
                <a:moveTo>
                  <a:pt x="233652" y="180974"/>
                </a:moveTo>
                <a:lnTo>
                  <a:pt x="33047" y="180974"/>
                </a:lnTo>
                <a:lnTo>
                  <a:pt x="28187" y="180008"/>
                </a:lnTo>
                <a:lnTo>
                  <a:pt x="966" y="152787"/>
                </a:lnTo>
                <a:lnTo>
                  <a:pt x="0" y="147927"/>
                </a:lnTo>
                <a:lnTo>
                  <a:pt x="0" y="14287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233652" y="0"/>
                </a:lnTo>
                <a:lnTo>
                  <a:pt x="265733" y="28187"/>
                </a:lnTo>
                <a:lnTo>
                  <a:pt x="266699" y="33047"/>
                </a:lnTo>
                <a:lnTo>
                  <a:pt x="266699" y="147927"/>
                </a:lnTo>
                <a:lnTo>
                  <a:pt x="238512" y="180008"/>
                </a:lnTo>
                <a:lnTo>
                  <a:pt x="233652" y="180974"/>
                </a:lnTo>
                <a:close/>
              </a:path>
            </a:pathLst>
          </a:custGeom>
          <a:solidFill>
            <a:srgbClr val="ECF2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235075" y="1990680"/>
            <a:ext cx="147320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spc="-25" b="1">
                <a:solidFill>
                  <a:srgbClr val="5C6A81"/>
                </a:solidFill>
                <a:latin typeface="Arial"/>
                <a:cs typeface="Arial"/>
              </a:rPr>
              <a:t>01</a:t>
            </a:r>
            <a:endParaRPr sz="8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07281" y="1968767"/>
            <a:ext cx="932815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25" b="1">
                <a:solidFill>
                  <a:srgbClr val="121725"/>
                </a:solidFill>
                <a:latin typeface="Arial"/>
                <a:cs typeface="Arial"/>
              </a:rPr>
              <a:t>Mise</a:t>
            </a:r>
            <a:r>
              <a:rPr dirty="0" sz="1200" spc="-10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200" spc="-40" b="1">
                <a:solidFill>
                  <a:srgbClr val="121725"/>
                </a:solidFill>
                <a:latin typeface="Arial"/>
                <a:cs typeface="Arial"/>
              </a:rPr>
              <a:t>en</a:t>
            </a:r>
            <a:r>
              <a:rPr dirty="0" sz="1200" spc="-6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121725"/>
                </a:solidFill>
                <a:latin typeface="Arial"/>
                <a:cs typeface="Arial"/>
              </a:rPr>
              <a:t>page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68399" y="2167794"/>
            <a:ext cx="5015865" cy="387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100"/>
              </a:spcBef>
            </a:pP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Architecture</a:t>
            </a:r>
            <a:r>
              <a:rPr dirty="0" sz="100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en</a:t>
            </a:r>
            <a:r>
              <a:rPr dirty="0" sz="100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sections</a:t>
            </a:r>
            <a:r>
              <a:rPr dirty="0" sz="100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empilées</a:t>
            </a:r>
            <a:r>
              <a:rPr dirty="0" sz="100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: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navbar</a:t>
            </a:r>
            <a:r>
              <a:rPr dirty="0" sz="100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fixe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,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hero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0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contenu</a:t>
            </a:r>
            <a:r>
              <a:rPr dirty="0" sz="100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central</a:t>
            </a:r>
            <a:r>
              <a:rPr dirty="0" sz="1000" spc="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en grille</a:t>
            </a:r>
            <a:r>
              <a:rPr dirty="0" sz="100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Bootstrap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,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footer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dirty="0" sz="110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Conteneur</a:t>
            </a:r>
            <a:r>
              <a:rPr dirty="0" sz="10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central</a:t>
            </a:r>
            <a:r>
              <a:rPr dirty="0" sz="1000" spc="5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dirty="0" sz="10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14">
                <a:solidFill>
                  <a:srgbClr val="5C6A81"/>
                </a:solidFill>
                <a:latin typeface="Microsoft Sans Serif"/>
                <a:cs typeface="Microsoft Sans Serif"/>
              </a:rPr>
              <a:t>~1140</a:t>
            </a:r>
            <a:r>
              <a:rPr dirty="0" sz="110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px</a:t>
            </a:r>
            <a:r>
              <a:rPr dirty="0" sz="100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centré</a:t>
            </a:r>
            <a:r>
              <a:rPr dirty="0" sz="10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pour</a:t>
            </a:r>
            <a:r>
              <a:rPr dirty="0" sz="10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la</a:t>
            </a:r>
            <a:r>
              <a:rPr dirty="0" sz="100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lisibilité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85799" y="2790824"/>
            <a:ext cx="381000" cy="381000"/>
            <a:chOff x="685799" y="2790824"/>
            <a:chExt cx="381000" cy="381000"/>
          </a:xfrm>
        </p:grpSpPr>
        <p:sp>
          <p:nvSpPr>
            <p:cNvPr id="17" name="object 17"/>
            <p:cNvSpPr/>
            <p:nvPr/>
          </p:nvSpPr>
          <p:spPr>
            <a:xfrm>
              <a:off x="685799" y="279082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292004" y="380999"/>
                  </a:moveTo>
                  <a:lnTo>
                    <a:pt x="88995" y="380999"/>
                  </a:lnTo>
                  <a:lnTo>
                    <a:pt x="82801" y="380389"/>
                  </a:lnTo>
                  <a:lnTo>
                    <a:pt x="37131" y="361472"/>
                  </a:lnTo>
                  <a:lnTo>
                    <a:pt x="9643" y="327978"/>
                  </a:lnTo>
                  <a:lnTo>
                    <a:pt x="0" y="292003"/>
                  </a:lnTo>
                  <a:lnTo>
                    <a:pt x="0" y="285749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2" y="12577"/>
                  </a:lnTo>
                  <a:lnTo>
                    <a:pt x="88995" y="0"/>
                  </a:lnTo>
                  <a:lnTo>
                    <a:pt x="292004" y="0"/>
                  </a:lnTo>
                  <a:lnTo>
                    <a:pt x="333467" y="12577"/>
                  </a:lnTo>
                  <a:lnTo>
                    <a:pt x="368422" y="47531"/>
                  </a:lnTo>
                  <a:lnTo>
                    <a:pt x="380999" y="88995"/>
                  </a:lnTo>
                  <a:lnTo>
                    <a:pt x="380999" y="292003"/>
                  </a:lnTo>
                  <a:lnTo>
                    <a:pt x="368422" y="333467"/>
                  </a:lnTo>
                  <a:lnTo>
                    <a:pt x="333467" y="368421"/>
                  </a:lnTo>
                  <a:lnTo>
                    <a:pt x="298198" y="380389"/>
                  </a:lnTo>
                  <a:lnTo>
                    <a:pt x="292004" y="380999"/>
                  </a:lnTo>
                  <a:close/>
                </a:path>
              </a:pathLst>
            </a:custGeom>
            <a:solidFill>
              <a:srgbClr val="F59D0A">
                <a:alpha val="1411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7399" y="2892424"/>
              <a:ext cx="177800" cy="177800"/>
            </a:xfrm>
            <a:prstGeom prst="rect">
              <a:avLst/>
            </a:prstGeom>
          </p:spPr>
        </p:pic>
      </p:grpSp>
      <p:sp>
        <p:nvSpPr>
          <p:cNvPr id="19" name="object 19"/>
          <p:cNvSpPr/>
          <p:nvPr/>
        </p:nvSpPr>
        <p:spPr>
          <a:xfrm>
            <a:off x="1181099" y="2809874"/>
            <a:ext cx="285750" cy="171450"/>
          </a:xfrm>
          <a:custGeom>
            <a:avLst/>
            <a:gdLst/>
            <a:ahLst/>
            <a:cxnLst/>
            <a:rect l="l" t="t" r="r" b="b"/>
            <a:pathLst>
              <a:path w="285750" h="171450">
                <a:moveTo>
                  <a:pt x="252702" y="171449"/>
                </a:moveTo>
                <a:lnTo>
                  <a:pt x="33047" y="171449"/>
                </a:lnTo>
                <a:lnTo>
                  <a:pt x="28187" y="170483"/>
                </a:lnTo>
                <a:lnTo>
                  <a:pt x="966" y="143262"/>
                </a:lnTo>
                <a:lnTo>
                  <a:pt x="0" y="138402"/>
                </a:lnTo>
                <a:lnTo>
                  <a:pt x="0" y="13334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252702" y="0"/>
                </a:lnTo>
                <a:lnTo>
                  <a:pt x="284783" y="28187"/>
                </a:lnTo>
                <a:lnTo>
                  <a:pt x="285749" y="33047"/>
                </a:lnTo>
                <a:lnTo>
                  <a:pt x="285749" y="138402"/>
                </a:lnTo>
                <a:lnTo>
                  <a:pt x="257562" y="170483"/>
                </a:lnTo>
                <a:lnTo>
                  <a:pt x="252702" y="171449"/>
                </a:lnTo>
                <a:close/>
              </a:path>
            </a:pathLst>
          </a:custGeom>
          <a:solidFill>
            <a:srgbClr val="ECF2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235075" y="2778392"/>
            <a:ext cx="944244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4800" algn="l"/>
              </a:tabLst>
            </a:pPr>
            <a:r>
              <a:rPr dirty="0" baseline="3267" sz="1275" spc="89" b="1">
                <a:solidFill>
                  <a:srgbClr val="5C6A81"/>
                </a:solidFill>
                <a:latin typeface="Arial"/>
                <a:cs typeface="Arial"/>
              </a:rPr>
              <a:t>02</a:t>
            </a:r>
            <a:r>
              <a:rPr dirty="0" baseline="3267" sz="1275" b="1">
                <a:solidFill>
                  <a:srgbClr val="5C6A81"/>
                </a:solidFill>
                <a:latin typeface="Arial"/>
                <a:cs typeface="Arial"/>
              </a:rPr>
              <a:t>	</a:t>
            </a:r>
            <a:r>
              <a:rPr dirty="0" sz="1200" spc="-35" b="1">
                <a:solidFill>
                  <a:srgbClr val="121725"/>
                </a:solidFill>
                <a:latin typeface="Arial"/>
                <a:cs typeface="Arial"/>
              </a:rPr>
              <a:t>Couleurs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68399" y="3000855"/>
            <a:ext cx="5307965" cy="36449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65"/>
              </a:spcBef>
            </a:pP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Palette</a:t>
            </a:r>
            <a:r>
              <a:rPr dirty="0" sz="100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cohérente</a:t>
            </a:r>
            <a:r>
              <a:rPr dirty="0" sz="100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:</a:t>
            </a:r>
            <a:r>
              <a:rPr dirty="0" sz="110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bleu</a:t>
            </a:r>
            <a:r>
              <a:rPr dirty="0" sz="1000" spc="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30">
                <a:solidFill>
                  <a:srgbClr val="5C6A81"/>
                </a:solidFill>
                <a:latin typeface="Microsoft Sans Serif"/>
                <a:cs typeface="Microsoft Sans Serif"/>
              </a:rPr>
              <a:t>(#2454</a:t>
            </a:r>
            <a:r>
              <a:rPr dirty="0" sz="1000" spc="-30">
                <a:solidFill>
                  <a:srgbClr val="5C6A81"/>
                </a:solidFill>
                <a:latin typeface="Microsoft Sans Serif"/>
                <a:cs typeface="Microsoft Sans Serif"/>
              </a:rPr>
              <a:t>d</a:t>
            </a:r>
            <a:r>
              <a:rPr dirty="0" sz="1100" spc="-30">
                <a:solidFill>
                  <a:srgbClr val="5C6A81"/>
                </a:solidFill>
                <a:latin typeface="Microsoft Sans Serif"/>
                <a:cs typeface="Microsoft Sans Serif"/>
              </a:rPr>
              <a:t>6)</a:t>
            </a:r>
            <a:r>
              <a:rPr dirty="0" sz="1100" spc="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pour</a:t>
            </a:r>
            <a:r>
              <a:rPr dirty="0" sz="100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la</a:t>
            </a:r>
            <a:r>
              <a:rPr dirty="0" sz="1000" spc="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confiance</a:t>
            </a:r>
            <a:r>
              <a:rPr dirty="0" sz="10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tech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00" spc="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orange</a:t>
            </a:r>
            <a:r>
              <a:rPr dirty="0" sz="10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(#</a:t>
            </a:r>
            <a:r>
              <a:rPr dirty="0" sz="1000" spc="-20">
                <a:solidFill>
                  <a:srgbClr val="5C6A81"/>
                </a:solidFill>
                <a:latin typeface="Microsoft Sans Serif"/>
                <a:cs typeface="Microsoft Sans Serif"/>
              </a:rPr>
              <a:t>f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59</a:t>
            </a:r>
            <a:r>
              <a:rPr dirty="0" sz="1000" spc="-20">
                <a:solidFill>
                  <a:srgbClr val="5C6A81"/>
                </a:solidFill>
                <a:latin typeface="Microsoft Sans Serif"/>
                <a:cs typeface="Microsoft Sans Serif"/>
              </a:rPr>
              <a:t>e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0</a:t>
            </a:r>
            <a:r>
              <a:rPr dirty="0" sz="1000" spc="-20">
                <a:solidFill>
                  <a:srgbClr val="5C6A81"/>
                </a:solidFill>
                <a:latin typeface="Microsoft Sans Serif"/>
                <a:cs typeface="Microsoft Sans Serif"/>
              </a:rPr>
              <a:t>b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)</a:t>
            </a:r>
            <a:r>
              <a:rPr dirty="0" sz="1100" spc="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pour</a:t>
            </a:r>
            <a:r>
              <a:rPr dirty="0" sz="100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l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énergie</a:t>
            </a:r>
            <a:r>
              <a:rPr dirty="0" sz="100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5">
                <a:solidFill>
                  <a:srgbClr val="5C6A81"/>
                </a:solidFill>
                <a:latin typeface="Microsoft Sans Serif"/>
                <a:cs typeface="Microsoft Sans Serif"/>
              </a:rPr>
              <a:t>et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dirty="0" sz="100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talent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0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vert</a:t>
            </a:r>
            <a:r>
              <a:rPr dirty="0" sz="100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(#0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f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9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f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6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e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)</a:t>
            </a:r>
            <a:r>
              <a:rPr dirty="0" sz="1100" spc="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pour</a:t>
            </a:r>
            <a:r>
              <a:rPr dirty="0" sz="100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la</a:t>
            </a:r>
            <a:r>
              <a:rPr dirty="0" sz="1000" spc="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réussite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0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bleu</a:t>
            </a:r>
            <a:r>
              <a:rPr dirty="0" sz="1000" spc="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nuit</a:t>
            </a:r>
            <a:r>
              <a:rPr dirty="0" sz="100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pour</a:t>
            </a:r>
            <a:r>
              <a:rPr dirty="0" sz="100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dirty="0" sz="10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footer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85799" y="3600449"/>
            <a:ext cx="381000" cy="381000"/>
            <a:chOff x="685799" y="3600449"/>
            <a:chExt cx="381000" cy="381000"/>
          </a:xfrm>
        </p:grpSpPr>
        <p:sp>
          <p:nvSpPr>
            <p:cNvPr id="23" name="object 23"/>
            <p:cNvSpPr/>
            <p:nvPr/>
          </p:nvSpPr>
          <p:spPr>
            <a:xfrm>
              <a:off x="685799" y="36004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292004" y="380999"/>
                  </a:moveTo>
                  <a:lnTo>
                    <a:pt x="88995" y="380999"/>
                  </a:lnTo>
                  <a:lnTo>
                    <a:pt x="82801" y="380389"/>
                  </a:lnTo>
                  <a:lnTo>
                    <a:pt x="37131" y="361472"/>
                  </a:lnTo>
                  <a:lnTo>
                    <a:pt x="9643" y="327978"/>
                  </a:lnTo>
                  <a:lnTo>
                    <a:pt x="0" y="292003"/>
                  </a:lnTo>
                  <a:lnTo>
                    <a:pt x="0" y="285749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2" y="12577"/>
                  </a:lnTo>
                  <a:lnTo>
                    <a:pt x="88995" y="0"/>
                  </a:lnTo>
                  <a:lnTo>
                    <a:pt x="292004" y="0"/>
                  </a:lnTo>
                  <a:lnTo>
                    <a:pt x="333467" y="12577"/>
                  </a:lnTo>
                  <a:lnTo>
                    <a:pt x="368422" y="47531"/>
                  </a:lnTo>
                  <a:lnTo>
                    <a:pt x="380999" y="88995"/>
                  </a:lnTo>
                  <a:lnTo>
                    <a:pt x="380999" y="292003"/>
                  </a:lnTo>
                  <a:lnTo>
                    <a:pt x="368422" y="333467"/>
                  </a:lnTo>
                  <a:lnTo>
                    <a:pt x="333467" y="368421"/>
                  </a:lnTo>
                  <a:lnTo>
                    <a:pt x="298198" y="380389"/>
                  </a:lnTo>
                  <a:lnTo>
                    <a:pt x="292004" y="380999"/>
                  </a:lnTo>
                  <a:close/>
                </a:path>
              </a:pathLst>
            </a:custGeom>
            <a:solidFill>
              <a:srgbClr val="0E9E6E">
                <a:alpha val="1411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0574" y="3717924"/>
              <a:ext cx="171450" cy="136525"/>
            </a:xfrm>
            <a:prstGeom prst="rect">
              <a:avLst/>
            </a:prstGeom>
          </p:spPr>
        </p:pic>
      </p:grpSp>
      <p:sp>
        <p:nvSpPr>
          <p:cNvPr id="25" name="object 25"/>
          <p:cNvSpPr/>
          <p:nvPr/>
        </p:nvSpPr>
        <p:spPr>
          <a:xfrm>
            <a:off x="1181099" y="3619499"/>
            <a:ext cx="285750" cy="171450"/>
          </a:xfrm>
          <a:custGeom>
            <a:avLst/>
            <a:gdLst/>
            <a:ahLst/>
            <a:cxnLst/>
            <a:rect l="l" t="t" r="r" b="b"/>
            <a:pathLst>
              <a:path w="285750" h="171450">
                <a:moveTo>
                  <a:pt x="252702" y="171449"/>
                </a:moveTo>
                <a:lnTo>
                  <a:pt x="33047" y="171449"/>
                </a:lnTo>
                <a:lnTo>
                  <a:pt x="28187" y="170482"/>
                </a:lnTo>
                <a:lnTo>
                  <a:pt x="966" y="143261"/>
                </a:lnTo>
                <a:lnTo>
                  <a:pt x="0" y="138402"/>
                </a:lnTo>
                <a:lnTo>
                  <a:pt x="0" y="13334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252702" y="0"/>
                </a:lnTo>
                <a:lnTo>
                  <a:pt x="284783" y="28187"/>
                </a:lnTo>
                <a:lnTo>
                  <a:pt x="285749" y="33047"/>
                </a:lnTo>
                <a:lnTo>
                  <a:pt x="285749" y="138402"/>
                </a:lnTo>
                <a:lnTo>
                  <a:pt x="257562" y="170482"/>
                </a:lnTo>
                <a:lnTo>
                  <a:pt x="252702" y="171449"/>
                </a:lnTo>
                <a:close/>
              </a:path>
            </a:pathLst>
          </a:custGeom>
          <a:solidFill>
            <a:srgbClr val="ECF2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235075" y="3619455"/>
            <a:ext cx="173990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spc="75" b="1">
                <a:solidFill>
                  <a:srgbClr val="5C6A81"/>
                </a:solidFill>
                <a:latin typeface="Arial"/>
                <a:cs typeface="Arial"/>
              </a:rPr>
              <a:t>03</a:t>
            </a:r>
            <a:endParaRPr sz="8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29754" y="3588017"/>
            <a:ext cx="895350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35" b="1">
                <a:solidFill>
                  <a:srgbClr val="121725"/>
                </a:solidFill>
                <a:latin typeface="Arial"/>
                <a:cs typeface="Arial"/>
              </a:rPr>
              <a:t>Typographie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68399" y="3796568"/>
            <a:ext cx="5295900" cy="387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100"/>
              </a:spcBef>
            </a:pP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Police</a:t>
            </a:r>
            <a:r>
              <a:rPr dirty="0" sz="100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Inter</a:t>
            </a:r>
            <a:r>
              <a:rPr dirty="0" sz="100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(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sans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-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serif</a:t>
            </a:r>
            <a:r>
              <a:rPr dirty="0" sz="100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moderne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)</a:t>
            </a:r>
            <a:r>
              <a:rPr dirty="0" sz="1100" spc="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pour</a:t>
            </a:r>
            <a:r>
              <a:rPr dirty="0" sz="100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titres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dirty="0" sz="100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corps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dirty="0" sz="110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0">
                <a:solidFill>
                  <a:srgbClr val="5C6A81"/>
                </a:solidFill>
                <a:latin typeface="Microsoft Sans Serif"/>
                <a:cs typeface="Microsoft Sans Serif"/>
              </a:rPr>
              <a:t>Tailles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responsives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avec</a:t>
            </a:r>
            <a:r>
              <a:rPr dirty="0" sz="10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clamp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()</a:t>
            </a:r>
            <a:r>
              <a:rPr dirty="0" sz="1100" spc="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:</a:t>
            </a:r>
            <a:r>
              <a:rPr dirty="0" sz="110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70">
                <a:solidFill>
                  <a:srgbClr val="5C6A81"/>
                </a:solidFill>
                <a:latin typeface="Microsoft Sans Serif"/>
                <a:cs typeface="Microsoft Sans Serif"/>
              </a:rPr>
              <a:t>H</a:t>
            </a:r>
            <a:r>
              <a:rPr dirty="0" sz="1100" spc="-170">
                <a:solidFill>
                  <a:srgbClr val="5C6A81"/>
                </a:solidFill>
                <a:latin typeface="Microsoft Sans Serif"/>
                <a:cs typeface="Microsoft Sans Serif"/>
              </a:rPr>
              <a:t>1</a:t>
            </a:r>
            <a:r>
              <a:rPr dirty="0" sz="110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5">
                <a:solidFill>
                  <a:srgbClr val="5C6A81"/>
                </a:solidFill>
                <a:latin typeface="Microsoft Sans Serif"/>
                <a:cs typeface="Microsoft Sans Serif"/>
              </a:rPr>
              <a:t>de </a:t>
            </a:r>
            <a:r>
              <a:rPr dirty="0" sz="1100" spc="-30">
                <a:solidFill>
                  <a:srgbClr val="5C6A81"/>
                </a:solidFill>
                <a:latin typeface="Microsoft Sans Serif"/>
                <a:cs typeface="Microsoft Sans Serif"/>
              </a:rPr>
              <a:t>39</a:t>
            </a:r>
            <a:r>
              <a:rPr dirty="0" sz="1100" spc="-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px</a:t>
            </a:r>
            <a:r>
              <a:rPr dirty="0" sz="100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à</a:t>
            </a:r>
            <a:r>
              <a:rPr dirty="0" sz="1000" spc="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85">
                <a:solidFill>
                  <a:srgbClr val="5C6A81"/>
                </a:solidFill>
                <a:latin typeface="Microsoft Sans Serif"/>
                <a:cs typeface="Microsoft Sans Serif"/>
              </a:rPr>
              <a:t>74</a:t>
            </a:r>
            <a:r>
              <a:rPr dirty="0" sz="110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px</a:t>
            </a:r>
            <a:r>
              <a:rPr dirty="0" sz="100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selon</a:t>
            </a:r>
            <a:r>
              <a:rPr dirty="0" sz="100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l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écran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dirty="0" sz="110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Poids</a:t>
            </a:r>
            <a:r>
              <a:rPr dirty="0" sz="10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5">
                <a:solidFill>
                  <a:srgbClr val="5C6A81"/>
                </a:solidFill>
                <a:latin typeface="Microsoft Sans Serif"/>
                <a:cs typeface="Microsoft Sans Serif"/>
              </a:rPr>
              <a:t>800</a:t>
            </a:r>
            <a:r>
              <a:rPr dirty="0" sz="110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pour</a:t>
            </a:r>
            <a:r>
              <a:rPr dirty="0" sz="100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les</a:t>
            </a:r>
            <a:r>
              <a:rPr dirty="0" sz="10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titres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85799" y="4410075"/>
            <a:ext cx="381000" cy="381000"/>
            <a:chOff x="685799" y="4410075"/>
            <a:chExt cx="381000" cy="381000"/>
          </a:xfrm>
        </p:grpSpPr>
        <p:sp>
          <p:nvSpPr>
            <p:cNvPr id="30" name="object 30"/>
            <p:cNvSpPr/>
            <p:nvPr/>
          </p:nvSpPr>
          <p:spPr>
            <a:xfrm>
              <a:off x="685799" y="441007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292004" y="380999"/>
                  </a:moveTo>
                  <a:lnTo>
                    <a:pt x="88995" y="380999"/>
                  </a:lnTo>
                  <a:lnTo>
                    <a:pt x="82801" y="380389"/>
                  </a:lnTo>
                  <a:lnTo>
                    <a:pt x="37131" y="361471"/>
                  </a:lnTo>
                  <a:lnTo>
                    <a:pt x="9643" y="327977"/>
                  </a:lnTo>
                  <a:lnTo>
                    <a:pt x="0" y="292003"/>
                  </a:lnTo>
                  <a:lnTo>
                    <a:pt x="0" y="285749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2" y="12577"/>
                  </a:lnTo>
                  <a:lnTo>
                    <a:pt x="88995" y="0"/>
                  </a:lnTo>
                  <a:lnTo>
                    <a:pt x="292004" y="0"/>
                  </a:lnTo>
                  <a:lnTo>
                    <a:pt x="333467" y="12577"/>
                  </a:lnTo>
                  <a:lnTo>
                    <a:pt x="368422" y="47531"/>
                  </a:lnTo>
                  <a:lnTo>
                    <a:pt x="380999" y="88995"/>
                  </a:lnTo>
                  <a:lnTo>
                    <a:pt x="380999" y="292003"/>
                  </a:lnTo>
                  <a:lnTo>
                    <a:pt x="368422" y="333466"/>
                  </a:lnTo>
                  <a:lnTo>
                    <a:pt x="333467" y="368421"/>
                  </a:lnTo>
                  <a:lnTo>
                    <a:pt x="298198" y="380389"/>
                  </a:lnTo>
                  <a:lnTo>
                    <a:pt x="292004" y="380999"/>
                  </a:lnTo>
                  <a:close/>
                </a:path>
              </a:pathLst>
            </a:custGeom>
            <a:solidFill>
              <a:srgbClr val="2453D5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6924" y="4511674"/>
              <a:ext cx="158750" cy="177800"/>
            </a:xfrm>
            <a:prstGeom prst="rect">
              <a:avLst/>
            </a:prstGeom>
          </p:spPr>
        </p:pic>
      </p:grpSp>
      <p:sp>
        <p:nvSpPr>
          <p:cNvPr id="32" name="object 32"/>
          <p:cNvSpPr/>
          <p:nvPr/>
        </p:nvSpPr>
        <p:spPr>
          <a:xfrm>
            <a:off x="1181099" y="4429124"/>
            <a:ext cx="285750" cy="180975"/>
          </a:xfrm>
          <a:custGeom>
            <a:avLst/>
            <a:gdLst/>
            <a:ahLst/>
            <a:cxnLst/>
            <a:rect l="l" t="t" r="r" b="b"/>
            <a:pathLst>
              <a:path w="285750" h="180975">
                <a:moveTo>
                  <a:pt x="252702" y="180974"/>
                </a:moveTo>
                <a:lnTo>
                  <a:pt x="33047" y="180974"/>
                </a:lnTo>
                <a:lnTo>
                  <a:pt x="28187" y="180007"/>
                </a:lnTo>
                <a:lnTo>
                  <a:pt x="966" y="152787"/>
                </a:lnTo>
                <a:lnTo>
                  <a:pt x="0" y="147927"/>
                </a:lnTo>
                <a:lnTo>
                  <a:pt x="0" y="14287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252702" y="0"/>
                </a:lnTo>
                <a:lnTo>
                  <a:pt x="284783" y="28187"/>
                </a:lnTo>
                <a:lnTo>
                  <a:pt x="285749" y="33047"/>
                </a:lnTo>
                <a:lnTo>
                  <a:pt x="285749" y="147927"/>
                </a:lnTo>
                <a:lnTo>
                  <a:pt x="257562" y="180007"/>
                </a:lnTo>
                <a:lnTo>
                  <a:pt x="252702" y="180974"/>
                </a:lnTo>
                <a:close/>
              </a:path>
            </a:pathLst>
          </a:custGeom>
          <a:solidFill>
            <a:srgbClr val="ECF2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1168399" y="4354037"/>
            <a:ext cx="5026025" cy="640080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440"/>
              </a:spcBef>
              <a:tabLst>
                <a:tab pos="377190" algn="l"/>
              </a:tabLst>
            </a:pPr>
            <a:r>
              <a:rPr dirty="0" baseline="3267" sz="1275" spc="127" b="1">
                <a:solidFill>
                  <a:srgbClr val="5C6A81"/>
                </a:solidFill>
                <a:latin typeface="Arial"/>
                <a:cs typeface="Arial"/>
              </a:rPr>
              <a:t>04</a:t>
            </a:r>
            <a:r>
              <a:rPr dirty="0" baseline="3267" sz="1275" b="1">
                <a:solidFill>
                  <a:srgbClr val="5C6A81"/>
                </a:solidFill>
                <a:latin typeface="Arial"/>
                <a:cs typeface="Arial"/>
              </a:rPr>
              <a:t>	</a:t>
            </a:r>
            <a:r>
              <a:rPr dirty="0" sz="1200" spc="-45" b="1">
                <a:solidFill>
                  <a:srgbClr val="121725"/>
                </a:solidFill>
                <a:latin typeface="Arial"/>
                <a:cs typeface="Arial"/>
              </a:rPr>
              <a:t>Lisibilité</a:t>
            </a:r>
            <a:r>
              <a:rPr dirty="0" sz="1200" spc="-6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150" spc="-50" b="1">
                <a:solidFill>
                  <a:srgbClr val="121725"/>
                </a:solidFill>
                <a:latin typeface="Cambria"/>
                <a:cs typeface="Cambria"/>
              </a:rPr>
              <a:t>&amp;</a:t>
            </a:r>
            <a:r>
              <a:rPr dirty="0" sz="1150" spc="-45" b="1">
                <a:solidFill>
                  <a:srgbClr val="121725"/>
                </a:solidFill>
                <a:latin typeface="Cambria"/>
                <a:cs typeface="Cambria"/>
              </a:rPr>
              <a:t> </a:t>
            </a:r>
            <a:r>
              <a:rPr dirty="0" sz="1200" spc="-25" b="1">
                <a:solidFill>
                  <a:srgbClr val="121725"/>
                </a:solidFill>
                <a:latin typeface="Arial"/>
                <a:cs typeface="Arial"/>
              </a:rPr>
              <a:t>UX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8000"/>
              </a:lnSpc>
              <a:spcBef>
                <a:spcPts val="204"/>
              </a:spcBef>
            </a:pP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Contrastes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60">
                <a:solidFill>
                  <a:srgbClr val="5C6A81"/>
                </a:solidFill>
                <a:latin typeface="Microsoft Sans Serif"/>
                <a:cs typeface="Microsoft Sans Serif"/>
              </a:rPr>
              <a:t>WCAG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respectés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,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alt</a:t>
            </a:r>
            <a:r>
              <a:rPr dirty="0" sz="100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sur</a:t>
            </a:r>
            <a:r>
              <a:rPr dirty="0" sz="10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les</a:t>
            </a:r>
            <a:r>
              <a:rPr dirty="0" sz="100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0">
                <a:solidFill>
                  <a:srgbClr val="5C6A81"/>
                </a:solidFill>
                <a:latin typeface="Microsoft Sans Serif"/>
                <a:cs typeface="Microsoft Sans Serif"/>
              </a:rPr>
              <a:t>images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,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aria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-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labels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,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support</a:t>
            </a:r>
            <a:r>
              <a:rPr dirty="0" sz="100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prefers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-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reduced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-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motion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.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Mode</a:t>
            </a:r>
            <a:r>
              <a:rPr dirty="0" sz="100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sombre</a:t>
            </a:r>
            <a:r>
              <a:rPr dirty="0" sz="100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persistant</a:t>
            </a:r>
            <a:r>
              <a:rPr dirty="0" sz="100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via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localStorage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34" name="object 3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5799" y="533400"/>
            <a:ext cx="266699" cy="266699"/>
          </a:xfrm>
          <a:prstGeom prst="rect">
            <a:avLst/>
          </a:prstGeom>
        </p:spPr>
      </p:pic>
      <p:sp>
        <p:nvSpPr>
          <p:cNvPr id="35" name="object 3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4005" algn="l"/>
              </a:tabLst>
            </a:pPr>
            <a:r>
              <a:rPr dirty="0" sz="1100" spc="35">
                <a:solidFill>
                  <a:srgbClr val="FFFFFF"/>
                </a:solidFill>
              </a:rPr>
              <a:t>A</a:t>
            </a:r>
            <a:r>
              <a:rPr dirty="0" sz="1100">
                <a:solidFill>
                  <a:srgbClr val="FFFFFF"/>
                </a:solidFill>
              </a:rPr>
              <a:t>	</a:t>
            </a:r>
            <a:r>
              <a:rPr dirty="0" spc="-20">
                <a:solidFill>
                  <a:srgbClr val="2453D5"/>
                </a:solidFill>
              </a:rPr>
              <a:t>AfriTalent</a:t>
            </a:r>
            <a:r>
              <a:rPr dirty="0" spc="-80">
                <a:solidFill>
                  <a:srgbClr val="2453D5"/>
                </a:solidFill>
              </a:rPr>
              <a:t> </a:t>
            </a:r>
            <a:r>
              <a:rPr dirty="0" sz="1350" spc="-50"/>
              <a:t>—</a:t>
            </a:r>
            <a:r>
              <a:rPr dirty="0" sz="1350" spc="-210"/>
              <a:t> </a:t>
            </a:r>
            <a:r>
              <a:rPr dirty="0" spc="-25"/>
              <a:t>Présentation</a:t>
            </a:r>
            <a:endParaRPr sz="1350"/>
          </a:p>
        </p:txBody>
      </p:sp>
      <p:pic>
        <p:nvPicPr>
          <p:cNvPr id="36" name="object 3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7249" y="552449"/>
            <a:ext cx="76199" cy="76199"/>
          </a:xfrm>
          <a:prstGeom prst="rect">
            <a:avLst/>
          </a:prstGeom>
        </p:spPr>
      </p:pic>
      <p:grpSp>
        <p:nvGrpSpPr>
          <p:cNvPr id="37" name="object 37"/>
          <p:cNvGrpSpPr/>
          <p:nvPr/>
        </p:nvGrpSpPr>
        <p:grpSpPr>
          <a:xfrm>
            <a:off x="6734174" y="1943099"/>
            <a:ext cx="4772025" cy="3286125"/>
            <a:chOff x="6734174" y="1943099"/>
            <a:chExt cx="4772025" cy="3286125"/>
          </a:xfrm>
        </p:grpSpPr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34174" y="1943099"/>
              <a:ext cx="4772024" cy="328612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073639" y="1943099"/>
              <a:ext cx="1432559" cy="143103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28047" y="2130424"/>
              <a:ext cx="177800" cy="177800"/>
            </a:xfrm>
            <a:prstGeom prst="rect">
              <a:avLst/>
            </a:prstGeom>
          </p:spPr>
        </p:pic>
      </p:grpSp>
      <p:sp>
        <p:nvSpPr>
          <p:cNvPr id="41" name="object 41"/>
          <p:cNvSpPr/>
          <p:nvPr/>
        </p:nvSpPr>
        <p:spPr>
          <a:xfrm>
            <a:off x="685799" y="6334124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10820399" y="9524"/>
                </a:moveTo>
                <a:lnTo>
                  <a:pt x="0" y="9524"/>
                </a:lnTo>
                <a:lnTo>
                  <a:pt x="0" y="0"/>
                </a:lnTo>
                <a:lnTo>
                  <a:pt x="10820399" y="0"/>
                </a:lnTo>
                <a:lnTo>
                  <a:pt x="10820399" y="9524"/>
                </a:lnTo>
                <a:close/>
              </a:path>
            </a:pathLst>
          </a:custGeom>
          <a:solidFill>
            <a:srgbClr val="E4E8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7175697" y="2101150"/>
            <a:ext cx="1533525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-25" b="1">
                <a:solidFill>
                  <a:srgbClr val="FFFFFF"/>
                </a:solidFill>
                <a:latin typeface="Arial"/>
                <a:cs typeface="Arial"/>
              </a:rPr>
              <a:t>Choix</a:t>
            </a:r>
            <a:r>
              <a:rPr dirty="0" sz="1250" spc="-1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1250" spc="-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30" b="1">
                <a:solidFill>
                  <a:srgbClr val="FFFFFF"/>
                </a:solidFill>
                <a:latin typeface="Arial"/>
                <a:cs typeface="Arial"/>
              </a:rPr>
              <a:t>design</a:t>
            </a:r>
            <a:r>
              <a:rPr dirty="0" sz="125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20" b="1">
                <a:solidFill>
                  <a:srgbClr val="FFFFFF"/>
                </a:solidFill>
                <a:latin typeface="Arial"/>
                <a:cs typeface="Arial"/>
              </a:rPr>
              <a:t>clés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924674" y="2428874"/>
            <a:ext cx="4391025" cy="390525"/>
            <a:chOff x="6924674" y="2428874"/>
            <a:chExt cx="4391025" cy="390525"/>
          </a:xfrm>
        </p:grpSpPr>
        <p:sp>
          <p:nvSpPr>
            <p:cNvPr id="44" name="object 44"/>
            <p:cNvSpPr/>
            <p:nvPr/>
          </p:nvSpPr>
          <p:spPr>
            <a:xfrm>
              <a:off x="6924674" y="2428874"/>
              <a:ext cx="1057275" cy="390525"/>
            </a:xfrm>
            <a:custGeom>
              <a:avLst/>
              <a:gdLst/>
              <a:ahLst/>
              <a:cxnLst/>
              <a:rect l="l" t="t" r="r" b="b"/>
              <a:pathLst>
                <a:path w="1057275" h="390525">
                  <a:moveTo>
                    <a:pt x="986078" y="390524"/>
                  </a:moveTo>
                  <a:lnTo>
                    <a:pt x="71196" y="390524"/>
                  </a:lnTo>
                  <a:lnTo>
                    <a:pt x="66240" y="390036"/>
                  </a:lnTo>
                  <a:lnTo>
                    <a:pt x="29705" y="374902"/>
                  </a:lnTo>
                  <a:lnTo>
                    <a:pt x="3885" y="338862"/>
                  </a:lnTo>
                  <a:lnTo>
                    <a:pt x="0" y="319328"/>
                  </a:lnTo>
                  <a:lnTo>
                    <a:pt x="0" y="314324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986078" y="0"/>
                  </a:lnTo>
                  <a:lnTo>
                    <a:pt x="1027567" y="15621"/>
                  </a:lnTo>
                  <a:lnTo>
                    <a:pt x="1053387" y="51661"/>
                  </a:lnTo>
                  <a:lnTo>
                    <a:pt x="1057274" y="71196"/>
                  </a:lnTo>
                  <a:lnTo>
                    <a:pt x="1057274" y="319328"/>
                  </a:lnTo>
                  <a:lnTo>
                    <a:pt x="1041651" y="360819"/>
                  </a:lnTo>
                  <a:lnTo>
                    <a:pt x="1005611" y="386638"/>
                  </a:lnTo>
                  <a:lnTo>
                    <a:pt x="991032" y="390036"/>
                  </a:lnTo>
                  <a:lnTo>
                    <a:pt x="986078" y="390524"/>
                  </a:lnTo>
                  <a:close/>
                </a:path>
              </a:pathLst>
            </a:custGeom>
            <a:solidFill>
              <a:srgbClr val="2453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8039098" y="2428874"/>
              <a:ext cx="1047750" cy="390525"/>
            </a:xfrm>
            <a:custGeom>
              <a:avLst/>
              <a:gdLst/>
              <a:ahLst/>
              <a:cxnLst/>
              <a:rect l="l" t="t" r="r" b="b"/>
              <a:pathLst>
                <a:path w="1047750" h="390525">
                  <a:moveTo>
                    <a:pt x="976553" y="390524"/>
                  </a:moveTo>
                  <a:lnTo>
                    <a:pt x="71196" y="390524"/>
                  </a:lnTo>
                  <a:lnTo>
                    <a:pt x="66241" y="390036"/>
                  </a:lnTo>
                  <a:lnTo>
                    <a:pt x="29705" y="374902"/>
                  </a:lnTo>
                  <a:lnTo>
                    <a:pt x="3885" y="338862"/>
                  </a:lnTo>
                  <a:lnTo>
                    <a:pt x="0" y="319328"/>
                  </a:lnTo>
                  <a:lnTo>
                    <a:pt x="0" y="314324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976553" y="0"/>
                  </a:lnTo>
                  <a:lnTo>
                    <a:pt x="1018043" y="15621"/>
                  </a:lnTo>
                  <a:lnTo>
                    <a:pt x="1043864" y="51661"/>
                  </a:lnTo>
                  <a:lnTo>
                    <a:pt x="1047750" y="71196"/>
                  </a:lnTo>
                  <a:lnTo>
                    <a:pt x="1047750" y="319328"/>
                  </a:lnTo>
                  <a:lnTo>
                    <a:pt x="1032127" y="360819"/>
                  </a:lnTo>
                  <a:lnTo>
                    <a:pt x="996087" y="386638"/>
                  </a:lnTo>
                  <a:lnTo>
                    <a:pt x="981508" y="390036"/>
                  </a:lnTo>
                  <a:lnTo>
                    <a:pt x="976553" y="390524"/>
                  </a:lnTo>
                  <a:close/>
                </a:path>
              </a:pathLst>
            </a:custGeom>
            <a:solidFill>
              <a:srgbClr val="F59D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9143998" y="2428874"/>
              <a:ext cx="1057275" cy="390525"/>
            </a:xfrm>
            <a:custGeom>
              <a:avLst/>
              <a:gdLst/>
              <a:ahLst/>
              <a:cxnLst/>
              <a:rect l="l" t="t" r="r" b="b"/>
              <a:pathLst>
                <a:path w="1057275" h="390525">
                  <a:moveTo>
                    <a:pt x="986078" y="390524"/>
                  </a:moveTo>
                  <a:lnTo>
                    <a:pt x="71196" y="390524"/>
                  </a:lnTo>
                  <a:lnTo>
                    <a:pt x="66241" y="390036"/>
                  </a:lnTo>
                  <a:lnTo>
                    <a:pt x="29705" y="374902"/>
                  </a:lnTo>
                  <a:lnTo>
                    <a:pt x="3885" y="338862"/>
                  </a:lnTo>
                  <a:lnTo>
                    <a:pt x="0" y="319328"/>
                  </a:lnTo>
                  <a:lnTo>
                    <a:pt x="0" y="314324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986078" y="0"/>
                  </a:lnTo>
                  <a:lnTo>
                    <a:pt x="1027567" y="15621"/>
                  </a:lnTo>
                  <a:lnTo>
                    <a:pt x="1053388" y="51661"/>
                  </a:lnTo>
                  <a:lnTo>
                    <a:pt x="1057274" y="71196"/>
                  </a:lnTo>
                  <a:lnTo>
                    <a:pt x="1057274" y="319328"/>
                  </a:lnTo>
                  <a:lnTo>
                    <a:pt x="1041651" y="360819"/>
                  </a:lnTo>
                  <a:lnTo>
                    <a:pt x="1005612" y="386638"/>
                  </a:lnTo>
                  <a:lnTo>
                    <a:pt x="991032" y="390036"/>
                  </a:lnTo>
                  <a:lnTo>
                    <a:pt x="986078" y="390524"/>
                  </a:lnTo>
                  <a:close/>
                </a:path>
              </a:pathLst>
            </a:custGeom>
            <a:solidFill>
              <a:srgbClr val="0E9E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10258422" y="2428874"/>
              <a:ext cx="1057275" cy="390525"/>
            </a:xfrm>
            <a:custGeom>
              <a:avLst/>
              <a:gdLst/>
              <a:ahLst/>
              <a:cxnLst/>
              <a:rect l="l" t="t" r="r" b="b"/>
              <a:pathLst>
                <a:path w="1057275" h="390525">
                  <a:moveTo>
                    <a:pt x="986079" y="390524"/>
                  </a:moveTo>
                  <a:lnTo>
                    <a:pt x="71197" y="390524"/>
                  </a:lnTo>
                  <a:lnTo>
                    <a:pt x="66241" y="390036"/>
                  </a:lnTo>
                  <a:lnTo>
                    <a:pt x="29705" y="374902"/>
                  </a:lnTo>
                  <a:lnTo>
                    <a:pt x="3884" y="338862"/>
                  </a:lnTo>
                  <a:lnTo>
                    <a:pt x="0" y="319328"/>
                  </a:lnTo>
                  <a:lnTo>
                    <a:pt x="1" y="314324"/>
                  </a:lnTo>
                  <a:lnTo>
                    <a:pt x="0" y="71196"/>
                  </a:lnTo>
                  <a:lnTo>
                    <a:pt x="15622" y="29705"/>
                  </a:lnTo>
                  <a:lnTo>
                    <a:pt x="51660" y="3885"/>
                  </a:lnTo>
                  <a:lnTo>
                    <a:pt x="71197" y="0"/>
                  </a:lnTo>
                  <a:lnTo>
                    <a:pt x="986079" y="0"/>
                  </a:lnTo>
                  <a:lnTo>
                    <a:pt x="1027568" y="15621"/>
                  </a:lnTo>
                  <a:lnTo>
                    <a:pt x="1053389" y="51661"/>
                  </a:lnTo>
                  <a:lnTo>
                    <a:pt x="1057276" y="71196"/>
                  </a:lnTo>
                  <a:lnTo>
                    <a:pt x="1057276" y="319328"/>
                  </a:lnTo>
                  <a:lnTo>
                    <a:pt x="1041652" y="360819"/>
                  </a:lnTo>
                  <a:lnTo>
                    <a:pt x="1005612" y="386638"/>
                  </a:lnTo>
                  <a:lnTo>
                    <a:pt x="991033" y="390036"/>
                  </a:lnTo>
                  <a:lnTo>
                    <a:pt x="986079" y="390524"/>
                  </a:lnTo>
                  <a:close/>
                </a:path>
              </a:pathLst>
            </a:custGeom>
            <a:solidFill>
              <a:srgbClr val="11172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6985197" y="2456130"/>
            <a:ext cx="429259" cy="300355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800" spc="-20" b="1">
                <a:solidFill>
                  <a:srgbClr val="FFFFFF"/>
                </a:solidFill>
                <a:latin typeface="Arial"/>
                <a:cs typeface="Arial"/>
              </a:rPr>
              <a:t>Bleu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750" spc="-10" b="1">
                <a:solidFill>
                  <a:srgbClr val="FEFEFE"/>
                </a:solidFill>
                <a:latin typeface="Arial"/>
                <a:cs typeface="Arial"/>
              </a:rPr>
              <a:t>#2454d6</a:t>
            </a:r>
            <a:endParaRPr sz="7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097985" y="2456130"/>
            <a:ext cx="402590" cy="300355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800" spc="-10" b="1">
                <a:solidFill>
                  <a:srgbClr val="FFFFFF"/>
                </a:solidFill>
                <a:latin typeface="Arial"/>
                <a:cs typeface="Arial"/>
              </a:rPr>
              <a:t>Orange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750" spc="-10" b="1">
                <a:solidFill>
                  <a:srgbClr val="FEFEFE"/>
                </a:solidFill>
                <a:latin typeface="Arial"/>
                <a:cs typeface="Arial"/>
              </a:rPr>
              <a:t>#f59e0b</a:t>
            </a:r>
            <a:endParaRPr sz="7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210773" y="2456130"/>
            <a:ext cx="384175" cy="300355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800" spc="-20" b="1">
                <a:solidFill>
                  <a:srgbClr val="FFFFFF"/>
                </a:solidFill>
                <a:latin typeface="Arial"/>
                <a:cs typeface="Arial"/>
              </a:rPr>
              <a:t>Vert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750" spc="-10" b="1">
                <a:solidFill>
                  <a:srgbClr val="FEFEFE"/>
                </a:solidFill>
                <a:latin typeface="Arial"/>
                <a:cs typeface="Arial"/>
              </a:rPr>
              <a:t>#0f9f6e</a:t>
            </a:r>
            <a:endParaRPr sz="7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0323561" y="2456130"/>
            <a:ext cx="365760" cy="300355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800" spc="-20" b="1">
                <a:solidFill>
                  <a:srgbClr val="FFFFFF"/>
                </a:solidFill>
                <a:latin typeface="Arial"/>
                <a:cs typeface="Arial"/>
              </a:rPr>
              <a:t>Nuit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750" spc="-30" b="1">
                <a:solidFill>
                  <a:srgbClr val="FEFEFE"/>
                </a:solidFill>
                <a:latin typeface="Arial"/>
                <a:cs typeface="Arial"/>
              </a:rPr>
              <a:t>#111827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924673" y="2990849"/>
            <a:ext cx="4391025" cy="1819275"/>
            <a:chOff x="6924673" y="2990849"/>
            <a:chExt cx="4391025" cy="1819275"/>
          </a:xfrm>
        </p:grpSpPr>
        <p:pic>
          <p:nvPicPr>
            <p:cNvPr id="53" name="object 5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24673" y="2990849"/>
              <a:ext cx="66675" cy="6667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24673" y="3228974"/>
              <a:ext cx="66675" cy="66674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24673" y="3457574"/>
              <a:ext cx="66675" cy="66674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24673" y="3695699"/>
              <a:ext cx="66675" cy="66674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24673" y="3924299"/>
              <a:ext cx="66675" cy="66674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24673" y="4162424"/>
              <a:ext cx="66675" cy="66674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24673" y="4391024"/>
              <a:ext cx="66675" cy="66674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24673" y="4629149"/>
              <a:ext cx="66675" cy="66674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6924674" y="4800599"/>
              <a:ext cx="4391025" cy="9525"/>
            </a:xfrm>
            <a:custGeom>
              <a:avLst/>
              <a:gdLst/>
              <a:ahLst/>
              <a:cxnLst/>
              <a:rect l="l" t="t" r="r" b="b"/>
              <a:pathLst>
                <a:path w="4391025" h="9525">
                  <a:moveTo>
                    <a:pt x="43910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4391024" y="0"/>
                  </a:lnTo>
                  <a:lnTo>
                    <a:pt x="4391024" y="9524"/>
                  </a:lnTo>
                  <a:close/>
                </a:path>
              </a:pathLst>
            </a:custGeom>
            <a:solidFill>
              <a:srgbClr val="FFFFFF">
                <a:alpha val="1803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 txBox="1"/>
          <p:nvPr/>
        </p:nvSpPr>
        <p:spPr>
          <a:xfrm>
            <a:off x="7080447" y="2834544"/>
            <a:ext cx="2304415" cy="1195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19125">
              <a:lnSpc>
                <a:spcPct val="142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Microsoft Sans Serif"/>
                <a:cs typeface="Microsoft Sans Serif"/>
              </a:rPr>
              <a:t>Framework</a:t>
            </a:r>
            <a:r>
              <a:rPr dirty="0" sz="100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dirty="0" sz="1100" spc="-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FFFFFF"/>
                </a:solidFill>
                <a:latin typeface="Microsoft Sans Serif"/>
                <a:cs typeface="Microsoft Sans Serif"/>
              </a:rPr>
              <a:t>Bootstrap</a:t>
            </a:r>
            <a:r>
              <a:rPr dirty="0" sz="1000" spc="-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Microsoft Sans Serif"/>
                <a:cs typeface="Microsoft Sans Serif"/>
              </a:rPr>
              <a:t>5.3.3 </a:t>
            </a:r>
            <a:r>
              <a:rPr dirty="0" sz="1000">
                <a:solidFill>
                  <a:srgbClr val="FFFFFF"/>
                </a:solidFill>
                <a:latin typeface="Microsoft Sans Serif"/>
                <a:cs typeface="Microsoft Sans Serif"/>
              </a:rPr>
              <a:t>Icônes</a:t>
            </a:r>
            <a:r>
              <a:rPr dirty="0" sz="1000" spc="-3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dirty="0" sz="11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FFFFFF"/>
                </a:solidFill>
                <a:latin typeface="Microsoft Sans Serif"/>
                <a:cs typeface="Microsoft Sans Serif"/>
              </a:rPr>
              <a:t>Bootstrap</a:t>
            </a:r>
            <a:r>
              <a:rPr dirty="0" sz="1000" spc="-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FFFFFF"/>
                </a:solidFill>
                <a:latin typeface="Microsoft Sans Serif"/>
                <a:cs typeface="Microsoft Sans Serif"/>
              </a:rPr>
              <a:t>Icons</a:t>
            </a:r>
            <a:r>
              <a:rPr dirty="0" sz="1000" spc="-3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40">
                <a:solidFill>
                  <a:srgbClr val="FFFFFF"/>
                </a:solidFill>
                <a:latin typeface="Microsoft Sans Serif"/>
                <a:cs typeface="Microsoft Sans Serif"/>
              </a:rPr>
              <a:t>1.11.3</a:t>
            </a:r>
            <a:endParaRPr sz="1100">
              <a:latin typeface="Microsoft Sans Serif"/>
              <a:cs typeface="Microsoft Sans Serif"/>
            </a:endParaRPr>
          </a:p>
          <a:p>
            <a:pPr marL="12700" marR="5080">
              <a:lnSpc>
                <a:spcPts val="1870"/>
              </a:lnSpc>
              <a:spcBef>
                <a:spcPts val="85"/>
              </a:spcBef>
            </a:pPr>
            <a:r>
              <a:rPr dirty="0" sz="1000" spc="-10">
                <a:solidFill>
                  <a:srgbClr val="FFFFFF"/>
                </a:solidFill>
                <a:latin typeface="Microsoft Sans Serif"/>
                <a:cs typeface="Microsoft Sans Serif"/>
              </a:rPr>
              <a:t>Animations</a:t>
            </a:r>
            <a:r>
              <a:rPr dirty="0" sz="1000">
                <a:solidFill>
                  <a:srgbClr val="FFFFFF"/>
                </a:solidFill>
                <a:latin typeface="Microsoft Sans Serif"/>
                <a:cs typeface="Microsoft Sans Serif"/>
              </a:rPr>
              <a:t> subtiles </a:t>
            </a:r>
            <a:r>
              <a:rPr dirty="0" sz="1100">
                <a:solidFill>
                  <a:srgbClr val="FFFFFF"/>
                </a:solidFill>
                <a:latin typeface="Microsoft Sans Serif"/>
                <a:cs typeface="Microsoft Sans Serif"/>
              </a:rPr>
              <a:t>(</a:t>
            </a:r>
            <a:r>
              <a:rPr dirty="0" sz="1000">
                <a:solidFill>
                  <a:srgbClr val="FFFFFF"/>
                </a:solidFill>
                <a:latin typeface="Microsoft Sans Serif"/>
                <a:cs typeface="Microsoft Sans Serif"/>
              </a:rPr>
              <a:t>fade</a:t>
            </a:r>
            <a:r>
              <a:rPr dirty="0" sz="110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dirty="0" sz="1000" spc="-10">
                <a:solidFill>
                  <a:srgbClr val="FFFFFF"/>
                </a:solidFill>
                <a:latin typeface="Microsoft Sans Serif"/>
                <a:cs typeface="Microsoft Sans Serif"/>
              </a:rPr>
              <a:t>in</a:t>
            </a:r>
            <a:r>
              <a:rPr dirty="0" sz="1100" spc="-10">
                <a:solidFill>
                  <a:srgbClr val="FFFFFF"/>
                </a:solidFill>
                <a:latin typeface="Microsoft Sans Serif"/>
                <a:cs typeface="Microsoft Sans Serif"/>
              </a:rPr>
              <a:t>,</a:t>
            </a:r>
            <a:r>
              <a:rPr dirty="0" sz="1100" spc="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Microsoft Sans Serif"/>
                <a:cs typeface="Microsoft Sans Serif"/>
              </a:rPr>
              <a:t>compteurs</a:t>
            </a:r>
            <a:r>
              <a:rPr dirty="0" sz="1100" spc="-10">
                <a:solidFill>
                  <a:srgbClr val="FFFFFF"/>
                </a:solidFill>
                <a:latin typeface="Microsoft Sans Serif"/>
                <a:cs typeface="Microsoft Sans Serif"/>
              </a:rPr>
              <a:t>) </a:t>
            </a:r>
            <a:r>
              <a:rPr dirty="0" sz="1000">
                <a:solidFill>
                  <a:srgbClr val="FFFFFF"/>
                </a:solidFill>
                <a:latin typeface="Microsoft Sans Serif"/>
                <a:cs typeface="Microsoft Sans Serif"/>
              </a:rPr>
              <a:t>Coins</a:t>
            </a:r>
            <a:r>
              <a:rPr dirty="0" sz="1000" spc="-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FFFFFF"/>
                </a:solidFill>
                <a:latin typeface="Microsoft Sans Serif"/>
                <a:cs typeface="Microsoft Sans Serif"/>
              </a:rPr>
              <a:t>arrondis</a:t>
            </a:r>
            <a:r>
              <a:rPr dirty="0" sz="1000" spc="-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FFFFFF"/>
                </a:solidFill>
                <a:latin typeface="Microsoft Sans Serif"/>
                <a:cs typeface="Microsoft Sans Serif"/>
              </a:rPr>
              <a:t>8-</a:t>
            </a:r>
            <a:r>
              <a:rPr dirty="0" sz="1100" spc="-130">
                <a:solidFill>
                  <a:srgbClr val="FFFFFF"/>
                </a:solidFill>
                <a:latin typeface="Microsoft Sans Serif"/>
                <a:cs typeface="Microsoft Sans Serif"/>
              </a:rPr>
              <a:t>14</a:t>
            </a:r>
            <a:r>
              <a:rPr dirty="0" sz="1100" spc="-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Microsoft Sans Serif"/>
                <a:cs typeface="Microsoft Sans Serif"/>
              </a:rPr>
              <a:t>px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000" spc="-10">
                <a:solidFill>
                  <a:srgbClr val="FFFFFF"/>
                </a:solidFill>
                <a:latin typeface="Microsoft Sans Serif"/>
                <a:cs typeface="Microsoft Sans Serif"/>
              </a:rPr>
              <a:t>Ombres</a:t>
            </a:r>
            <a:r>
              <a:rPr dirty="0" sz="1000" spc="-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Microsoft Sans Serif"/>
                <a:cs typeface="Microsoft Sans Serif"/>
              </a:rPr>
              <a:t>légères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73100" y="6472570"/>
            <a:ext cx="4324350" cy="1631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70"/>
              </a:lnSpc>
            </a:pPr>
            <a:r>
              <a:rPr dirty="0" sz="950" spc="-20" b="1">
                <a:solidFill>
                  <a:srgbClr val="121725"/>
                </a:solidFill>
                <a:latin typeface="Arial"/>
                <a:cs typeface="Arial"/>
              </a:rPr>
              <a:t>AfriTalent</a:t>
            </a:r>
            <a:r>
              <a:rPr dirty="0" sz="950" spc="-7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950" spc="-30" b="1">
                <a:solidFill>
                  <a:srgbClr val="121725"/>
                </a:solidFill>
                <a:latin typeface="Arial"/>
                <a:cs typeface="Arial"/>
              </a:rPr>
              <a:t>By</a:t>
            </a:r>
            <a:r>
              <a:rPr dirty="0" sz="950" spc="-9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21725"/>
                </a:solidFill>
                <a:latin typeface="Arial"/>
                <a:cs typeface="Arial"/>
              </a:rPr>
              <a:t>Agent23</a:t>
            </a:r>
            <a:r>
              <a:rPr dirty="0" sz="950" spc="-4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dirty="0" sz="10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Contact</a:t>
            </a:r>
            <a:r>
              <a:rPr dirty="0" sz="95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:</a:t>
            </a:r>
            <a:r>
              <a:rPr dirty="0" sz="10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40">
                <a:solidFill>
                  <a:srgbClr val="5C6A81"/>
                </a:solidFill>
                <a:latin typeface="Microsoft Sans Serif"/>
                <a:cs typeface="Microsoft Sans Serif"/>
                <a:hlinkClick r:id="rId12"/>
              </a:rPr>
              <a:t>agent</a:t>
            </a:r>
            <a:r>
              <a:rPr dirty="0" sz="1050" spc="-40">
                <a:solidFill>
                  <a:srgbClr val="5C6A81"/>
                </a:solidFill>
                <a:latin typeface="Microsoft Sans Serif"/>
                <a:cs typeface="Microsoft Sans Serif"/>
                <a:hlinkClick r:id="rId12"/>
              </a:rPr>
              <a:t>210601@</a:t>
            </a:r>
            <a:r>
              <a:rPr dirty="0" sz="950" spc="-40">
                <a:solidFill>
                  <a:srgbClr val="5C6A81"/>
                </a:solidFill>
                <a:latin typeface="Microsoft Sans Serif"/>
                <a:cs typeface="Microsoft Sans Serif"/>
                <a:hlinkClick r:id="rId12"/>
              </a:rPr>
              <a:t>gmail</a:t>
            </a:r>
            <a:r>
              <a:rPr dirty="0" sz="1050" spc="-40">
                <a:solidFill>
                  <a:srgbClr val="5C6A81"/>
                </a:solidFill>
                <a:latin typeface="Microsoft Sans Serif"/>
                <a:cs typeface="Microsoft Sans Serif"/>
                <a:hlinkClick r:id="rId12"/>
              </a:rPr>
              <a:t>.</a:t>
            </a:r>
            <a:r>
              <a:rPr dirty="0" sz="950" spc="-40">
                <a:solidFill>
                  <a:srgbClr val="5C6A81"/>
                </a:solidFill>
                <a:latin typeface="Microsoft Sans Serif"/>
                <a:cs typeface="Microsoft Sans Serif"/>
                <a:hlinkClick r:id="rId12"/>
              </a:rPr>
              <a:t>com</a:t>
            </a:r>
            <a:r>
              <a:rPr dirty="0" sz="95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dirty="0" sz="10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5">
                <a:solidFill>
                  <a:srgbClr val="5C6A81"/>
                </a:solidFill>
                <a:latin typeface="Microsoft Sans Serif"/>
                <a:cs typeface="Microsoft Sans Serif"/>
              </a:rPr>
              <a:t>+221</a:t>
            </a:r>
            <a:r>
              <a:rPr dirty="0" sz="10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85">
                <a:solidFill>
                  <a:srgbClr val="5C6A81"/>
                </a:solidFill>
                <a:latin typeface="Microsoft Sans Serif"/>
                <a:cs typeface="Microsoft Sans Serif"/>
              </a:rPr>
              <a:t>71</a:t>
            </a:r>
            <a:r>
              <a:rPr dirty="0" sz="10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008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00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86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9662764" y="6474593"/>
            <a:ext cx="1855470" cy="161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Présentation</a:t>
            </a:r>
            <a:r>
              <a:rPr dirty="0" sz="9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de projet</a:t>
            </a:r>
            <a:r>
              <a:rPr dirty="0" sz="95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web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dirty="0" sz="10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2026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080447" y="4088215"/>
            <a:ext cx="1170305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>
                <a:solidFill>
                  <a:srgbClr val="FFFFFF"/>
                </a:solidFill>
                <a:latin typeface="Microsoft Sans Serif"/>
                <a:cs typeface="Microsoft Sans Serif"/>
              </a:rPr>
              <a:t>Effet</a:t>
            </a:r>
            <a:r>
              <a:rPr dirty="0" sz="1000" spc="-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FFFFFF"/>
                </a:solidFill>
                <a:latin typeface="Microsoft Sans Serif"/>
                <a:cs typeface="Microsoft Sans Serif"/>
              </a:rPr>
              <a:t>blur</a:t>
            </a:r>
            <a:r>
              <a:rPr dirty="0" sz="1000" spc="-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FFFFFF"/>
                </a:solidFill>
                <a:latin typeface="Microsoft Sans Serif"/>
                <a:cs typeface="Microsoft Sans Serif"/>
              </a:rPr>
              <a:t>sur </a:t>
            </a:r>
            <a:r>
              <a:rPr dirty="0" sz="1000" spc="-10">
                <a:solidFill>
                  <a:srgbClr val="FFFFFF"/>
                </a:solidFill>
                <a:latin typeface="Microsoft Sans Serif"/>
                <a:cs typeface="Microsoft Sans Serif"/>
              </a:rPr>
              <a:t>navbar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080447" y="4234718"/>
            <a:ext cx="1726564" cy="501650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000">
                <a:solidFill>
                  <a:srgbClr val="FFFFFF"/>
                </a:solidFill>
                <a:latin typeface="Microsoft Sans Serif"/>
                <a:cs typeface="Microsoft Sans Serif"/>
              </a:rPr>
              <a:t>Mobile</a:t>
            </a:r>
            <a:r>
              <a:rPr dirty="0" sz="110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dirty="0" sz="1000">
                <a:solidFill>
                  <a:srgbClr val="FFFFFF"/>
                </a:solidFill>
                <a:latin typeface="Microsoft Sans Serif"/>
                <a:cs typeface="Microsoft Sans Serif"/>
              </a:rPr>
              <a:t>first</a:t>
            </a:r>
            <a:r>
              <a:rPr dirty="0" sz="1000" spc="1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Microsoft Sans Serif"/>
                <a:cs typeface="Microsoft Sans Serif"/>
              </a:rPr>
              <a:t>responsive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000">
                <a:solidFill>
                  <a:srgbClr val="FFFFFF"/>
                </a:solidFill>
                <a:latin typeface="Microsoft Sans Serif"/>
                <a:cs typeface="Microsoft Sans Serif"/>
              </a:rPr>
              <a:t>Effets</a:t>
            </a:r>
            <a:r>
              <a:rPr dirty="0" sz="1000" spc="-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FFFFFF"/>
                </a:solidFill>
                <a:latin typeface="Microsoft Sans Serif"/>
                <a:cs typeface="Microsoft Sans Serif"/>
              </a:rPr>
              <a:t>hover</a:t>
            </a:r>
            <a:r>
              <a:rPr dirty="0" sz="1000" spc="-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Microsoft Sans Serif"/>
                <a:cs typeface="Microsoft Sans Serif"/>
              </a:rPr>
              <a:t>(</a:t>
            </a:r>
            <a:r>
              <a:rPr dirty="0" sz="1000" spc="-25">
                <a:solidFill>
                  <a:srgbClr val="FFFFFF"/>
                </a:solidFill>
                <a:latin typeface="Microsoft Sans Serif"/>
                <a:cs typeface="Microsoft Sans Serif"/>
              </a:rPr>
              <a:t>translateY</a:t>
            </a:r>
            <a:r>
              <a:rPr dirty="0" sz="1100" spc="-25">
                <a:solidFill>
                  <a:srgbClr val="FFFFFF"/>
                </a:solidFill>
                <a:latin typeface="Microsoft Sans Serif"/>
                <a:cs typeface="Microsoft Sans Serif"/>
              </a:rPr>
              <a:t>,</a:t>
            </a:r>
            <a:r>
              <a:rPr dirty="0" sz="1100" spc="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Microsoft Sans Serif"/>
                <a:cs typeface="Microsoft Sans Serif"/>
              </a:rPr>
              <a:t>scale</a:t>
            </a:r>
            <a:r>
              <a:rPr dirty="0" sz="1100" spc="-10">
                <a:solidFill>
                  <a:srgbClr val="FFFFFF"/>
                </a:solidFill>
                <a:latin typeface="Microsoft Sans Serif"/>
                <a:cs typeface="Microsoft Sans Serif"/>
              </a:rPr>
              <a:t>)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908997" y="4878892"/>
            <a:ext cx="3382645" cy="1797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>
                <a:solidFill>
                  <a:srgbClr val="FEFEFE"/>
                </a:solidFill>
                <a:latin typeface="Microsoft Sans Serif"/>
                <a:cs typeface="Microsoft Sans Serif"/>
              </a:rPr>
              <a:t>Une identité</a:t>
            </a:r>
            <a:r>
              <a:rPr dirty="0" sz="900" spc="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FEFEFE"/>
                </a:solidFill>
                <a:latin typeface="Microsoft Sans Serif"/>
                <a:cs typeface="Microsoft Sans Serif"/>
              </a:rPr>
              <a:t>visuelle</a:t>
            </a:r>
            <a:r>
              <a:rPr dirty="0" sz="900" spc="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FEFEFE"/>
                </a:solidFill>
                <a:latin typeface="Microsoft Sans Serif"/>
                <a:cs typeface="Microsoft Sans Serif"/>
              </a:rPr>
              <a:t>maîtrisée</a:t>
            </a:r>
            <a:r>
              <a:rPr dirty="0" sz="1000">
                <a:solidFill>
                  <a:srgbClr val="FEFEFE"/>
                </a:solidFill>
                <a:latin typeface="Microsoft Sans Serif"/>
                <a:cs typeface="Microsoft Sans Serif"/>
              </a:rPr>
              <a:t>,</a:t>
            </a:r>
            <a:r>
              <a:rPr dirty="0" sz="1000" spc="4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FEFEFE"/>
                </a:solidFill>
                <a:latin typeface="Microsoft Sans Serif"/>
                <a:cs typeface="Microsoft Sans Serif"/>
              </a:rPr>
              <a:t>cohérente sur les</a:t>
            </a:r>
            <a:r>
              <a:rPr dirty="0" sz="900" spc="1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70">
                <a:solidFill>
                  <a:srgbClr val="FEFEFE"/>
                </a:solidFill>
                <a:latin typeface="Microsoft Sans Serif"/>
                <a:cs typeface="Microsoft Sans Serif"/>
              </a:rPr>
              <a:t>5</a:t>
            </a:r>
            <a:r>
              <a:rPr dirty="0" sz="1000" spc="-1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FEFEFE"/>
                </a:solidFill>
                <a:latin typeface="Microsoft Sans Serif"/>
                <a:cs typeface="Microsoft Sans Serif"/>
              </a:rPr>
              <a:t>pages</a:t>
            </a:r>
            <a:r>
              <a:rPr dirty="0" sz="900" spc="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FEFEFE"/>
                </a:solidFill>
                <a:latin typeface="Microsoft Sans Serif"/>
                <a:cs typeface="Microsoft Sans Serif"/>
              </a:rPr>
              <a:t>du</a:t>
            </a:r>
            <a:r>
              <a:rPr dirty="0" sz="900" spc="3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FEFEFE"/>
                </a:solidFill>
                <a:latin typeface="Microsoft Sans Serif"/>
                <a:cs typeface="Microsoft Sans Serif"/>
              </a:rPr>
              <a:t>site</a:t>
            </a:r>
            <a:r>
              <a:rPr dirty="0" sz="1000" spc="-10">
                <a:solidFill>
                  <a:srgbClr val="FEFEFE"/>
                </a:solidFill>
                <a:latin typeface="Microsoft Sans Serif"/>
                <a:cs typeface="Microsoft Sans Serif"/>
              </a:rPr>
              <a:t>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50687" y="566061"/>
            <a:ext cx="85598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b="1">
                <a:solidFill>
                  <a:srgbClr val="5C6A81"/>
                </a:solidFill>
                <a:latin typeface="Arial"/>
                <a:cs typeface="Arial"/>
              </a:rPr>
              <a:t>Slide</a:t>
            </a:r>
            <a:r>
              <a:rPr dirty="0" sz="1150" spc="30" b="1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dirty="0" sz="1100" spc="85" b="1">
                <a:solidFill>
                  <a:srgbClr val="5C6A81"/>
                </a:solidFill>
                <a:latin typeface="Arial"/>
                <a:cs typeface="Arial"/>
              </a:rPr>
              <a:t>08</a:t>
            </a:r>
            <a:r>
              <a:rPr dirty="0" sz="1100" spc="55" b="1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dirty="0" sz="1100" spc="110" b="1">
                <a:solidFill>
                  <a:srgbClr val="5C6A81"/>
                </a:solidFill>
                <a:latin typeface="Arial"/>
                <a:cs typeface="Arial"/>
              </a:rPr>
              <a:t>/</a:t>
            </a:r>
            <a:r>
              <a:rPr dirty="0" sz="1100" spc="35" b="1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dirty="0" sz="1100" spc="-125" b="1">
                <a:solidFill>
                  <a:srgbClr val="5C6A81"/>
                </a:solidFill>
                <a:latin typeface="Arial"/>
                <a:cs typeface="Arial"/>
              </a:rPr>
              <a:t>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85799" y="1733549"/>
            <a:ext cx="533400" cy="38100"/>
          </a:xfrm>
          <a:custGeom>
            <a:avLst/>
            <a:gdLst/>
            <a:ahLst/>
            <a:cxnLst/>
            <a:rect l="l" t="t" r="r" b="b"/>
            <a:pathLst>
              <a:path w="533400" h="38100">
                <a:moveTo>
                  <a:pt x="5168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9049"/>
                </a:lnTo>
                <a:lnTo>
                  <a:pt x="0" y="16523"/>
                </a:lnTo>
                <a:lnTo>
                  <a:pt x="16523" y="0"/>
                </a:lnTo>
                <a:lnTo>
                  <a:pt x="516876" y="0"/>
                </a:lnTo>
                <a:lnTo>
                  <a:pt x="533399" y="16523"/>
                </a:lnTo>
                <a:lnTo>
                  <a:pt x="533399" y="21576"/>
                </a:lnTo>
                <a:lnTo>
                  <a:pt x="519306" y="37616"/>
                </a:lnTo>
                <a:lnTo>
                  <a:pt x="516876" y="38099"/>
                </a:lnTo>
                <a:close/>
              </a:path>
            </a:pathLst>
          </a:custGeom>
          <a:solidFill>
            <a:srgbClr val="F59D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73100" y="1056648"/>
            <a:ext cx="131635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55" b="1">
                <a:solidFill>
                  <a:srgbClr val="2453D5"/>
                </a:solidFill>
                <a:latin typeface="Arial"/>
                <a:cs typeface="Arial"/>
              </a:rPr>
              <a:t>STACK</a:t>
            </a:r>
            <a:r>
              <a:rPr dirty="0" sz="950" spc="15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950" spc="55" b="1">
                <a:solidFill>
                  <a:srgbClr val="2453D5"/>
                </a:solidFill>
                <a:latin typeface="Arial"/>
                <a:cs typeface="Arial"/>
              </a:rPr>
              <a:t>TECHNI</a:t>
            </a:r>
            <a:r>
              <a:rPr dirty="0" sz="950" spc="-105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950" spc="-25" b="1">
                <a:solidFill>
                  <a:srgbClr val="2453D5"/>
                </a:solidFill>
                <a:latin typeface="Arial"/>
                <a:cs typeface="Arial"/>
              </a:rPr>
              <a:t>QUE</a:t>
            </a:r>
            <a:endParaRPr sz="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100" y="1209178"/>
            <a:ext cx="4712335" cy="4565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800" spc="-80" b="1">
                <a:solidFill>
                  <a:srgbClr val="121725"/>
                </a:solidFill>
                <a:latin typeface="Arial"/>
                <a:cs typeface="Arial"/>
              </a:rPr>
              <a:t>Comment</a:t>
            </a:r>
            <a:r>
              <a:rPr dirty="0" sz="2800" spc="-35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121725"/>
                </a:solidFill>
                <a:latin typeface="Arial"/>
                <a:cs typeface="Arial"/>
              </a:rPr>
              <a:t>le</a:t>
            </a:r>
            <a:r>
              <a:rPr dirty="0" sz="2800" spc="-36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2800" spc="-20" b="1">
                <a:solidFill>
                  <a:srgbClr val="121725"/>
                </a:solidFill>
                <a:latin typeface="Arial"/>
                <a:cs typeface="Arial"/>
              </a:rPr>
              <a:t>site</a:t>
            </a:r>
            <a:r>
              <a:rPr dirty="0" sz="2800" spc="-36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121725"/>
                </a:solidFill>
                <a:latin typeface="Arial"/>
                <a:cs typeface="Arial"/>
              </a:rPr>
              <a:t>est</a:t>
            </a:r>
            <a:r>
              <a:rPr dirty="0" sz="2800" spc="-35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2800" spc="-35" b="1">
                <a:solidFill>
                  <a:srgbClr val="121725"/>
                </a:solidFill>
                <a:latin typeface="Arial"/>
                <a:cs typeface="Arial"/>
              </a:rPr>
              <a:t>construit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46175" y="1892807"/>
            <a:ext cx="5946775" cy="4194175"/>
            <a:chOff x="646175" y="1892807"/>
            <a:chExt cx="5946775" cy="419417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6175" y="1892807"/>
              <a:ext cx="5946647" cy="419404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2974" y="2120899"/>
              <a:ext cx="95250" cy="8255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082674" y="2076986"/>
            <a:ext cx="568960" cy="1466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b="1">
                <a:solidFill>
                  <a:srgbClr val="2453D5"/>
                </a:solidFill>
                <a:latin typeface="Arial"/>
                <a:cs typeface="Arial"/>
              </a:rPr>
              <a:t>STATI</a:t>
            </a:r>
            <a:r>
              <a:rPr dirty="0" sz="800" spc="-25" b="1">
                <a:solidFill>
                  <a:srgbClr val="2453D5"/>
                </a:solidFill>
                <a:latin typeface="Arial"/>
                <a:cs typeface="Arial"/>
              </a:rPr>
              <a:t> QUE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5024" y="2213854"/>
            <a:ext cx="5323840" cy="894080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1250" spc="-25" b="1">
                <a:solidFill>
                  <a:srgbClr val="121725"/>
                </a:solidFill>
                <a:latin typeface="Arial"/>
                <a:cs typeface="Arial"/>
              </a:rPr>
              <a:t>Site</a:t>
            </a:r>
            <a:r>
              <a:rPr dirty="0" sz="1250" spc="-8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250" spc="-10" b="1">
                <a:solidFill>
                  <a:srgbClr val="121725"/>
                </a:solidFill>
                <a:latin typeface="Arial"/>
                <a:cs typeface="Arial"/>
              </a:rPr>
              <a:t>statique</a:t>
            </a:r>
            <a:endParaRPr sz="1250">
              <a:latin typeface="Arial"/>
              <a:cs typeface="Arial"/>
            </a:endParaRPr>
          </a:p>
          <a:p>
            <a:pPr marL="12700" marR="5080">
              <a:lnSpc>
                <a:spcPct val="108000"/>
              </a:lnSpc>
              <a:spcBef>
                <a:spcPts val="420"/>
              </a:spcBef>
            </a:pPr>
            <a:r>
              <a:rPr dirty="0" sz="1000" spc="-20">
                <a:solidFill>
                  <a:srgbClr val="5C6A81"/>
                </a:solidFill>
                <a:latin typeface="Microsoft Sans Serif"/>
                <a:cs typeface="Microsoft Sans Serif"/>
              </a:rPr>
              <a:t>HTML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, </a:t>
            </a:r>
            <a:r>
              <a:rPr dirty="0" sz="1000" spc="-65">
                <a:solidFill>
                  <a:srgbClr val="5C6A81"/>
                </a:solidFill>
                <a:latin typeface="Microsoft Sans Serif"/>
                <a:cs typeface="Microsoft Sans Serif"/>
              </a:rPr>
              <a:t>CSS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 et</a:t>
            </a:r>
            <a:r>
              <a:rPr dirty="0" sz="100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JavaScript</a:t>
            </a:r>
            <a:r>
              <a:rPr dirty="0" sz="100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pur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dirty="0" sz="110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Aucun backend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0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aucune</a:t>
            </a:r>
            <a:r>
              <a:rPr dirty="0" sz="100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base</a:t>
            </a:r>
            <a:r>
              <a:rPr dirty="0" sz="100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dirty="0" sz="100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données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0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aucun framework</a:t>
            </a:r>
            <a:r>
              <a:rPr dirty="0" sz="1000" spc="-5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5">
                <a:solidFill>
                  <a:srgbClr val="5C6A81"/>
                </a:solidFill>
                <a:latin typeface="Microsoft Sans Serif"/>
                <a:cs typeface="Microsoft Sans Serif"/>
              </a:rPr>
              <a:t>JS </a:t>
            </a:r>
            <a:r>
              <a:rPr dirty="0" sz="1100" spc="-25">
                <a:solidFill>
                  <a:srgbClr val="5C6A81"/>
                </a:solidFill>
                <a:latin typeface="Microsoft Sans Serif"/>
                <a:cs typeface="Microsoft Sans Serif"/>
              </a:rPr>
              <a:t>(</a:t>
            </a:r>
            <a:r>
              <a:rPr dirty="0" sz="1000" spc="-25">
                <a:solidFill>
                  <a:srgbClr val="5C6A81"/>
                </a:solidFill>
                <a:latin typeface="Microsoft Sans Serif"/>
                <a:cs typeface="Microsoft Sans Serif"/>
              </a:rPr>
              <a:t>React</a:t>
            </a:r>
            <a:r>
              <a:rPr dirty="0" sz="1100" spc="-25">
                <a:solidFill>
                  <a:srgbClr val="5C6A81"/>
                </a:solidFill>
                <a:latin typeface="Microsoft Sans Serif"/>
                <a:cs typeface="Microsoft Sans Serif"/>
              </a:rPr>
              <a:t>/</a:t>
            </a:r>
            <a:r>
              <a:rPr dirty="0" sz="1000" spc="-25">
                <a:solidFill>
                  <a:srgbClr val="5C6A81"/>
                </a:solidFill>
                <a:latin typeface="Microsoft Sans Serif"/>
                <a:cs typeface="Microsoft Sans Serif"/>
              </a:rPr>
              <a:t>Vue</a:t>
            </a:r>
            <a:r>
              <a:rPr dirty="0" sz="1100" spc="-25">
                <a:solidFill>
                  <a:srgbClr val="5C6A81"/>
                </a:solidFill>
                <a:latin typeface="Microsoft Sans Serif"/>
                <a:cs typeface="Microsoft Sans Serif"/>
              </a:rPr>
              <a:t>).</a:t>
            </a:r>
            <a:r>
              <a:rPr dirty="0" sz="110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dirty="0" sz="10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formulaire</a:t>
            </a:r>
            <a:r>
              <a:rPr dirty="0" sz="10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contact</a:t>
            </a:r>
            <a:r>
              <a:rPr dirty="0" sz="100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ne</a:t>
            </a:r>
            <a:r>
              <a:rPr dirty="0" sz="10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soumet</a:t>
            </a:r>
            <a:r>
              <a:rPr dirty="0" sz="100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pas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réellement</a:t>
            </a:r>
            <a:r>
              <a:rPr dirty="0" sz="100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:</a:t>
            </a:r>
            <a:r>
              <a:rPr dirty="0" sz="1100" spc="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validation</a:t>
            </a:r>
            <a:r>
              <a:rPr dirty="0" sz="100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côté</a:t>
            </a:r>
            <a:r>
              <a:rPr dirty="0" sz="10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client uniquement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33450" y="3543300"/>
            <a:ext cx="114300" cy="1631950"/>
            <a:chOff x="933450" y="3543300"/>
            <a:chExt cx="114300" cy="163195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6150" y="3543300"/>
              <a:ext cx="88900" cy="9207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3450" y="5092699"/>
              <a:ext cx="114300" cy="8255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082674" y="3505736"/>
            <a:ext cx="820419" cy="1466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solidFill>
                  <a:srgbClr val="B46F08"/>
                </a:solidFill>
                <a:latin typeface="Arial"/>
                <a:cs typeface="Arial"/>
              </a:rPr>
              <a:t>FRAMEWORKS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5024" y="3720400"/>
            <a:ext cx="5322570" cy="9302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-35" b="1">
                <a:solidFill>
                  <a:srgbClr val="121725"/>
                </a:solidFill>
                <a:latin typeface="Arial"/>
                <a:cs typeface="Arial"/>
              </a:rPr>
              <a:t>Technologies</a:t>
            </a:r>
            <a:r>
              <a:rPr dirty="0" sz="1250" spc="-10" b="1">
                <a:solidFill>
                  <a:srgbClr val="121725"/>
                </a:solidFill>
                <a:latin typeface="Arial"/>
                <a:cs typeface="Arial"/>
              </a:rPr>
              <a:t> utilisées</a:t>
            </a:r>
            <a:endParaRPr sz="1250">
              <a:latin typeface="Arial"/>
              <a:cs typeface="Arial"/>
            </a:endParaRPr>
          </a:p>
          <a:p>
            <a:pPr marL="107314">
              <a:lnSpc>
                <a:spcPct val="100000"/>
              </a:lnSpc>
              <a:spcBef>
                <a:spcPts val="900"/>
              </a:spcBef>
              <a:tabLst>
                <a:tab pos="1177290" algn="l"/>
                <a:tab pos="2565400" algn="l"/>
              </a:tabLst>
            </a:pPr>
            <a:r>
              <a:rPr dirty="0" sz="950" spc="-55" b="1">
                <a:solidFill>
                  <a:srgbClr val="2453D5"/>
                </a:solidFill>
                <a:latin typeface="Arial"/>
                <a:cs typeface="Arial"/>
              </a:rPr>
              <a:t>Bootstrap</a:t>
            </a:r>
            <a:r>
              <a:rPr dirty="0" sz="95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2453D5"/>
                </a:solidFill>
                <a:latin typeface="Arial"/>
                <a:cs typeface="Arial"/>
              </a:rPr>
              <a:t>5.3.3</a:t>
            </a:r>
            <a:r>
              <a:rPr dirty="0" sz="900" b="1">
                <a:solidFill>
                  <a:srgbClr val="2453D5"/>
                </a:solidFill>
                <a:latin typeface="Arial"/>
                <a:cs typeface="Arial"/>
              </a:rPr>
              <a:t>	</a:t>
            </a:r>
            <a:r>
              <a:rPr dirty="0" sz="950" spc="-55" b="1">
                <a:solidFill>
                  <a:srgbClr val="B46F08"/>
                </a:solidFill>
                <a:latin typeface="Arial"/>
                <a:cs typeface="Arial"/>
              </a:rPr>
              <a:t>Bootstrap</a:t>
            </a:r>
            <a:r>
              <a:rPr dirty="0" sz="950" spc="-20" b="1">
                <a:solidFill>
                  <a:srgbClr val="B46F08"/>
                </a:solidFill>
                <a:latin typeface="Arial"/>
                <a:cs typeface="Arial"/>
              </a:rPr>
              <a:t> </a:t>
            </a:r>
            <a:r>
              <a:rPr dirty="0" sz="950" spc="-50" b="1">
                <a:solidFill>
                  <a:srgbClr val="B46F08"/>
                </a:solidFill>
                <a:latin typeface="Arial"/>
                <a:cs typeface="Arial"/>
              </a:rPr>
              <a:t>Icons</a:t>
            </a:r>
            <a:r>
              <a:rPr dirty="0" sz="950" spc="-20" b="1">
                <a:solidFill>
                  <a:srgbClr val="B46F08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B46F08"/>
                </a:solidFill>
                <a:latin typeface="Arial"/>
                <a:cs typeface="Arial"/>
              </a:rPr>
              <a:t>1.11.3</a:t>
            </a:r>
            <a:r>
              <a:rPr dirty="0" sz="900" b="1">
                <a:solidFill>
                  <a:srgbClr val="B46F08"/>
                </a:solidFill>
                <a:latin typeface="Arial"/>
                <a:cs typeface="Arial"/>
              </a:rPr>
              <a:t>	</a:t>
            </a:r>
            <a:r>
              <a:rPr dirty="0" sz="950" spc="-40" b="1">
                <a:solidFill>
                  <a:srgbClr val="0E9E6E"/>
                </a:solidFill>
                <a:latin typeface="Arial"/>
                <a:cs typeface="Arial"/>
              </a:rPr>
              <a:t>JavaScript</a:t>
            </a:r>
            <a:r>
              <a:rPr dirty="0" sz="950" spc="5" b="1">
                <a:solidFill>
                  <a:srgbClr val="0E9E6E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0E9E6E"/>
                </a:solidFill>
                <a:latin typeface="Arial"/>
                <a:cs typeface="Arial"/>
              </a:rPr>
              <a:t>Vanilla</a:t>
            </a:r>
            <a:endParaRPr sz="950">
              <a:latin typeface="Arial"/>
              <a:cs typeface="Arial"/>
            </a:endParaRPr>
          </a:p>
          <a:p>
            <a:pPr marL="12700" marR="5080">
              <a:lnSpc>
                <a:spcPct val="102299"/>
              </a:lnSpc>
              <a:spcBef>
                <a:spcPts val="855"/>
              </a:spcBef>
            </a:pPr>
            <a:r>
              <a:rPr dirty="0" sz="1000" spc="-65">
                <a:solidFill>
                  <a:srgbClr val="5C6A81"/>
                </a:solidFill>
                <a:latin typeface="Microsoft Sans Serif"/>
                <a:cs typeface="Microsoft Sans Serif"/>
              </a:rPr>
              <a:t>CSS</a:t>
            </a:r>
            <a:r>
              <a:rPr dirty="0" sz="100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via</a:t>
            </a:r>
            <a:r>
              <a:rPr dirty="0" sz="1000" spc="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Bootstrap</a:t>
            </a:r>
            <a:r>
              <a:rPr dirty="0" sz="100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(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grille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00" spc="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composants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00" spc="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0">
                <a:solidFill>
                  <a:srgbClr val="5C6A81"/>
                </a:solidFill>
                <a:latin typeface="Microsoft Sans Serif"/>
                <a:cs typeface="Microsoft Sans Serif"/>
              </a:rPr>
              <a:t>navbar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00" spc="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accordion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).</a:t>
            </a:r>
            <a:r>
              <a:rPr dirty="0" sz="1100" spc="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JS</a:t>
            </a:r>
            <a:r>
              <a:rPr dirty="0" sz="100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0">
                <a:solidFill>
                  <a:srgbClr val="5C6A81"/>
                </a:solidFill>
                <a:latin typeface="Microsoft Sans Serif"/>
                <a:cs typeface="Microsoft Sans Serif"/>
              </a:rPr>
              <a:t>Vanilla</a:t>
            </a:r>
            <a:r>
              <a:rPr dirty="0" sz="100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pour</a:t>
            </a:r>
            <a:r>
              <a:rPr dirty="0" sz="10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l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interactivité</a:t>
            </a:r>
            <a:r>
              <a:rPr dirty="0" sz="10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(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mode sombre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filtres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compteurs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validation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).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82674" y="5058311"/>
            <a:ext cx="852805" cy="1466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solidFill>
                  <a:srgbClr val="0E9E6E"/>
                </a:solidFill>
                <a:latin typeface="Arial"/>
                <a:cs typeface="Arial"/>
              </a:rPr>
              <a:t>HÉBERGEMENT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47712" y="5562612"/>
            <a:ext cx="5505450" cy="342900"/>
          </a:xfrm>
          <a:custGeom>
            <a:avLst/>
            <a:gdLst/>
            <a:ahLst/>
            <a:cxnLst/>
            <a:rect l="l" t="t" r="r" b="b"/>
            <a:pathLst>
              <a:path w="5505450" h="342900">
                <a:moveTo>
                  <a:pt x="704850" y="214020"/>
                </a:moveTo>
                <a:lnTo>
                  <a:pt x="676668" y="181940"/>
                </a:lnTo>
                <a:lnTo>
                  <a:pt x="671804" y="180975"/>
                </a:lnTo>
                <a:lnTo>
                  <a:pt x="0" y="180975"/>
                </a:lnTo>
                <a:lnTo>
                  <a:pt x="0" y="342900"/>
                </a:lnTo>
                <a:lnTo>
                  <a:pt x="671804" y="342900"/>
                </a:lnTo>
                <a:lnTo>
                  <a:pt x="703884" y="314706"/>
                </a:lnTo>
                <a:lnTo>
                  <a:pt x="704850" y="309841"/>
                </a:lnTo>
                <a:lnTo>
                  <a:pt x="704850" y="214020"/>
                </a:lnTo>
                <a:close/>
              </a:path>
              <a:path w="5505450" h="342900">
                <a:moveTo>
                  <a:pt x="5505450" y="0"/>
                </a:moveTo>
                <a:lnTo>
                  <a:pt x="2595283" y="0"/>
                </a:lnTo>
                <a:lnTo>
                  <a:pt x="2590419" y="965"/>
                </a:lnTo>
                <a:lnTo>
                  <a:pt x="2563203" y="28181"/>
                </a:lnTo>
                <a:lnTo>
                  <a:pt x="2562225" y="33045"/>
                </a:lnTo>
                <a:lnTo>
                  <a:pt x="2562225" y="128866"/>
                </a:lnTo>
                <a:lnTo>
                  <a:pt x="2590419" y="160947"/>
                </a:lnTo>
                <a:lnTo>
                  <a:pt x="2595283" y="161925"/>
                </a:lnTo>
                <a:lnTo>
                  <a:pt x="5505450" y="161925"/>
                </a:lnTo>
                <a:lnTo>
                  <a:pt x="5505450" y="0"/>
                </a:lnTo>
                <a:close/>
              </a:path>
            </a:pathLst>
          </a:custGeom>
          <a:solidFill>
            <a:srgbClr val="2453D5">
              <a:alpha val="587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35024" y="5195179"/>
            <a:ext cx="5530215" cy="709295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1250" spc="-40" b="1">
                <a:solidFill>
                  <a:srgbClr val="121725"/>
                </a:solidFill>
                <a:latin typeface="Arial"/>
                <a:cs typeface="Arial"/>
              </a:rPr>
              <a:t>GitHub</a:t>
            </a:r>
            <a:r>
              <a:rPr dirty="0" sz="1250" spc="-6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250" spc="-20" b="1">
                <a:solidFill>
                  <a:srgbClr val="121725"/>
                </a:solidFill>
                <a:latin typeface="Arial"/>
                <a:cs typeface="Arial"/>
              </a:rPr>
              <a:t>Pages</a:t>
            </a:r>
            <a:endParaRPr sz="1250">
              <a:latin typeface="Arial"/>
              <a:cs typeface="Arial"/>
            </a:endParaRPr>
          </a:p>
          <a:p>
            <a:pPr marL="12700" marR="5080">
              <a:lnSpc>
                <a:spcPct val="119300"/>
              </a:lnSpc>
              <a:spcBef>
                <a:spcPts val="270"/>
              </a:spcBef>
            </a:pP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Hébergement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gratuit</a:t>
            </a:r>
            <a:r>
              <a:rPr dirty="0" sz="100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5C6A81"/>
                </a:solidFill>
                <a:latin typeface="Microsoft Sans Serif"/>
                <a:cs typeface="Microsoft Sans Serif"/>
              </a:rPr>
              <a:t>via</a:t>
            </a:r>
            <a:r>
              <a:rPr dirty="0" sz="1000" spc="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5C6A81"/>
                </a:solidFill>
                <a:latin typeface="Microsoft Sans Serif"/>
                <a:cs typeface="Microsoft Sans Serif"/>
              </a:rPr>
              <a:t>GitHub</a:t>
            </a:r>
            <a:r>
              <a:rPr dirty="0" sz="1000" spc="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5">
                <a:solidFill>
                  <a:srgbClr val="5C6A81"/>
                </a:solidFill>
                <a:latin typeface="Microsoft Sans Serif"/>
                <a:cs typeface="Microsoft Sans Serif"/>
              </a:rPr>
              <a:t>Pages</a:t>
            </a:r>
            <a:r>
              <a:rPr dirty="0" sz="1100" spc="-25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dirty="0" sz="1100" spc="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65">
                <a:solidFill>
                  <a:srgbClr val="5C6A81"/>
                </a:solidFill>
                <a:latin typeface="Microsoft Sans Serif"/>
                <a:cs typeface="Microsoft Sans Serif"/>
              </a:rPr>
              <a:t>URL</a:t>
            </a:r>
            <a:r>
              <a:rPr dirty="0" sz="100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:</a:t>
            </a:r>
            <a:r>
              <a:rPr dirty="0" sz="1100" spc="4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85">
                <a:solidFill>
                  <a:srgbClr val="2453D5"/>
                </a:solidFill>
                <a:latin typeface="Lucida Console"/>
                <a:cs typeface="Lucida Console"/>
              </a:rPr>
              <a:t>agent243.</a:t>
            </a:r>
            <a:r>
              <a:rPr dirty="0" sz="950" spc="-390">
                <a:solidFill>
                  <a:srgbClr val="2453D5"/>
                </a:solidFill>
                <a:latin typeface="Lucida Console"/>
                <a:cs typeface="Lucida Console"/>
              </a:rPr>
              <a:t> </a:t>
            </a:r>
            <a:r>
              <a:rPr dirty="0" sz="950" spc="-95">
                <a:solidFill>
                  <a:srgbClr val="2453D5"/>
                </a:solidFill>
                <a:latin typeface="Lucida Console"/>
                <a:cs typeface="Lucida Console"/>
              </a:rPr>
              <a:t>github.</a:t>
            </a:r>
            <a:r>
              <a:rPr dirty="0" sz="950" spc="-395">
                <a:solidFill>
                  <a:srgbClr val="2453D5"/>
                </a:solidFill>
                <a:latin typeface="Lucida Console"/>
                <a:cs typeface="Lucida Console"/>
              </a:rPr>
              <a:t> </a:t>
            </a:r>
            <a:r>
              <a:rPr dirty="0" sz="950" spc="-75">
                <a:solidFill>
                  <a:srgbClr val="2453D5"/>
                </a:solidFill>
                <a:latin typeface="Lucida Console"/>
                <a:cs typeface="Lucida Console"/>
              </a:rPr>
              <a:t>io/Muteba-</a:t>
            </a:r>
            <a:r>
              <a:rPr dirty="0" sz="950" spc="-480">
                <a:solidFill>
                  <a:srgbClr val="2453D5"/>
                </a:solidFill>
                <a:latin typeface="Lucida Console"/>
                <a:cs typeface="Lucida Console"/>
              </a:rPr>
              <a:t> </a:t>
            </a:r>
            <a:r>
              <a:rPr dirty="0" sz="950" spc="-100">
                <a:solidFill>
                  <a:srgbClr val="2453D5"/>
                </a:solidFill>
                <a:latin typeface="Lucida Console"/>
                <a:cs typeface="Lucida Console"/>
              </a:rPr>
              <a:t>Wa-</a:t>
            </a:r>
            <a:r>
              <a:rPr dirty="0" sz="950" spc="-475">
                <a:solidFill>
                  <a:srgbClr val="2453D5"/>
                </a:solidFill>
                <a:latin typeface="Lucida Console"/>
                <a:cs typeface="Lucida Console"/>
              </a:rPr>
              <a:t> </a:t>
            </a:r>
            <a:r>
              <a:rPr dirty="0" sz="950" spc="-80">
                <a:solidFill>
                  <a:srgbClr val="2453D5"/>
                </a:solidFill>
                <a:latin typeface="Lucida Console"/>
                <a:cs typeface="Lucida Console"/>
              </a:rPr>
              <a:t>Muteba-</a:t>
            </a:r>
            <a:r>
              <a:rPr dirty="0" sz="950" spc="-480">
                <a:solidFill>
                  <a:srgbClr val="2453D5"/>
                </a:solidFill>
                <a:latin typeface="Lucida Console"/>
                <a:cs typeface="Lucida Console"/>
              </a:rPr>
              <a:t> </a:t>
            </a:r>
            <a:r>
              <a:rPr dirty="0" sz="950" spc="-80">
                <a:solidFill>
                  <a:srgbClr val="2453D5"/>
                </a:solidFill>
                <a:latin typeface="Lucida Console"/>
                <a:cs typeface="Lucida Console"/>
              </a:rPr>
              <a:t>Isreal-</a:t>
            </a:r>
            <a:r>
              <a:rPr dirty="0" sz="950" spc="-475">
                <a:solidFill>
                  <a:srgbClr val="2453D5"/>
                </a:solidFill>
                <a:latin typeface="Lucida Console"/>
                <a:cs typeface="Lucida Console"/>
              </a:rPr>
              <a:t> </a:t>
            </a:r>
            <a:r>
              <a:rPr dirty="0" sz="950" spc="-50">
                <a:solidFill>
                  <a:srgbClr val="2453D5"/>
                </a:solidFill>
                <a:latin typeface="Lucida Console"/>
                <a:cs typeface="Lucida Console"/>
              </a:rPr>
              <a:t>A </a:t>
            </a:r>
            <a:r>
              <a:rPr dirty="0" sz="950" spc="-10">
                <a:solidFill>
                  <a:srgbClr val="2453D5"/>
                </a:solidFill>
                <a:latin typeface="Lucida Console"/>
                <a:cs typeface="Lucida Console"/>
              </a:rPr>
              <a:t>friTalent/</a:t>
            </a:r>
            <a:endParaRPr sz="950">
              <a:latin typeface="Lucida Console"/>
              <a:cs typeface="Lucida Console"/>
            </a:endParaRPr>
          </a:p>
        </p:txBody>
      </p:sp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5799" y="533400"/>
            <a:ext cx="266699" cy="266699"/>
          </a:xfrm>
          <a:prstGeom prst="rect">
            <a:avLst/>
          </a:prstGeom>
        </p:spPr>
      </p:pic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4005" algn="l"/>
              </a:tabLst>
            </a:pPr>
            <a:r>
              <a:rPr dirty="0" sz="1100" spc="35">
                <a:solidFill>
                  <a:srgbClr val="FFFFFF"/>
                </a:solidFill>
              </a:rPr>
              <a:t>A</a:t>
            </a:r>
            <a:r>
              <a:rPr dirty="0" sz="1100">
                <a:solidFill>
                  <a:srgbClr val="FFFFFF"/>
                </a:solidFill>
              </a:rPr>
              <a:t>	</a:t>
            </a:r>
            <a:r>
              <a:rPr dirty="0" spc="-20">
                <a:solidFill>
                  <a:srgbClr val="2453D5"/>
                </a:solidFill>
              </a:rPr>
              <a:t>AfriTalent</a:t>
            </a:r>
            <a:r>
              <a:rPr dirty="0" spc="-80">
                <a:solidFill>
                  <a:srgbClr val="2453D5"/>
                </a:solidFill>
              </a:rPr>
              <a:t> </a:t>
            </a:r>
            <a:r>
              <a:rPr dirty="0" sz="1350" spc="-50"/>
              <a:t>—</a:t>
            </a:r>
            <a:r>
              <a:rPr dirty="0" sz="1350" spc="-210"/>
              <a:t> </a:t>
            </a:r>
            <a:r>
              <a:rPr dirty="0" spc="-25"/>
              <a:t>Présentation</a:t>
            </a:r>
            <a:endParaRPr sz="1350"/>
          </a:p>
        </p:txBody>
      </p:sp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7249" y="552449"/>
            <a:ext cx="76199" cy="76199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6705599" y="1924050"/>
            <a:ext cx="4800600" cy="4114800"/>
            <a:chOff x="6705599" y="1924050"/>
            <a:chExt cx="4800600" cy="4114800"/>
          </a:xfrm>
        </p:grpSpPr>
        <p:sp>
          <p:nvSpPr>
            <p:cNvPr id="23" name="object 23"/>
            <p:cNvSpPr/>
            <p:nvPr/>
          </p:nvSpPr>
          <p:spPr>
            <a:xfrm>
              <a:off x="6705599" y="1924050"/>
              <a:ext cx="4800600" cy="4114800"/>
            </a:xfrm>
            <a:custGeom>
              <a:avLst/>
              <a:gdLst/>
              <a:ahLst/>
              <a:cxnLst/>
              <a:rect l="l" t="t" r="r" b="b"/>
              <a:pathLst>
                <a:path w="4800600" h="4114800">
                  <a:moveTo>
                    <a:pt x="4693805" y="4114798"/>
                  </a:moveTo>
                  <a:lnTo>
                    <a:pt x="106795" y="4114798"/>
                  </a:lnTo>
                  <a:lnTo>
                    <a:pt x="99361" y="4114067"/>
                  </a:lnTo>
                  <a:lnTo>
                    <a:pt x="57038" y="4099705"/>
                  </a:lnTo>
                  <a:lnTo>
                    <a:pt x="23432" y="4070240"/>
                  </a:lnTo>
                  <a:lnTo>
                    <a:pt x="3660" y="4030158"/>
                  </a:lnTo>
                  <a:lnTo>
                    <a:pt x="0" y="4008004"/>
                  </a:lnTo>
                  <a:lnTo>
                    <a:pt x="0" y="4000499"/>
                  </a:lnTo>
                  <a:lnTo>
                    <a:pt x="0" y="106794"/>
                  </a:lnTo>
                  <a:lnTo>
                    <a:pt x="11572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5" y="0"/>
                  </a:lnTo>
                  <a:lnTo>
                    <a:pt x="4693805" y="0"/>
                  </a:lnTo>
                  <a:lnTo>
                    <a:pt x="4736973" y="11572"/>
                  </a:lnTo>
                  <a:lnTo>
                    <a:pt x="4772428" y="38784"/>
                  </a:lnTo>
                  <a:lnTo>
                    <a:pt x="4794770" y="77492"/>
                  </a:lnTo>
                  <a:lnTo>
                    <a:pt x="4800600" y="106794"/>
                  </a:lnTo>
                  <a:lnTo>
                    <a:pt x="4800600" y="4008004"/>
                  </a:lnTo>
                  <a:lnTo>
                    <a:pt x="4789025" y="4051173"/>
                  </a:lnTo>
                  <a:lnTo>
                    <a:pt x="4761815" y="4086627"/>
                  </a:lnTo>
                  <a:lnTo>
                    <a:pt x="4723106" y="4108969"/>
                  </a:lnTo>
                  <a:lnTo>
                    <a:pt x="4701237" y="4114067"/>
                  </a:lnTo>
                  <a:lnTo>
                    <a:pt x="4693805" y="4114798"/>
                  </a:lnTo>
                  <a:close/>
                </a:path>
              </a:pathLst>
            </a:custGeom>
            <a:solidFill>
              <a:srgbClr val="11172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171176" y="4703063"/>
              <a:ext cx="1335023" cy="133578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89750" y="2120899"/>
              <a:ext cx="146050" cy="120650"/>
            </a:xfrm>
            <a:prstGeom prst="rect">
              <a:avLst/>
            </a:prstGeom>
          </p:spPr>
        </p:pic>
      </p:grpSp>
      <p:sp>
        <p:nvSpPr>
          <p:cNvPr id="26" name="object 26"/>
          <p:cNvSpPr/>
          <p:nvPr/>
        </p:nvSpPr>
        <p:spPr>
          <a:xfrm>
            <a:off x="685799" y="6334124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10820399" y="9524"/>
                </a:moveTo>
                <a:lnTo>
                  <a:pt x="0" y="9524"/>
                </a:lnTo>
                <a:lnTo>
                  <a:pt x="0" y="0"/>
                </a:lnTo>
                <a:lnTo>
                  <a:pt x="10820399" y="0"/>
                </a:lnTo>
                <a:lnTo>
                  <a:pt x="10820399" y="9524"/>
                </a:lnTo>
                <a:close/>
              </a:path>
            </a:pathLst>
          </a:custGeom>
          <a:solidFill>
            <a:srgbClr val="E4E8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7111999" y="2064017"/>
            <a:ext cx="1748155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0" b="1">
                <a:solidFill>
                  <a:srgbClr val="FFFFFF"/>
                </a:solidFill>
                <a:latin typeface="Arial"/>
                <a:cs typeface="Arial"/>
              </a:rPr>
              <a:t>Organisation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des</a:t>
            </a:r>
            <a:r>
              <a:rPr dirty="0" sz="12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fichiers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83784" y="2478136"/>
            <a:ext cx="943610" cy="863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121500"/>
              </a:lnSpc>
              <a:spcBef>
                <a:spcPts val="130"/>
              </a:spcBef>
            </a:pPr>
            <a:r>
              <a:rPr dirty="0" sz="900" spc="-455" i="1">
                <a:solidFill>
                  <a:srgbClr val="94A2B8"/>
                </a:solidFill>
                <a:latin typeface="Courier New"/>
                <a:cs typeface="Courier New"/>
              </a:rPr>
              <a:t>(accueil)</a:t>
            </a:r>
            <a:r>
              <a:rPr dirty="0" sz="900" spc="500" i="1">
                <a:solidFill>
                  <a:srgbClr val="94A2B8"/>
                </a:solidFill>
                <a:latin typeface="Courier New"/>
                <a:cs typeface="Courier New"/>
              </a:rPr>
              <a:t>      </a:t>
            </a:r>
            <a:r>
              <a:rPr dirty="0" sz="900" spc="-459" i="1">
                <a:solidFill>
                  <a:srgbClr val="94A2B8"/>
                </a:solidFill>
                <a:latin typeface="Courier New"/>
                <a:cs typeface="Courier New"/>
              </a:rPr>
              <a:t>(annuaire)</a:t>
            </a:r>
            <a:r>
              <a:rPr dirty="0" sz="900" spc="500" i="1">
                <a:solidFill>
                  <a:srgbClr val="94A2B8"/>
                </a:solidFill>
                <a:latin typeface="Courier New"/>
                <a:cs typeface="Courier New"/>
              </a:rPr>
              <a:t>      </a:t>
            </a:r>
            <a:r>
              <a:rPr dirty="0" sz="900" spc="-420" i="1">
                <a:solidFill>
                  <a:srgbClr val="94A2B8"/>
                </a:solidFill>
                <a:latin typeface="Courier New"/>
                <a:cs typeface="Courier New"/>
              </a:rPr>
              <a:t>(tarifs</a:t>
            </a:r>
            <a:r>
              <a:rPr dirty="0" sz="900" spc="-434" i="1">
                <a:solidFill>
                  <a:srgbClr val="94A2B8"/>
                </a:solidFill>
                <a:latin typeface="Courier New"/>
                <a:cs typeface="Courier New"/>
              </a:rPr>
              <a:t> </a:t>
            </a:r>
            <a:r>
              <a:rPr dirty="0" sz="900" spc="20" i="1">
                <a:solidFill>
                  <a:srgbClr val="94A2B8"/>
                </a:solidFill>
                <a:latin typeface="Courier New"/>
                <a:cs typeface="Courier New"/>
              </a:rPr>
              <a:t>+</a:t>
            </a:r>
            <a:r>
              <a:rPr dirty="0" sz="900" spc="-535" i="1">
                <a:solidFill>
                  <a:srgbClr val="94A2B8"/>
                </a:solidFill>
                <a:latin typeface="Courier New"/>
                <a:cs typeface="Courier New"/>
              </a:rPr>
              <a:t>FAQ</a:t>
            </a:r>
            <a:r>
              <a:rPr dirty="0" sz="900" spc="-65" i="1">
                <a:solidFill>
                  <a:srgbClr val="94A2B8"/>
                </a:solidFill>
                <a:latin typeface="Courier New"/>
                <a:cs typeface="Courier New"/>
              </a:rPr>
              <a:t>)</a:t>
            </a:r>
            <a:r>
              <a:rPr dirty="0" sz="900" spc="500" i="1">
                <a:solidFill>
                  <a:srgbClr val="94A2B8"/>
                </a:solidFill>
                <a:latin typeface="Courier New"/>
                <a:cs typeface="Courier New"/>
              </a:rPr>
              <a:t>     </a:t>
            </a:r>
            <a:r>
              <a:rPr dirty="0" sz="900" spc="-280" i="1">
                <a:solidFill>
                  <a:srgbClr val="94A2B8"/>
                </a:solidFill>
                <a:latin typeface="Courier New"/>
                <a:cs typeface="Courier New"/>
              </a:rPr>
              <a:t>(à</a:t>
            </a:r>
            <a:r>
              <a:rPr dirty="0" sz="900" spc="-434" i="1">
                <a:solidFill>
                  <a:srgbClr val="94A2B8"/>
                </a:solidFill>
                <a:latin typeface="Courier New"/>
                <a:cs typeface="Courier New"/>
              </a:rPr>
              <a:t> </a:t>
            </a:r>
            <a:r>
              <a:rPr dirty="0" sz="900" spc="-445" i="1">
                <a:solidFill>
                  <a:srgbClr val="94A2B8"/>
                </a:solidFill>
                <a:latin typeface="Courier New"/>
                <a:cs typeface="Courier New"/>
              </a:rPr>
              <a:t>propos)</a:t>
            </a:r>
            <a:r>
              <a:rPr dirty="0" sz="900" spc="500" i="1">
                <a:solidFill>
                  <a:srgbClr val="94A2B8"/>
                </a:solidFill>
                <a:latin typeface="Courier New"/>
                <a:cs typeface="Courier New"/>
              </a:rPr>
              <a:t>      </a:t>
            </a:r>
            <a:r>
              <a:rPr dirty="0" sz="900" spc="-455" i="1">
                <a:solidFill>
                  <a:srgbClr val="94A2B8"/>
                </a:solidFill>
                <a:latin typeface="Courier New"/>
                <a:cs typeface="Courier New"/>
              </a:rPr>
              <a:t>(contact)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64349" y="2305093"/>
            <a:ext cx="1220470" cy="120777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900" spc="-10" b="1">
                <a:solidFill>
                  <a:srgbClr val="93C4FD"/>
                </a:solidFill>
                <a:latin typeface="Courier New"/>
                <a:cs typeface="Courier New"/>
              </a:rPr>
              <a:t>AfriTalent/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800">
                <a:solidFill>
                  <a:srgbClr val="CBD5E1"/>
                </a:solidFill>
                <a:latin typeface="Courier New"/>
                <a:cs typeface="Courier New"/>
              </a:rPr>
              <a:t>├──</a:t>
            </a:r>
            <a:r>
              <a:rPr dirty="0" sz="800" spc="75">
                <a:solidFill>
                  <a:srgbClr val="CBD5E1"/>
                </a:solidFill>
                <a:latin typeface="Courier New"/>
                <a:cs typeface="Courier New"/>
              </a:rPr>
              <a:t> </a:t>
            </a:r>
            <a:r>
              <a:rPr dirty="0" sz="900" spc="-90">
                <a:solidFill>
                  <a:srgbClr val="E2E7F0"/>
                </a:solidFill>
                <a:latin typeface="Lucida Console"/>
                <a:cs typeface="Lucida Console"/>
              </a:rPr>
              <a:t>index.</a:t>
            </a:r>
            <a:r>
              <a:rPr dirty="0" sz="900" spc="-355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dirty="0" sz="900" spc="-20">
                <a:solidFill>
                  <a:srgbClr val="E2E7F0"/>
                </a:solidFill>
                <a:latin typeface="Lucida Console"/>
                <a:cs typeface="Lucida Console"/>
              </a:rPr>
              <a:t>html</a:t>
            </a:r>
            <a:endParaRPr sz="9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800">
                <a:solidFill>
                  <a:srgbClr val="CBD5E1"/>
                </a:solidFill>
                <a:latin typeface="Courier New"/>
                <a:cs typeface="Courier New"/>
              </a:rPr>
              <a:t>├──</a:t>
            </a:r>
            <a:r>
              <a:rPr dirty="0" sz="800" spc="114">
                <a:solidFill>
                  <a:srgbClr val="CBD5E1"/>
                </a:solidFill>
                <a:latin typeface="Courier New"/>
                <a:cs typeface="Courier New"/>
              </a:rPr>
              <a:t> </a:t>
            </a:r>
            <a:r>
              <a:rPr dirty="0" sz="900" spc="-80">
                <a:solidFill>
                  <a:srgbClr val="E2E7F0"/>
                </a:solidFill>
                <a:latin typeface="Lucida Console"/>
                <a:cs typeface="Lucida Console"/>
              </a:rPr>
              <a:t>freelances.</a:t>
            </a:r>
            <a:r>
              <a:rPr dirty="0" sz="900" spc="-35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dirty="0" sz="900" spc="-20">
                <a:solidFill>
                  <a:srgbClr val="E2E7F0"/>
                </a:solidFill>
                <a:latin typeface="Lucida Console"/>
                <a:cs typeface="Lucida Console"/>
              </a:rPr>
              <a:t>html</a:t>
            </a:r>
            <a:endParaRPr sz="9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800">
                <a:solidFill>
                  <a:srgbClr val="CBD5E1"/>
                </a:solidFill>
                <a:latin typeface="Courier New"/>
                <a:cs typeface="Courier New"/>
              </a:rPr>
              <a:t>├──</a:t>
            </a:r>
            <a:r>
              <a:rPr dirty="0" sz="800" spc="105">
                <a:solidFill>
                  <a:srgbClr val="CBD5E1"/>
                </a:solidFill>
                <a:latin typeface="Courier New"/>
                <a:cs typeface="Courier New"/>
              </a:rPr>
              <a:t> </a:t>
            </a:r>
            <a:r>
              <a:rPr dirty="0" sz="900" spc="-90">
                <a:solidFill>
                  <a:srgbClr val="E2E7F0"/>
                </a:solidFill>
                <a:latin typeface="Lucida Console"/>
                <a:cs typeface="Lucida Console"/>
              </a:rPr>
              <a:t>tarifs.</a:t>
            </a:r>
            <a:r>
              <a:rPr dirty="0" sz="900" spc="-345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dirty="0" sz="900" spc="-20">
                <a:solidFill>
                  <a:srgbClr val="E2E7F0"/>
                </a:solidFill>
                <a:latin typeface="Lucida Console"/>
                <a:cs typeface="Lucida Console"/>
              </a:rPr>
              <a:t>html</a:t>
            </a:r>
            <a:endParaRPr sz="9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800">
                <a:solidFill>
                  <a:srgbClr val="CBD5E1"/>
                </a:solidFill>
                <a:latin typeface="Courier New"/>
                <a:cs typeface="Courier New"/>
              </a:rPr>
              <a:t>├──</a:t>
            </a:r>
            <a:r>
              <a:rPr dirty="0" sz="800" spc="85">
                <a:solidFill>
                  <a:srgbClr val="CBD5E1"/>
                </a:solidFill>
                <a:latin typeface="Courier New"/>
                <a:cs typeface="Courier New"/>
              </a:rPr>
              <a:t> </a:t>
            </a:r>
            <a:r>
              <a:rPr dirty="0" sz="900" spc="-90">
                <a:solidFill>
                  <a:srgbClr val="E2E7F0"/>
                </a:solidFill>
                <a:latin typeface="Lucida Console"/>
                <a:cs typeface="Lucida Console"/>
              </a:rPr>
              <a:t>about.</a:t>
            </a:r>
            <a:r>
              <a:rPr dirty="0" sz="900" spc="-355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dirty="0" sz="900" spc="-20">
                <a:solidFill>
                  <a:srgbClr val="E2E7F0"/>
                </a:solidFill>
                <a:latin typeface="Lucida Console"/>
                <a:cs typeface="Lucida Console"/>
              </a:rPr>
              <a:t>html</a:t>
            </a:r>
            <a:endParaRPr sz="9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800">
                <a:solidFill>
                  <a:srgbClr val="CBD5E1"/>
                </a:solidFill>
                <a:latin typeface="Courier New"/>
                <a:cs typeface="Courier New"/>
              </a:rPr>
              <a:t>├──</a:t>
            </a:r>
            <a:r>
              <a:rPr dirty="0" sz="800" spc="105">
                <a:solidFill>
                  <a:srgbClr val="CBD5E1"/>
                </a:solidFill>
                <a:latin typeface="Courier New"/>
                <a:cs typeface="Courier New"/>
              </a:rPr>
              <a:t> </a:t>
            </a:r>
            <a:r>
              <a:rPr dirty="0" sz="900" spc="-85">
                <a:solidFill>
                  <a:srgbClr val="E2E7F0"/>
                </a:solidFill>
                <a:latin typeface="Lucida Console"/>
                <a:cs typeface="Lucida Console"/>
              </a:rPr>
              <a:t>contact.</a:t>
            </a:r>
            <a:r>
              <a:rPr dirty="0" sz="900" spc="-35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dirty="0" sz="900" spc="-20">
                <a:solidFill>
                  <a:srgbClr val="E2E7F0"/>
                </a:solidFill>
                <a:latin typeface="Lucida Console"/>
                <a:cs typeface="Lucida Console"/>
              </a:rPr>
              <a:t>html</a:t>
            </a:r>
            <a:endParaRPr sz="9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800">
                <a:solidFill>
                  <a:srgbClr val="CBD5E1"/>
                </a:solidFill>
                <a:latin typeface="Courier New"/>
                <a:cs typeface="Courier New"/>
              </a:rPr>
              <a:t>├──</a:t>
            </a:r>
            <a:r>
              <a:rPr dirty="0" sz="800" spc="70">
                <a:solidFill>
                  <a:srgbClr val="CBD5E1"/>
                </a:solidFill>
                <a:latin typeface="Courier New"/>
                <a:cs typeface="Courier New"/>
              </a:rPr>
              <a:t> </a:t>
            </a:r>
            <a:r>
              <a:rPr dirty="0" sz="900" spc="-20" b="1">
                <a:solidFill>
                  <a:srgbClr val="93C4FD"/>
                </a:solidFill>
                <a:latin typeface="Courier New"/>
                <a:cs typeface="Courier New"/>
              </a:rPr>
              <a:t>css/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64350" y="3519629"/>
            <a:ext cx="1090930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63525" algn="l"/>
              </a:tabLst>
            </a:pPr>
            <a:r>
              <a:rPr dirty="0" sz="800" spc="-50">
                <a:solidFill>
                  <a:srgbClr val="CBD5E1"/>
                </a:solidFill>
                <a:latin typeface="Courier New"/>
                <a:cs typeface="Courier New"/>
              </a:rPr>
              <a:t>│</a:t>
            </a:r>
            <a:r>
              <a:rPr dirty="0" sz="800">
                <a:solidFill>
                  <a:srgbClr val="CBD5E1"/>
                </a:solidFill>
                <a:latin typeface="Courier New"/>
                <a:cs typeface="Courier New"/>
              </a:rPr>
              <a:t>	└──</a:t>
            </a:r>
            <a:r>
              <a:rPr dirty="0" sz="800" spc="80">
                <a:solidFill>
                  <a:srgbClr val="CBD5E1"/>
                </a:solidFill>
                <a:latin typeface="Courier New"/>
                <a:cs typeface="Courier New"/>
              </a:rPr>
              <a:t> </a:t>
            </a:r>
            <a:r>
              <a:rPr dirty="0" sz="900" spc="-90">
                <a:solidFill>
                  <a:srgbClr val="E2E7F0"/>
                </a:solidFill>
                <a:latin typeface="Lucida Console"/>
                <a:cs typeface="Lucida Console"/>
              </a:rPr>
              <a:t>style.</a:t>
            </a:r>
            <a:r>
              <a:rPr dirty="0" sz="900" spc="-355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dirty="0" sz="900" spc="-25">
                <a:solidFill>
                  <a:srgbClr val="E2E7F0"/>
                </a:solidFill>
                <a:latin typeface="Lucida Console"/>
                <a:cs typeface="Lucida Console"/>
              </a:rPr>
              <a:t>css</a:t>
            </a:r>
            <a:endParaRPr sz="900">
              <a:latin typeface="Lucida Console"/>
              <a:cs typeface="Lucida Consol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283933" y="3516067"/>
            <a:ext cx="817880" cy="1689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900" spc="-105" i="1">
                <a:solidFill>
                  <a:srgbClr val="94A2B8"/>
                </a:solidFill>
                <a:latin typeface="Courier New"/>
                <a:cs typeface="Courier New"/>
              </a:rPr>
              <a:t>(</a:t>
            </a:r>
            <a:r>
              <a:rPr dirty="0" sz="900" spc="-105" b="1">
                <a:solidFill>
                  <a:srgbClr val="FABE24"/>
                </a:solidFill>
                <a:latin typeface="Courier New"/>
                <a:cs typeface="Courier New"/>
              </a:rPr>
              <a:t>859</a:t>
            </a:r>
            <a:r>
              <a:rPr dirty="0" sz="900" spc="-25" b="1">
                <a:solidFill>
                  <a:srgbClr val="FABE24"/>
                </a:solidFill>
                <a:latin typeface="Courier New"/>
                <a:cs typeface="Courier New"/>
              </a:rPr>
              <a:t> </a:t>
            </a:r>
            <a:r>
              <a:rPr dirty="0" sz="900" spc="-10" b="1">
                <a:solidFill>
                  <a:srgbClr val="FABE24"/>
                </a:solidFill>
                <a:latin typeface="Courier New"/>
                <a:cs typeface="Courier New"/>
              </a:rPr>
              <a:t>lignes</a:t>
            </a:r>
            <a:r>
              <a:rPr dirty="0" sz="900" spc="-10" i="1">
                <a:solidFill>
                  <a:srgbClr val="94A2B8"/>
                </a:solidFill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864350" y="3648118"/>
            <a:ext cx="965200" cy="53149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800">
                <a:solidFill>
                  <a:srgbClr val="CBD5E1"/>
                </a:solidFill>
                <a:latin typeface="Courier New"/>
                <a:cs typeface="Courier New"/>
              </a:rPr>
              <a:t>├──</a:t>
            </a:r>
            <a:r>
              <a:rPr dirty="0" sz="800" spc="70">
                <a:solidFill>
                  <a:srgbClr val="CBD5E1"/>
                </a:solidFill>
                <a:latin typeface="Courier New"/>
                <a:cs typeface="Courier New"/>
              </a:rPr>
              <a:t> </a:t>
            </a:r>
            <a:r>
              <a:rPr dirty="0" sz="900" spc="-25" b="1">
                <a:solidFill>
                  <a:srgbClr val="93C4FD"/>
                </a:solidFill>
                <a:latin typeface="Courier New"/>
                <a:cs typeface="Courier New"/>
              </a:rPr>
              <a:t>js/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  <a:tabLst>
                <a:tab pos="263525" algn="l"/>
              </a:tabLst>
            </a:pPr>
            <a:r>
              <a:rPr dirty="0" sz="800" spc="-50">
                <a:solidFill>
                  <a:srgbClr val="CBD5E1"/>
                </a:solidFill>
                <a:latin typeface="Courier New"/>
                <a:cs typeface="Courier New"/>
              </a:rPr>
              <a:t>│</a:t>
            </a:r>
            <a:r>
              <a:rPr dirty="0" sz="800">
                <a:solidFill>
                  <a:srgbClr val="CBD5E1"/>
                </a:solidFill>
                <a:latin typeface="Courier New"/>
                <a:cs typeface="Courier New"/>
              </a:rPr>
              <a:t>	└──</a:t>
            </a:r>
            <a:r>
              <a:rPr dirty="0" sz="800" spc="80">
                <a:solidFill>
                  <a:srgbClr val="CBD5E1"/>
                </a:solidFill>
                <a:latin typeface="Courier New"/>
                <a:cs typeface="Courier New"/>
              </a:rPr>
              <a:t> </a:t>
            </a:r>
            <a:r>
              <a:rPr dirty="0" sz="900" spc="-95">
                <a:solidFill>
                  <a:srgbClr val="E2E7F0"/>
                </a:solidFill>
                <a:latin typeface="Lucida Console"/>
                <a:cs typeface="Lucida Console"/>
              </a:rPr>
              <a:t>main.</a:t>
            </a:r>
            <a:r>
              <a:rPr dirty="0" sz="900" spc="-355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dirty="0" sz="900" spc="-25">
                <a:solidFill>
                  <a:srgbClr val="E2E7F0"/>
                </a:solidFill>
                <a:latin typeface="Lucida Console"/>
                <a:cs typeface="Lucida Console"/>
              </a:rPr>
              <a:t>js</a:t>
            </a:r>
            <a:endParaRPr sz="9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800">
                <a:solidFill>
                  <a:srgbClr val="CBD5E1"/>
                </a:solidFill>
                <a:latin typeface="Courier New"/>
                <a:cs typeface="Courier New"/>
              </a:rPr>
              <a:t>└──</a:t>
            </a:r>
            <a:r>
              <a:rPr dirty="0" sz="800" spc="70">
                <a:solidFill>
                  <a:srgbClr val="CBD5E1"/>
                </a:solidFill>
                <a:latin typeface="Courier New"/>
                <a:cs typeface="Courier New"/>
              </a:rPr>
              <a:t> </a:t>
            </a:r>
            <a:r>
              <a:rPr dirty="0" sz="900" spc="-10" b="1">
                <a:solidFill>
                  <a:srgbClr val="93C4FD"/>
                </a:solidFill>
                <a:latin typeface="Courier New"/>
                <a:cs typeface="Courier New"/>
              </a:rPr>
              <a:t>images/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283783" y="3830686"/>
            <a:ext cx="817880" cy="349250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900" spc="-105" i="1">
                <a:solidFill>
                  <a:srgbClr val="94A2B8"/>
                </a:solidFill>
                <a:latin typeface="Courier New"/>
                <a:cs typeface="Courier New"/>
              </a:rPr>
              <a:t>(</a:t>
            </a:r>
            <a:r>
              <a:rPr dirty="0" sz="900" spc="-105" b="1">
                <a:solidFill>
                  <a:srgbClr val="FABE24"/>
                </a:solidFill>
                <a:latin typeface="Courier New"/>
                <a:cs typeface="Courier New"/>
              </a:rPr>
              <a:t>227</a:t>
            </a:r>
            <a:r>
              <a:rPr dirty="0" sz="900" spc="-30" b="1">
                <a:solidFill>
                  <a:srgbClr val="FABE24"/>
                </a:solidFill>
                <a:latin typeface="Courier New"/>
                <a:cs typeface="Courier New"/>
              </a:rPr>
              <a:t> </a:t>
            </a:r>
            <a:r>
              <a:rPr dirty="0" sz="900" spc="-10" b="1">
                <a:solidFill>
                  <a:srgbClr val="FABE24"/>
                </a:solidFill>
                <a:latin typeface="Courier New"/>
                <a:cs typeface="Courier New"/>
              </a:rPr>
              <a:t>lignes</a:t>
            </a:r>
            <a:r>
              <a:rPr dirty="0" sz="900" spc="-10" i="1">
                <a:solidFill>
                  <a:srgbClr val="94A2B8"/>
                </a:solidFill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900" spc="-135" i="1">
                <a:solidFill>
                  <a:srgbClr val="94A2B8"/>
                </a:solidFill>
                <a:latin typeface="Courier New"/>
                <a:cs typeface="Courier New"/>
              </a:rPr>
              <a:t>(</a:t>
            </a:r>
            <a:r>
              <a:rPr dirty="0" sz="900" spc="-135" b="1">
                <a:solidFill>
                  <a:srgbClr val="FABE24"/>
                </a:solidFill>
                <a:latin typeface="Courier New"/>
                <a:cs typeface="Courier New"/>
              </a:rPr>
              <a:t>15</a:t>
            </a:r>
            <a:r>
              <a:rPr dirty="0" sz="900" b="1">
                <a:solidFill>
                  <a:srgbClr val="FABE24"/>
                </a:solidFill>
                <a:latin typeface="Courier New"/>
                <a:cs typeface="Courier New"/>
              </a:rPr>
              <a:t> </a:t>
            </a:r>
            <a:r>
              <a:rPr dirty="0" sz="900" spc="-10" b="1">
                <a:solidFill>
                  <a:srgbClr val="FABE24"/>
                </a:solidFill>
                <a:latin typeface="Courier New"/>
                <a:cs typeface="Courier New"/>
              </a:rPr>
              <a:t>images</a:t>
            </a:r>
            <a:r>
              <a:rPr dirty="0" sz="900" spc="-10" i="1">
                <a:solidFill>
                  <a:srgbClr val="94A2B8"/>
                </a:solidFill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115807" y="4158251"/>
            <a:ext cx="1734185" cy="52705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800">
                <a:solidFill>
                  <a:srgbClr val="CBD5E1"/>
                </a:solidFill>
                <a:latin typeface="Courier New"/>
                <a:cs typeface="Courier New"/>
              </a:rPr>
              <a:t>├──</a:t>
            </a:r>
            <a:r>
              <a:rPr dirty="0" sz="800" spc="155">
                <a:solidFill>
                  <a:srgbClr val="CBD5E1"/>
                </a:solidFill>
                <a:latin typeface="Courier New"/>
                <a:cs typeface="Courier New"/>
              </a:rPr>
              <a:t> </a:t>
            </a:r>
            <a:r>
              <a:rPr dirty="0" sz="900" spc="-75">
                <a:solidFill>
                  <a:srgbClr val="E2E7F0"/>
                </a:solidFill>
                <a:latin typeface="Lucida Console"/>
                <a:cs typeface="Lucida Console"/>
              </a:rPr>
              <a:t>afritalent-</a:t>
            </a:r>
            <a:r>
              <a:rPr dirty="0" sz="900" spc="-434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dirty="0" sz="900" spc="-100">
                <a:solidFill>
                  <a:srgbClr val="E2E7F0"/>
                </a:solidFill>
                <a:latin typeface="Lucida Console"/>
                <a:cs typeface="Lucida Console"/>
              </a:rPr>
              <a:t>logo.</a:t>
            </a:r>
            <a:r>
              <a:rPr dirty="0" sz="900" spc="-335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dirty="0" sz="900" spc="-25">
                <a:solidFill>
                  <a:srgbClr val="E2E7F0"/>
                </a:solidFill>
                <a:latin typeface="Lucida Console"/>
                <a:cs typeface="Lucida Console"/>
              </a:rPr>
              <a:t>svg</a:t>
            </a:r>
            <a:endParaRPr sz="9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800">
                <a:solidFill>
                  <a:srgbClr val="CBD5E1"/>
                </a:solidFill>
                <a:latin typeface="Courier New"/>
                <a:cs typeface="Courier New"/>
              </a:rPr>
              <a:t>├──</a:t>
            </a:r>
            <a:r>
              <a:rPr dirty="0" sz="800" spc="90">
                <a:solidFill>
                  <a:srgbClr val="CBD5E1"/>
                </a:solidFill>
                <a:latin typeface="Courier New"/>
                <a:cs typeface="Courier New"/>
              </a:rPr>
              <a:t> </a:t>
            </a:r>
            <a:r>
              <a:rPr dirty="0" sz="900" spc="-80">
                <a:solidFill>
                  <a:srgbClr val="E2E7F0"/>
                </a:solidFill>
                <a:latin typeface="Lucida Console"/>
                <a:cs typeface="Lucida Console"/>
              </a:rPr>
              <a:t>photo-</a:t>
            </a:r>
            <a:r>
              <a:rPr dirty="0" sz="900" spc="-44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dirty="0" sz="900" spc="-65">
                <a:solidFill>
                  <a:srgbClr val="E2E7F0"/>
                </a:solidFill>
                <a:latin typeface="Lucida Console"/>
                <a:cs typeface="Lucida Console"/>
              </a:rPr>
              <a:t>hero-</a:t>
            </a:r>
            <a:r>
              <a:rPr dirty="0" sz="900" spc="-145">
                <a:solidFill>
                  <a:srgbClr val="E2E7F0"/>
                </a:solidFill>
                <a:latin typeface="Lucida Console"/>
                <a:cs typeface="Lucida Console"/>
              </a:rPr>
              <a:t>*.</a:t>
            </a:r>
            <a:r>
              <a:rPr dirty="0" sz="900" spc="-355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dirty="0" sz="900" spc="-75">
                <a:solidFill>
                  <a:srgbClr val="E2E7F0"/>
                </a:solidFill>
                <a:latin typeface="Lucida Console"/>
                <a:cs typeface="Lucida Console"/>
              </a:rPr>
              <a:t>jpg</a:t>
            </a:r>
            <a:r>
              <a:rPr dirty="0" sz="900" spc="-16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dirty="0" sz="900" spc="-405" i="1">
                <a:solidFill>
                  <a:srgbClr val="94A2B8"/>
                </a:solidFill>
                <a:latin typeface="Courier New"/>
                <a:cs typeface="Courier New"/>
              </a:rPr>
              <a:t>(5)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800">
                <a:solidFill>
                  <a:srgbClr val="CBD5E1"/>
                </a:solidFill>
                <a:latin typeface="Courier New"/>
                <a:cs typeface="Courier New"/>
              </a:rPr>
              <a:t>└──</a:t>
            </a:r>
            <a:r>
              <a:rPr dirty="0" sz="800" spc="100">
                <a:solidFill>
                  <a:srgbClr val="CBD5E1"/>
                </a:solidFill>
                <a:latin typeface="Courier New"/>
                <a:cs typeface="Courier New"/>
              </a:rPr>
              <a:t> </a:t>
            </a:r>
            <a:r>
              <a:rPr dirty="0" sz="900" spc="-80">
                <a:solidFill>
                  <a:srgbClr val="E2E7F0"/>
                </a:solidFill>
                <a:latin typeface="Lucida Console"/>
                <a:cs typeface="Lucida Console"/>
              </a:rPr>
              <a:t>photo-</a:t>
            </a:r>
            <a:r>
              <a:rPr dirty="0" sz="900" spc="-44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dirty="0" sz="900" spc="-65">
                <a:solidFill>
                  <a:srgbClr val="E2E7F0"/>
                </a:solidFill>
                <a:latin typeface="Lucida Console"/>
                <a:cs typeface="Lucida Console"/>
              </a:rPr>
              <a:t>profile-</a:t>
            </a:r>
            <a:r>
              <a:rPr dirty="0" sz="900" spc="-145">
                <a:solidFill>
                  <a:srgbClr val="E2E7F0"/>
                </a:solidFill>
                <a:latin typeface="Lucida Console"/>
                <a:cs typeface="Lucida Console"/>
              </a:rPr>
              <a:t>*.</a:t>
            </a:r>
            <a:r>
              <a:rPr dirty="0" sz="900" spc="-35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dirty="0" sz="900" spc="-75">
                <a:solidFill>
                  <a:srgbClr val="E2E7F0"/>
                </a:solidFill>
                <a:latin typeface="Lucida Console"/>
                <a:cs typeface="Lucida Console"/>
              </a:rPr>
              <a:t>jpg</a:t>
            </a:r>
            <a:r>
              <a:rPr dirty="0" sz="900" spc="-16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dirty="0" sz="900" spc="-405" i="1">
                <a:solidFill>
                  <a:srgbClr val="94A2B8"/>
                </a:solidFill>
                <a:latin typeface="Courier New"/>
                <a:cs typeface="Courier New"/>
              </a:rPr>
              <a:t>(9)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877049" y="5467349"/>
            <a:ext cx="4457700" cy="9525"/>
          </a:xfrm>
          <a:custGeom>
            <a:avLst/>
            <a:gdLst/>
            <a:ahLst/>
            <a:cxnLst/>
            <a:rect l="l" t="t" r="r" b="b"/>
            <a:pathLst>
              <a:path w="4457700" h="9525">
                <a:moveTo>
                  <a:pt x="4457699" y="9524"/>
                </a:moveTo>
                <a:lnTo>
                  <a:pt x="0" y="9524"/>
                </a:lnTo>
                <a:lnTo>
                  <a:pt x="0" y="0"/>
                </a:lnTo>
                <a:lnTo>
                  <a:pt x="4457699" y="0"/>
                </a:lnTo>
                <a:lnTo>
                  <a:pt x="4457699" y="9524"/>
                </a:lnTo>
                <a:close/>
              </a:path>
            </a:pathLst>
          </a:custGeom>
          <a:solidFill>
            <a:srgbClr val="FFFFFF">
              <a:alpha val="121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6864349" y="5537389"/>
            <a:ext cx="3891915" cy="349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dirty="0" sz="950" spc="-50" b="1">
                <a:solidFill>
                  <a:srgbClr val="FFFFFF"/>
                </a:solidFill>
                <a:latin typeface="Arial"/>
                <a:cs typeface="Arial"/>
              </a:rPr>
              <a:t>Code</a:t>
            </a:r>
            <a:r>
              <a:rPr dirty="0" sz="95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 spc="-40" b="1">
                <a:solidFill>
                  <a:srgbClr val="FFFFFF"/>
                </a:solidFill>
                <a:latin typeface="Arial"/>
                <a:cs typeface="Arial"/>
              </a:rPr>
              <a:t>propre</a:t>
            </a:r>
            <a:r>
              <a:rPr dirty="0" sz="1000" spc="-40">
                <a:solidFill>
                  <a:srgbClr val="CBD5E1"/>
                </a:solidFill>
                <a:latin typeface="Microsoft Sans Serif"/>
                <a:cs typeface="Microsoft Sans Serif"/>
              </a:rPr>
              <a:t>,</a:t>
            </a:r>
            <a:r>
              <a:rPr dirty="0" sz="1000" spc="10">
                <a:solidFill>
                  <a:srgbClr val="CBD5E1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CBD5E1"/>
                </a:solidFill>
                <a:latin typeface="Microsoft Sans Serif"/>
                <a:cs typeface="Microsoft Sans Serif"/>
              </a:rPr>
              <a:t>sémantique</a:t>
            </a:r>
            <a:r>
              <a:rPr dirty="0" sz="1000">
                <a:solidFill>
                  <a:srgbClr val="CBD5E1"/>
                </a:solidFill>
                <a:latin typeface="Microsoft Sans Serif"/>
                <a:cs typeface="Microsoft Sans Serif"/>
              </a:rPr>
              <a:t>,</a:t>
            </a:r>
            <a:r>
              <a:rPr dirty="0" sz="1000" spc="25">
                <a:solidFill>
                  <a:srgbClr val="CBD5E1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CBD5E1"/>
                </a:solidFill>
                <a:latin typeface="Microsoft Sans Serif"/>
                <a:cs typeface="Microsoft Sans Serif"/>
              </a:rPr>
              <a:t>bien</a:t>
            </a:r>
            <a:r>
              <a:rPr dirty="0" sz="900" spc="15">
                <a:solidFill>
                  <a:srgbClr val="CBD5E1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CBD5E1"/>
                </a:solidFill>
                <a:latin typeface="Microsoft Sans Serif"/>
                <a:cs typeface="Microsoft Sans Serif"/>
              </a:rPr>
              <a:t>indenté</a:t>
            </a:r>
            <a:r>
              <a:rPr dirty="0" sz="1000">
                <a:solidFill>
                  <a:srgbClr val="CBD5E1"/>
                </a:solidFill>
                <a:latin typeface="Microsoft Sans Serif"/>
                <a:cs typeface="Microsoft Sans Serif"/>
              </a:rPr>
              <a:t>.</a:t>
            </a:r>
            <a:r>
              <a:rPr dirty="0" sz="1000" spc="20">
                <a:solidFill>
                  <a:srgbClr val="CBD5E1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CBD5E1"/>
                </a:solidFill>
                <a:latin typeface="Microsoft Sans Serif"/>
                <a:cs typeface="Microsoft Sans Serif"/>
              </a:rPr>
              <a:t>Aucune</a:t>
            </a:r>
            <a:r>
              <a:rPr dirty="0" sz="900" spc="-10">
                <a:solidFill>
                  <a:srgbClr val="CBD5E1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CBD5E1"/>
                </a:solidFill>
                <a:latin typeface="Microsoft Sans Serif"/>
                <a:cs typeface="Microsoft Sans Serif"/>
              </a:rPr>
              <a:t>dépendance</a:t>
            </a:r>
            <a:r>
              <a:rPr dirty="0" sz="900" spc="-10">
                <a:solidFill>
                  <a:srgbClr val="CBD5E1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CBD5E1"/>
                </a:solidFill>
                <a:latin typeface="Microsoft Sans Serif"/>
                <a:cs typeface="Microsoft Sans Serif"/>
              </a:rPr>
              <a:t>build</a:t>
            </a:r>
            <a:r>
              <a:rPr dirty="0" sz="900" spc="15">
                <a:solidFill>
                  <a:srgbClr val="CBD5E1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CBD5E1"/>
                </a:solidFill>
                <a:latin typeface="Microsoft Sans Serif"/>
                <a:cs typeface="Microsoft Sans Serif"/>
              </a:rPr>
              <a:t>(</a:t>
            </a:r>
            <a:r>
              <a:rPr dirty="0" sz="900">
                <a:solidFill>
                  <a:srgbClr val="CBD5E1"/>
                </a:solidFill>
                <a:latin typeface="Microsoft Sans Serif"/>
                <a:cs typeface="Microsoft Sans Serif"/>
              </a:rPr>
              <a:t>pas</a:t>
            </a:r>
            <a:r>
              <a:rPr dirty="0" sz="900" spc="-10">
                <a:solidFill>
                  <a:srgbClr val="CBD5E1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5">
                <a:solidFill>
                  <a:srgbClr val="CBD5E1"/>
                </a:solidFill>
                <a:latin typeface="Microsoft Sans Serif"/>
                <a:cs typeface="Microsoft Sans Serif"/>
              </a:rPr>
              <a:t>de </a:t>
            </a:r>
            <a:r>
              <a:rPr dirty="0" sz="900" spc="-10">
                <a:solidFill>
                  <a:srgbClr val="CBD5E1"/>
                </a:solidFill>
                <a:latin typeface="Microsoft Sans Serif"/>
                <a:cs typeface="Microsoft Sans Serif"/>
              </a:rPr>
              <a:t>npm</a:t>
            </a:r>
            <a:r>
              <a:rPr dirty="0" sz="1000" spc="-10">
                <a:solidFill>
                  <a:srgbClr val="CBD5E1"/>
                </a:solidFill>
                <a:latin typeface="Microsoft Sans Serif"/>
                <a:cs typeface="Microsoft Sans Serif"/>
              </a:rPr>
              <a:t>/</a:t>
            </a:r>
            <a:r>
              <a:rPr dirty="0" sz="900" spc="-10">
                <a:solidFill>
                  <a:srgbClr val="CBD5E1"/>
                </a:solidFill>
                <a:latin typeface="Microsoft Sans Serif"/>
                <a:cs typeface="Microsoft Sans Serif"/>
              </a:rPr>
              <a:t>webpack</a:t>
            </a:r>
            <a:r>
              <a:rPr dirty="0" sz="1000" spc="-10">
                <a:solidFill>
                  <a:srgbClr val="CBD5E1"/>
                </a:solidFill>
                <a:latin typeface="Microsoft Sans Serif"/>
                <a:cs typeface="Microsoft Sans Serif"/>
              </a:rPr>
              <a:t>).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73100" y="6472570"/>
            <a:ext cx="4324350" cy="1631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70"/>
              </a:lnSpc>
            </a:pPr>
            <a:r>
              <a:rPr dirty="0" sz="950" spc="-20" b="1">
                <a:solidFill>
                  <a:srgbClr val="121725"/>
                </a:solidFill>
                <a:latin typeface="Arial"/>
                <a:cs typeface="Arial"/>
              </a:rPr>
              <a:t>AfriTalent</a:t>
            </a:r>
            <a:r>
              <a:rPr dirty="0" sz="950" spc="-7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950" spc="-30" b="1">
                <a:solidFill>
                  <a:srgbClr val="121725"/>
                </a:solidFill>
                <a:latin typeface="Arial"/>
                <a:cs typeface="Arial"/>
              </a:rPr>
              <a:t>By</a:t>
            </a:r>
            <a:r>
              <a:rPr dirty="0" sz="950" spc="-9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21725"/>
                </a:solidFill>
                <a:latin typeface="Arial"/>
                <a:cs typeface="Arial"/>
              </a:rPr>
              <a:t>Agent23</a:t>
            </a:r>
            <a:r>
              <a:rPr dirty="0" sz="950" spc="-4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dirty="0" sz="10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Contact</a:t>
            </a:r>
            <a:r>
              <a:rPr dirty="0" sz="95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:</a:t>
            </a:r>
            <a:r>
              <a:rPr dirty="0" sz="10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40">
                <a:solidFill>
                  <a:srgbClr val="5C6A81"/>
                </a:solidFill>
                <a:latin typeface="Microsoft Sans Serif"/>
                <a:cs typeface="Microsoft Sans Serif"/>
                <a:hlinkClick r:id="rId10"/>
              </a:rPr>
              <a:t>agent</a:t>
            </a:r>
            <a:r>
              <a:rPr dirty="0" sz="1050" spc="-40">
                <a:solidFill>
                  <a:srgbClr val="5C6A81"/>
                </a:solidFill>
                <a:latin typeface="Microsoft Sans Serif"/>
                <a:cs typeface="Microsoft Sans Serif"/>
                <a:hlinkClick r:id="rId10"/>
              </a:rPr>
              <a:t>210601@</a:t>
            </a:r>
            <a:r>
              <a:rPr dirty="0" sz="950" spc="-40">
                <a:solidFill>
                  <a:srgbClr val="5C6A81"/>
                </a:solidFill>
                <a:latin typeface="Microsoft Sans Serif"/>
                <a:cs typeface="Microsoft Sans Serif"/>
                <a:hlinkClick r:id="rId10"/>
              </a:rPr>
              <a:t>gmail</a:t>
            </a:r>
            <a:r>
              <a:rPr dirty="0" sz="1050" spc="-40">
                <a:solidFill>
                  <a:srgbClr val="5C6A81"/>
                </a:solidFill>
                <a:latin typeface="Microsoft Sans Serif"/>
                <a:cs typeface="Microsoft Sans Serif"/>
                <a:hlinkClick r:id="rId10"/>
              </a:rPr>
              <a:t>.</a:t>
            </a:r>
            <a:r>
              <a:rPr dirty="0" sz="950" spc="-40">
                <a:solidFill>
                  <a:srgbClr val="5C6A81"/>
                </a:solidFill>
                <a:latin typeface="Microsoft Sans Serif"/>
                <a:cs typeface="Microsoft Sans Serif"/>
                <a:hlinkClick r:id="rId10"/>
              </a:rPr>
              <a:t>com</a:t>
            </a:r>
            <a:r>
              <a:rPr dirty="0" sz="95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dirty="0" sz="10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5">
                <a:solidFill>
                  <a:srgbClr val="5C6A81"/>
                </a:solidFill>
                <a:latin typeface="Microsoft Sans Serif"/>
                <a:cs typeface="Microsoft Sans Serif"/>
              </a:rPr>
              <a:t>+221</a:t>
            </a:r>
            <a:r>
              <a:rPr dirty="0" sz="10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85">
                <a:solidFill>
                  <a:srgbClr val="5C6A81"/>
                </a:solidFill>
                <a:latin typeface="Microsoft Sans Serif"/>
                <a:cs typeface="Microsoft Sans Serif"/>
              </a:rPr>
              <a:t>71</a:t>
            </a:r>
            <a:r>
              <a:rPr dirty="0" sz="10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008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00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 86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662764" y="6474593"/>
            <a:ext cx="1855470" cy="161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Présentation</a:t>
            </a:r>
            <a:r>
              <a:rPr dirty="0" sz="9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de projet</a:t>
            </a:r>
            <a:r>
              <a:rPr dirty="0" sz="95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web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dirty="0" sz="10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2026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50835" y="566061"/>
            <a:ext cx="85598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b="1">
                <a:solidFill>
                  <a:srgbClr val="5C6A81"/>
                </a:solidFill>
                <a:latin typeface="Arial"/>
                <a:cs typeface="Arial"/>
              </a:rPr>
              <a:t>Slide</a:t>
            </a:r>
            <a:r>
              <a:rPr dirty="0" sz="1150" spc="30" b="1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dirty="0" sz="1100" spc="85" b="1">
                <a:solidFill>
                  <a:srgbClr val="5C6A81"/>
                </a:solidFill>
                <a:latin typeface="Arial"/>
                <a:cs typeface="Arial"/>
              </a:rPr>
              <a:t>09</a:t>
            </a:r>
            <a:r>
              <a:rPr dirty="0" sz="1100" spc="55" b="1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dirty="0" sz="1100" spc="110" b="1">
                <a:solidFill>
                  <a:srgbClr val="5C6A81"/>
                </a:solidFill>
                <a:latin typeface="Arial"/>
                <a:cs typeface="Arial"/>
              </a:rPr>
              <a:t>/</a:t>
            </a:r>
            <a:r>
              <a:rPr dirty="0" sz="1100" spc="35" b="1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dirty="0" sz="1100" spc="-125" b="1">
                <a:solidFill>
                  <a:srgbClr val="5C6A81"/>
                </a:solidFill>
                <a:latin typeface="Arial"/>
                <a:cs typeface="Arial"/>
              </a:rPr>
              <a:t>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3100" y="1056648"/>
            <a:ext cx="178625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b="1">
                <a:solidFill>
                  <a:srgbClr val="2453D5"/>
                </a:solidFill>
                <a:latin typeface="Arial"/>
                <a:cs typeface="Arial"/>
              </a:rPr>
              <a:t>CE</a:t>
            </a:r>
            <a:r>
              <a:rPr dirty="0" sz="950" spc="22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2453D5"/>
                </a:solidFill>
                <a:latin typeface="Arial"/>
                <a:cs typeface="Arial"/>
              </a:rPr>
              <a:t>QUI</a:t>
            </a:r>
            <a:r>
              <a:rPr dirty="0" sz="950" spc="27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950" spc="60" b="1">
                <a:solidFill>
                  <a:srgbClr val="2453D5"/>
                </a:solidFill>
                <a:latin typeface="Arial"/>
                <a:cs typeface="Arial"/>
              </a:rPr>
              <a:t>FONCTI</a:t>
            </a:r>
            <a:r>
              <a:rPr dirty="0" sz="950" spc="-10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2453D5"/>
                </a:solidFill>
                <a:latin typeface="Arial"/>
                <a:cs typeface="Arial"/>
              </a:rPr>
              <a:t>ONNE</a:t>
            </a:r>
            <a:r>
              <a:rPr dirty="0" sz="950" spc="225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950" spc="-25" b="1">
                <a:solidFill>
                  <a:srgbClr val="2453D5"/>
                </a:solidFill>
                <a:latin typeface="Arial"/>
                <a:cs typeface="Arial"/>
              </a:rPr>
              <a:t>BI</a:t>
            </a:r>
            <a:r>
              <a:rPr dirty="0" sz="950" spc="-10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950" spc="-25" b="1">
                <a:solidFill>
                  <a:srgbClr val="2453D5"/>
                </a:solidFill>
                <a:latin typeface="Arial"/>
                <a:cs typeface="Arial"/>
              </a:rPr>
              <a:t>EN</a:t>
            </a:r>
            <a:endParaRPr sz="9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100" y="1207857"/>
            <a:ext cx="8011795" cy="89598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100" spc="-170" b="1">
                <a:solidFill>
                  <a:srgbClr val="121725"/>
                </a:solidFill>
                <a:latin typeface="Arial"/>
                <a:cs typeface="Arial"/>
              </a:rPr>
              <a:t>Les</a:t>
            </a:r>
            <a:r>
              <a:rPr dirty="0" sz="3100" spc="-38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3100" spc="-114" b="1">
                <a:solidFill>
                  <a:srgbClr val="121725"/>
                </a:solidFill>
                <a:latin typeface="Arial"/>
                <a:cs typeface="Arial"/>
              </a:rPr>
              <a:t>points</a:t>
            </a:r>
            <a:r>
              <a:rPr dirty="0" sz="3100" spc="-38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3100" spc="-60" b="1">
                <a:solidFill>
                  <a:srgbClr val="121725"/>
                </a:solidFill>
                <a:latin typeface="Arial"/>
                <a:cs typeface="Arial"/>
              </a:rPr>
              <a:t>forts</a:t>
            </a:r>
            <a:r>
              <a:rPr dirty="0" sz="3100" spc="-38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3100" spc="-130" b="1">
                <a:solidFill>
                  <a:srgbClr val="121725"/>
                </a:solidFill>
                <a:latin typeface="Arial"/>
                <a:cs typeface="Arial"/>
              </a:rPr>
              <a:t>du</a:t>
            </a:r>
            <a:r>
              <a:rPr dirty="0" sz="3100" spc="-31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3100" spc="-20" b="1">
                <a:solidFill>
                  <a:srgbClr val="121725"/>
                </a:solidFill>
                <a:latin typeface="Arial"/>
                <a:cs typeface="Arial"/>
              </a:rPr>
              <a:t>site</a:t>
            </a:r>
            <a:endParaRPr sz="3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AfriTalent</a:t>
            </a:r>
            <a:r>
              <a:rPr dirty="0" sz="120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présente</a:t>
            </a:r>
            <a:r>
              <a:rPr dirty="0" sz="12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plusieurs</a:t>
            </a:r>
            <a:r>
              <a:rPr dirty="0" sz="120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qualités</a:t>
            </a:r>
            <a:r>
              <a:rPr dirty="0" sz="120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notables</a:t>
            </a:r>
            <a:r>
              <a:rPr dirty="0" sz="120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qui</a:t>
            </a:r>
            <a:r>
              <a:rPr dirty="0" sz="1200" spc="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en</a:t>
            </a:r>
            <a:r>
              <a:rPr dirty="0" sz="120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font</a:t>
            </a:r>
            <a:r>
              <a:rPr dirty="0" sz="120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un</a:t>
            </a:r>
            <a:r>
              <a:rPr dirty="0" sz="120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projet</a:t>
            </a:r>
            <a:r>
              <a:rPr dirty="0" sz="120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web</a:t>
            </a:r>
            <a:r>
              <a:rPr dirty="0" sz="120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réussi</a:t>
            </a:r>
            <a:r>
              <a:rPr dirty="0" sz="1200" spc="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pour</a:t>
            </a:r>
            <a:r>
              <a:rPr dirty="0" sz="120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un</a:t>
            </a:r>
            <a:r>
              <a:rPr dirty="0" sz="120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contexte</a:t>
            </a:r>
            <a:r>
              <a:rPr dirty="0" sz="12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éducatif</a:t>
            </a:r>
            <a:r>
              <a:rPr dirty="0" sz="120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ou</a:t>
            </a:r>
            <a:r>
              <a:rPr dirty="0" sz="120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dirty="0" sz="12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5C6A81"/>
                </a:solidFill>
                <a:latin typeface="Microsoft Sans Serif"/>
                <a:cs typeface="Microsoft Sans Serif"/>
              </a:rPr>
              <a:t>vitrine</a:t>
            </a:r>
            <a:r>
              <a:rPr dirty="0" sz="130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03504" y="2203703"/>
            <a:ext cx="10985500" cy="4270375"/>
            <a:chOff x="603504" y="2203703"/>
            <a:chExt cx="10985500" cy="42703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3504" y="2203703"/>
              <a:ext cx="10984991" cy="427024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6949" y="2536824"/>
              <a:ext cx="158750" cy="22225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54074" y="2810641"/>
            <a:ext cx="4681855" cy="1244600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1400" spc="-50" b="1">
                <a:solidFill>
                  <a:srgbClr val="121725"/>
                </a:solidFill>
                <a:latin typeface="Arial"/>
                <a:cs typeface="Arial"/>
              </a:rPr>
              <a:t>Simplicité</a:t>
            </a:r>
            <a:r>
              <a:rPr dirty="0" sz="1400" spc="-15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121725"/>
                </a:solidFill>
                <a:latin typeface="Arial"/>
                <a:cs typeface="Arial"/>
              </a:rPr>
              <a:t>et</a:t>
            </a:r>
            <a:r>
              <a:rPr dirty="0" sz="1400" spc="-15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400" spc="-30" b="1">
                <a:solidFill>
                  <a:srgbClr val="121725"/>
                </a:solidFill>
                <a:latin typeface="Arial"/>
                <a:cs typeface="Arial"/>
              </a:rPr>
              <a:t>clarté</a:t>
            </a:r>
            <a:r>
              <a:rPr dirty="0" sz="1400" spc="-15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400" spc="-65" b="1">
                <a:solidFill>
                  <a:srgbClr val="121725"/>
                </a:solidFill>
                <a:latin typeface="Arial"/>
                <a:cs typeface="Arial"/>
              </a:rPr>
              <a:t>du</a:t>
            </a:r>
            <a:r>
              <a:rPr dirty="0" sz="1400" spc="-12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121725"/>
                </a:solidFill>
                <a:latin typeface="Arial"/>
                <a:cs typeface="Arial"/>
              </a:rPr>
              <a:t>message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8700"/>
              </a:lnSpc>
              <a:spcBef>
                <a:spcPts val="475"/>
              </a:spcBef>
            </a:pP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dirty="0" sz="1100" spc="-5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slogan</a:t>
            </a:r>
            <a:r>
              <a:rPr dirty="0" sz="11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5C6A81"/>
                </a:solidFill>
                <a:latin typeface="Microsoft Sans Serif"/>
                <a:cs typeface="Microsoft Sans Serif"/>
              </a:rPr>
              <a:t>«</a:t>
            </a:r>
            <a:r>
              <a:rPr dirty="0" sz="1150" spc="-7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Connectez</a:t>
            </a:r>
            <a:r>
              <a:rPr dirty="0" sz="110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vos</a:t>
            </a:r>
            <a:r>
              <a:rPr dirty="0" sz="110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projets</a:t>
            </a:r>
            <a:r>
              <a:rPr dirty="0" sz="1100" spc="-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aux</a:t>
            </a:r>
            <a:r>
              <a:rPr dirty="0" sz="1100" spc="-5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meilleurs</a:t>
            </a:r>
            <a:r>
              <a:rPr dirty="0" sz="1100" spc="-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talents</a:t>
            </a:r>
            <a:r>
              <a:rPr dirty="0" sz="110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d</a:t>
            </a:r>
            <a:r>
              <a:rPr dirty="0" sz="115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Afrique</a:t>
            </a:r>
            <a:r>
              <a:rPr dirty="0" sz="1100" spc="-5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5C6A81"/>
                </a:solidFill>
                <a:latin typeface="Microsoft Sans Serif"/>
                <a:cs typeface="Microsoft Sans Serif"/>
              </a:rPr>
              <a:t>»</a:t>
            </a:r>
            <a:r>
              <a:rPr dirty="0" sz="1150" spc="-6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pose immédiatement</a:t>
            </a:r>
            <a:r>
              <a:rPr dirty="0" sz="1100" spc="-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la</a:t>
            </a:r>
            <a:r>
              <a:rPr dirty="0" sz="110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proposition</a:t>
            </a:r>
            <a:r>
              <a:rPr dirty="0" sz="110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dirty="0" sz="110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valeur</a:t>
            </a:r>
            <a:r>
              <a:rPr dirty="0" sz="1150" spc="-2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dirty="0" sz="115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dirty="0" sz="110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message</a:t>
            </a:r>
            <a:r>
              <a:rPr dirty="0" sz="110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est</a:t>
            </a:r>
            <a:r>
              <a:rPr dirty="0" sz="1100" spc="-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simple</a:t>
            </a:r>
            <a:r>
              <a:rPr dirty="0" sz="1150" spc="-2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percutant</a:t>
            </a:r>
            <a:r>
              <a:rPr dirty="0" sz="1100" spc="-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5">
                <a:solidFill>
                  <a:srgbClr val="5C6A81"/>
                </a:solidFill>
                <a:latin typeface="Microsoft Sans Serif"/>
                <a:cs typeface="Microsoft Sans Serif"/>
              </a:rPr>
              <a:t>et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compréhensible</a:t>
            </a:r>
            <a:r>
              <a:rPr dirty="0" sz="110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en</a:t>
            </a:r>
            <a:r>
              <a:rPr dirty="0" sz="110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moins</a:t>
            </a:r>
            <a:r>
              <a:rPr dirty="0" sz="110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dirty="0" sz="110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5C6A81"/>
                </a:solidFill>
                <a:latin typeface="Microsoft Sans Serif"/>
                <a:cs typeface="Microsoft Sans Serif"/>
              </a:rPr>
              <a:t>5</a:t>
            </a:r>
            <a:r>
              <a:rPr dirty="0" sz="115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secondes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000">
              <a:latin typeface="Microsoft Sans Serif"/>
              <a:cs typeface="Microsoft Sans Serif"/>
            </a:endParaRPr>
          </a:p>
          <a:p>
            <a:pPr marL="107314">
              <a:lnSpc>
                <a:spcPct val="100000"/>
              </a:lnSpc>
              <a:tabLst>
                <a:tab pos="1068705" algn="l"/>
              </a:tabLst>
            </a:pPr>
            <a:r>
              <a:rPr dirty="0" sz="900" spc="-30" b="1">
                <a:solidFill>
                  <a:srgbClr val="2453D5"/>
                </a:solidFill>
                <a:latin typeface="Arial"/>
                <a:cs typeface="Arial"/>
              </a:rPr>
              <a:t>Message</a:t>
            </a:r>
            <a:r>
              <a:rPr dirty="0" sz="900" spc="-25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2453D5"/>
                </a:solidFill>
                <a:latin typeface="Arial"/>
                <a:cs typeface="Arial"/>
              </a:rPr>
              <a:t>clair</a:t>
            </a:r>
            <a:r>
              <a:rPr dirty="0" sz="900" b="1">
                <a:solidFill>
                  <a:srgbClr val="2453D5"/>
                </a:solidFill>
                <a:latin typeface="Arial"/>
                <a:cs typeface="Arial"/>
              </a:rPr>
              <a:t>	</a:t>
            </a:r>
            <a:r>
              <a:rPr dirty="0" sz="900" spc="-45" b="1">
                <a:solidFill>
                  <a:srgbClr val="2453D5"/>
                </a:solidFill>
                <a:latin typeface="Arial"/>
                <a:cs typeface="Arial"/>
              </a:rPr>
              <a:t>Proposition</a:t>
            </a:r>
            <a:r>
              <a:rPr dirty="0" sz="900" spc="-1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900" spc="-25" b="1">
                <a:solidFill>
                  <a:srgbClr val="2453D5"/>
                </a:solidFill>
                <a:latin typeface="Arial"/>
                <a:cs typeface="Arial"/>
              </a:rPr>
              <a:t>de</a:t>
            </a:r>
            <a:r>
              <a:rPr dirty="0" sz="900" spc="-35" b="1">
                <a:solidFill>
                  <a:srgbClr val="2453D5"/>
                </a:solidFill>
                <a:latin typeface="Arial"/>
                <a:cs typeface="Arial"/>
              </a:rPr>
              <a:t> valeur </a:t>
            </a:r>
            <a:r>
              <a:rPr dirty="0" sz="900" spc="-10" b="1">
                <a:solidFill>
                  <a:srgbClr val="2453D5"/>
                </a:solidFill>
                <a:latin typeface="Arial"/>
                <a:cs typeface="Arial"/>
              </a:rPr>
              <a:t>explicite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5799" y="2536824"/>
            <a:ext cx="10820400" cy="3806825"/>
            <a:chOff x="685799" y="2536824"/>
            <a:chExt cx="10820400" cy="380682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76999" y="2536824"/>
              <a:ext cx="171450" cy="21272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4724" y="4679949"/>
              <a:ext cx="203200" cy="2032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38899" y="4664074"/>
              <a:ext cx="247650" cy="23495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85799" y="6334124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108203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0820399" y="0"/>
                  </a:lnTo>
                  <a:lnTo>
                    <a:pt x="10820399" y="9524"/>
                  </a:lnTo>
                  <a:close/>
                </a:path>
              </a:pathLst>
            </a:custGeom>
            <a:solidFill>
              <a:srgbClr val="E4E8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340475" y="2810641"/>
            <a:ext cx="4900295" cy="766445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1400" spc="-55" b="1">
                <a:solidFill>
                  <a:srgbClr val="121725"/>
                </a:solidFill>
                <a:latin typeface="Arial"/>
                <a:cs typeface="Arial"/>
              </a:rPr>
              <a:t>Navigation</a:t>
            </a:r>
            <a:r>
              <a:rPr dirty="0" sz="1400" spc="-7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121725"/>
                </a:solidFill>
                <a:latin typeface="Arial"/>
                <a:cs typeface="Arial"/>
              </a:rPr>
              <a:t>intuitive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8700"/>
              </a:lnSpc>
              <a:spcBef>
                <a:spcPts val="475"/>
              </a:spcBef>
            </a:pPr>
            <a:r>
              <a:rPr dirty="0" sz="1150">
                <a:solidFill>
                  <a:srgbClr val="5C6A81"/>
                </a:solidFill>
                <a:latin typeface="Microsoft Sans Serif"/>
                <a:cs typeface="Microsoft Sans Serif"/>
              </a:rPr>
              <a:t>5</a:t>
            </a:r>
            <a:r>
              <a:rPr dirty="0" sz="1150" spc="-5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liens</a:t>
            </a:r>
            <a:r>
              <a:rPr dirty="0" sz="110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principaux</a:t>
            </a:r>
            <a:r>
              <a:rPr dirty="0" sz="115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une</a:t>
            </a:r>
            <a:r>
              <a:rPr dirty="0" sz="1100" spc="-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navbar</a:t>
            </a:r>
            <a:r>
              <a:rPr dirty="0" sz="1100" spc="-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fixe</a:t>
            </a:r>
            <a:r>
              <a:rPr dirty="0" sz="115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des</a:t>
            </a:r>
            <a:r>
              <a:rPr dirty="0" sz="110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boutons</a:t>
            </a:r>
            <a:r>
              <a:rPr dirty="0" sz="110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d</a:t>
            </a:r>
            <a:r>
              <a:rPr dirty="0" sz="115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action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 visibles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dirty="0" sz="1150" spc="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L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utilisateur</a:t>
            </a:r>
            <a:r>
              <a:rPr dirty="0" sz="1100" spc="-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5">
                <a:solidFill>
                  <a:srgbClr val="5C6A81"/>
                </a:solidFill>
                <a:latin typeface="Microsoft Sans Serif"/>
                <a:cs typeface="Microsoft Sans Serif"/>
              </a:rPr>
              <a:t>n</a:t>
            </a:r>
            <a:r>
              <a:rPr dirty="0" sz="1100" spc="-25">
                <a:solidFill>
                  <a:srgbClr val="5C6A81"/>
                </a:solidFill>
                <a:latin typeface="Microsoft Sans Serif"/>
                <a:cs typeface="Microsoft Sans Serif"/>
              </a:rPr>
              <a:t>e</a:t>
            </a:r>
            <a:r>
              <a:rPr dirty="0" sz="110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se</a:t>
            </a:r>
            <a:r>
              <a:rPr dirty="0" sz="1100" spc="-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perd</a:t>
            </a:r>
            <a:r>
              <a:rPr dirty="0" sz="11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5">
                <a:solidFill>
                  <a:srgbClr val="5C6A81"/>
                </a:solidFill>
                <a:latin typeface="Microsoft Sans Serif"/>
                <a:cs typeface="Microsoft Sans Serif"/>
              </a:rPr>
              <a:t>jamais</a:t>
            </a:r>
            <a:r>
              <a:rPr dirty="0" sz="1150" spc="-25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dirty="0" sz="115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dirty="0" sz="110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bouton</a:t>
            </a:r>
            <a:r>
              <a:rPr dirty="0" sz="11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thème</a:t>
            </a:r>
            <a:r>
              <a:rPr dirty="0" sz="110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dirty="0" sz="1100" spc="-5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dirty="0" sz="1100" spc="-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retour</a:t>
            </a:r>
            <a:r>
              <a:rPr dirty="0" sz="1100" spc="-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en</a:t>
            </a:r>
            <a:r>
              <a:rPr dirty="0" sz="11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haut</a:t>
            </a:r>
            <a:r>
              <a:rPr dirty="0" sz="1100" spc="-5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ajoutent</a:t>
            </a:r>
            <a:r>
              <a:rPr dirty="0" sz="1100" spc="-5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du</a:t>
            </a:r>
            <a:r>
              <a:rPr dirty="0" sz="11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confort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35725" y="3892194"/>
            <a:ext cx="61658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solidFill>
                  <a:srgbClr val="B46F08"/>
                </a:solidFill>
                <a:latin typeface="Arial"/>
                <a:cs typeface="Arial"/>
              </a:rPr>
              <a:t>Navbar</a:t>
            </a:r>
            <a:r>
              <a:rPr dirty="0" sz="900" spc="-70" b="1">
                <a:solidFill>
                  <a:srgbClr val="B46F08"/>
                </a:solidFill>
                <a:latin typeface="Arial"/>
                <a:cs typeface="Arial"/>
              </a:rPr>
              <a:t> </a:t>
            </a:r>
            <a:r>
              <a:rPr dirty="0" sz="900" spc="-20" b="1">
                <a:solidFill>
                  <a:srgbClr val="B46F08"/>
                </a:solidFill>
                <a:latin typeface="Arial"/>
                <a:cs typeface="Arial"/>
              </a:rPr>
              <a:t>fixe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72882" y="3892194"/>
            <a:ext cx="79756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30" b="1">
                <a:solidFill>
                  <a:srgbClr val="B46F08"/>
                </a:solidFill>
                <a:latin typeface="Tahoma"/>
                <a:cs typeface="Tahoma"/>
              </a:rPr>
              <a:t>5</a:t>
            </a:r>
            <a:r>
              <a:rPr dirty="0" sz="850" spc="-45" b="1">
                <a:solidFill>
                  <a:srgbClr val="B46F08"/>
                </a:solidFill>
                <a:latin typeface="Tahoma"/>
                <a:cs typeface="Tahoma"/>
              </a:rPr>
              <a:t> </a:t>
            </a:r>
            <a:r>
              <a:rPr dirty="0" sz="900" spc="-35" b="1">
                <a:solidFill>
                  <a:srgbClr val="B46F08"/>
                </a:solidFill>
                <a:latin typeface="Arial"/>
                <a:cs typeface="Arial"/>
              </a:rPr>
              <a:t>pages</a:t>
            </a:r>
            <a:r>
              <a:rPr dirty="0" sz="900" spc="-50" b="1">
                <a:solidFill>
                  <a:srgbClr val="B46F08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B46F08"/>
                </a:solidFill>
                <a:latin typeface="Arial"/>
                <a:cs typeface="Arial"/>
              </a:rPr>
              <a:t>claires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291015" y="3892194"/>
            <a:ext cx="82550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30" b="1">
                <a:solidFill>
                  <a:srgbClr val="B46F08"/>
                </a:solidFill>
                <a:latin typeface="Arial"/>
                <a:cs typeface="Arial"/>
              </a:rPr>
              <a:t>Mobile</a:t>
            </a:r>
            <a:r>
              <a:rPr dirty="0" sz="850" spc="-30" b="1">
                <a:solidFill>
                  <a:srgbClr val="B46F08"/>
                </a:solidFill>
                <a:latin typeface="Tahoma"/>
                <a:cs typeface="Tahoma"/>
              </a:rPr>
              <a:t>-</a:t>
            </a:r>
            <a:r>
              <a:rPr dirty="0" sz="900" spc="-10" b="1">
                <a:solidFill>
                  <a:srgbClr val="B46F08"/>
                </a:solidFill>
                <a:latin typeface="Arial"/>
                <a:cs typeface="Arial"/>
              </a:rPr>
              <a:t>friendly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4074" y="4955540"/>
            <a:ext cx="4778375" cy="1233805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1400" spc="-60" b="1">
                <a:solidFill>
                  <a:srgbClr val="121725"/>
                </a:solidFill>
                <a:latin typeface="Arial"/>
                <a:cs typeface="Arial"/>
              </a:rPr>
              <a:t>Présentation</a:t>
            </a:r>
            <a:r>
              <a:rPr dirty="0" sz="1400" spc="-50" b="1">
                <a:solidFill>
                  <a:srgbClr val="121725"/>
                </a:solidFill>
                <a:latin typeface="Arial"/>
                <a:cs typeface="Arial"/>
              </a:rPr>
              <a:t> visuelle</a:t>
            </a:r>
            <a:r>
              <a:rPr dirty="0" sz="1400" spc="-8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121725"/>
                </a:solidFill>
                <a:latin typeface="Arial"/>
                <a:cs typeface="Arial"/>
              </a:rPr>
              <a:t>soignée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11400"/>
              </a:lnSpc>
              <a:spcBef>
                <a:spcPts val="360"/>
              </a:spcBef>
            </a:pP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Design</a:t>
            </a:r>
            <a:r>
              <a:rPr dirty="0" sz="110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moderne</a:t>
            </a:r>
            <a:r>
              <a:rPr dirty="0" sz="1100" spc="-5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5C6A81"/>
                </a:solidFill>
                <a:latin typeface="Microsoft Sans Serif"/>
                <a:cs typeface="Microsoft Sans Serif"/>
              </a:rPr>
              <a:t>: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palette</a:t>
            </a:r>
            <a:r>
              <a:rPr dirty="0" sz="1100" spc="-5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cohérente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,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typographie</a:t>
            </a:r>
            <a:r>
              <a:rPr dirty="0" sz="1100" spc="-5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Inter</a:t>
            </a:r>
            <a:r>
              <a:rPr dirty="0" sz="1150" spc="-2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coins</a:t>
            </a:r>
            <a:r>
              <a:rPr dirty="0" sz="1100" spc="-5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arrondis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ombres légères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animations</a:t>
            </a:r>
            <a:r>
              <a:rPr dirty="0" sz="1100" spc="-5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subtiles</a:t>
            </a:r>
            <a:r>
              <a:rPr dirty="0" sz="1100" spc="-5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5C6A81"/>
                </a:solidFill>
                <a:latin typeface="Microsoft Sans Serif"/>
                <a:cs typeface="Microsoft Sans Serif"/>
              </a:rPr>
              <a:t>(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fade</a:t>
            </a:r>
            <a:r>
              <a:rPr dirty="0" sz="1150">
                <a:solidFill>
                  <a:srgbClr val="5C6A81"/>
                </a:solidFill>
                <a:latin typeface="Microsoft Sans Serif"/>
                <a:cs typeface="Microsoft Sans Serif"/>
              </a:rPr>
              <a:t>-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in</a:t>
            </a:r>
            <a:r>
              <a:rPr dirty="0" sz="115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compteurs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),</a:t>
            </a:r>
            <a:r>
              <a:rPr dirty="0" sz="115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mode</a:t>
            </a:r>
            <a:r>
              <a:rPr dirty="0" sz="1100" spc="-6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sombre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dirty="0" sz="115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Une</a:t>
            </a:r>
            <a:r>
              <a:rPr dirty="0" sz="1100" spc="-6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vraie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identité</a:t>
            </a:r>
            <a:r>
              <a:rPr dirty="0" sz="110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visuelle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000">
              <a:latin typeface="Microsoft Sans Serif"/>
              <a:cs typeface="Microsoft Sans Serif"/>
            </a:endParaRPr>
          </a:p>
          <a:p>
            <a:pPr marL="107314">
              <a:lnSpc>
                <a:spcPct val="100000"/>
              </a:lnSpc>
              <a:tabLst>
                <a:tab pos="1196340" algn="l"/>
                <a:tab pos="2146300" algn="l"/>
              </a:tabLst>
            </a:pPr>
            <a:r>
              <a:rPr dirty="0" sz="900" spc="-45" b="1">
                <a:solidFill>
                  <a:srgbClr val="0E9E6E"/>
                </a:solidFill>
                <a:latin typeface="Arial"/>
                <a:cs typeface="Arial"/>
              </a:rPr>
              <a:t>Design</a:t>
            </a:r>
            <a:r>
              <a:rPr dirty="0" sz="900" spc="-10" b="1">
                <a:solidFill>
                  <a:srgbClr val="0E9E6E"/>
                </a:solidFill>
                <a:latin typeface="Arial"/>
                <a:cs typeface="Arial"/>
              </a:rPr>
              <a:t> moderne</a:t>
            </a:r>
            <a:r>
              <a:rPr dirty="0" sz="900" b="1">
                <a:solidFill>
                  <a:srgbClr val="0E9E6E"/>
                </a:solidFill>
                <a:latin typeface="Arial"/>
                <a:cs typeface="Arial"/>
              </a:rPr>
              <a:t>	</a:t>
            </a:r>
            <a:r>
              <a:rPr dirty="0" sz="900" spc="-25" b="1">
                <a:solidFill>
                  <a:srgbClr val="0E9E6E"/>
                </a:solidFill>
                <a:latin typeface="Arial"/>
                <a:cs typeface="Arial"/>
              </a:rPr>
              <a:t>Mode</a:t>
            </a:r>
            <a:r>
              <a:rPr dirty="0" sz="900" spc="-45" b="1">
                <a:solidFill>
                  <a:srgbClr val="0E9E6E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0E9E6E"/>
                </a:solidFill>
                <a:latin typeface="Arial"/>
                <a:cs typeface="Arial"/>
              </a:rPr>
              <a:t>sombre</a:t>
            </a:r>
            <a:r>
              <a:rPr dirty="0" sz="900" b="1">
                <a:solidFill>
                  <a:srgbClr val="0E9E6E"/>
                </a:solidFill>
                <a:latin typeface="Arial"/>
                <a:cs typeface="Arial"/>
              </a:rPr>
              <a:t>	</a:t>
            </a:r>
            <a:r>
              <a:rPr dirty="0" sz="900" spc="-10" b="1">
                <a:solidFill>
                  <a:srgbClr val="0E9E6E"/>
                </a:solidFill>
                <a:latin typeface="Arial"/>
                <a:cs typeface="Arial"/>
              </a:rPr>
              <a:t>Animations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40475" y="4955540"/>
            <a:ext cx="4671695" cy="1233805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680"/>
              </a:spcBef>
            </a:pPr>
            <a:r>
              <a:rPr dirty="0" sz="1400" spc="-55" b="1">
                <a:solidFill>
                  <a:srgbClr val="121725"/>
                </a:solidFill>
                <a:latin typeface="Arial"/>
                <a:cs typeface="Arial"/>
              </a:rPr>
              <a:t>Accessibilité</a:t>
            </a:r>
            <a:r>
              <a:rPr dirty="0" sz="1400" spc="-13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121725"/>
                </a:solidFill>
                <a:latin typeface="Arial"/>
                <a:cs typeface="Arial"/>
              </a:rPr>
              <a:t>et</a:t>
            </a:r>
            <a:r>
              <a:rPr dirty="0" sz="1400" spc="-12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400" spc="-45" b="1">
                <a:solidFill>
                  <a:srgbClr val="121725"/>
                </a:solidFill>
                <a:latin typeface="Arial"/>
                <a:cs typeface="Arial"/>
              </a:rPr>
              <a:t>qualité</a:t>
            </a:r>
            <a:r>
              <a:rPr dirty="0" sz="1400" spc="-13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400" spc="-65" b="1">
                <a:solidFill>
                  <a:srgbClr val="121725"/>
                </a:solidFill>
                <a:latin typeface="Arial"/>
                <a:cs typeface="Arial"/>
              </a:rPr>
              <a:t>du</a:t>
            </a:r>
            <a:r>
              <a:rPr dirty="0" sz="1400" spc="-9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121725"/>
                </a:solidFill>
                <a:latin typeface="Arial"/>
                <a:cs typeface="Arial"/>
              </a:rPr>
              <a:t>code</a:t>
            </a:r>
            <a:endParaRPr sz="1400">
              <a:latin typeface="Arial"/>
              <a:cs typeface="Arial"/>
            </a:endParaRPr>
          </a:p>
          <a:p>
            <a:pPr algn="just" marL="12700" marR="5080">
              <a:lnSpc>
                <a:spcPct val="111400"/>
              </a:lnSpc>
              <a:spcBef>
                <a:spcPts val="360"/>
              </a:spcBef>
            </a:pPr>
            <a:r>
              <a:rPr dirty="0" sz="1100" spc="-25">
                <a:solidFill>
                  <a:srgbClr val="5C6A81"/>
                </a:solidFill>
                <a:latin typeface="Microsoft Sans Serif"/>
                <a:cs typeface="Microsoft Sans Serif"/>
              </a:rPr>
              <a:t>HTML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sémantique</a:t>
            </a:r>
            <a:r>
              <a:rPr dirty="0" sz="1150" spc="-2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aria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-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labels</a:t>
            </a:r>
            <a:r>
              <a:rPr dirty="0" sz="1150" spc="-2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alt</a:t>
            </a:r>
            <a:r>
              <a:rPr dirty="0" sz="110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texts</a:t>
            </a:r>
            <a:r>
              <a:rPr dirty="0" sz="115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support</a:t>
            </a:r>
            <a:r>
              <a:rPr dirty="0" sz="110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dirty="0" sz="110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prefers</a:t>
            </a:r>
            <a:r>
              <a:rPr dirty="0" sz="1150">
                <a:solidFill>
                  <a:srgbClr val="5C6A81"/>
                </a:solidFill>
                <a:latin typeface="Microsoft Sans Serif"/>
                <a:cs typeface="Microsoft Sans Serif"/>
              </a:rPr>
              <a:t>-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reduced</a:t>
            </a:r>
            <a:r>
              <a:rPr dirty="0" sz="1150">
                <a:solidFill>
                  <a:srgbClr val="5C6A81"/>
                </a:solidFill>
                <a:latin typeface="Microsoft Sans Serif"/>
                <a:cs typeface="Microsoft Sans Serif"/>
              </a:rPr>
              <a:t>-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motion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,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code</a:t>
            </a:r>
            <a:r>
              <a:rPr dirty="0" sz="110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bien indenté</a:t>
            </a:r>
            <a:r>
              <a:rPr dirty="0" sz="110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dirty="0" sz="1100" spc="-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organisé</a:t>
            </a:r>
            <a:r>
              <a:rPr dirty="0" sz="1150" spc="-2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dirty="0" sz="115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Une</a:t>
            </a:r>
            <a:r>
              <a:rPr dirty="0" sz="110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attention</a:t>
            </a:r>
            <a:r>
              <a:rPr dirty="0" sz="110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réelle</a:t>
            </a:r>
            <a:r>
              <a:rPr dirty="0" sz="110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portée</a:t>
            </a:r>
            <a:r>
              <a:rPr dirty="0" sz="110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à</a:t>
            </a:r>
            <a:r>
              <a:rPr dirty="0" sz="110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l</a:t>
            </a:r>
            <a:r>
              <a:rPr dirty="0" sz="115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inclusion</a:t>
            </a:r>
            <a:r>
              <a:rPr dirty="0" sz="110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dirty="0" sz="1100" spc="-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à</a:t>
            </a:r>
            <a:r>
              <a:rPr dirty="0" sz="110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5">
                <a:solidFill>
                  <a:srgbClr val="5C6A81"/>
                </a:solidFill>
                <a:latin typeface="Microsoft Sans Serif"/>
                <a:cs typeface="Microsoft Sans Serif"/>
              </a:rPr>
              <a:t>la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maintenabilité</a:t>
            </a:r>
            <a:r>
              <a:rPr dirty="0" sz="115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000">
              <a:latin typeface="Microsoft Sans Serif"/>
              <a:cs typeface="Microsoft Sans Serif"/>
            </a:endParaRPr>
          </a:p>
          <a:p>
            <a:pPr marL="107314">
              <a:lnSpc>
                <a:spcPct val="100000"/>
              </a:lnSpc>
              <a:tabLst>
                <a:tab pos="1288415" algn="l"/>
                <a:tab pos="2317750" algn="l"/>
              </a:tabLst>
            </a:pPr>
            <a:r>
              <a:rPr dirty="0" sz="900" spc="-35" b="1">
                <a:solidFill>
                  <a:srgbClr val="2453D5"/>
                </a:solidFill>
                <a:latin typeface="Arial"/>
                <a:cs typeface="Arial"/>
              </a:rPr>
              <a:t>HTML</a:t>
            </a:r>
            <a:r>
              <a:rPr dirty="0" sz="900" spc="-3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2453D5"/>
                </a:solidFill>
                <a:latin typeface="Arial"/>
                <a:cs typeface="Arial"/>
              </a:rPr>
              <a:t>sémantique</a:t>
            </a:r>
            <a:r>
              <a:rPr dirty="0" sz="900" b="1">
                <a:solidFill>
                  <a:srgbClr val="2453D5"/>
                </a:solidFill>
                <a:latin typeface="Arial"/>
                <a:cs typeface="Arial"/>
              </a:rPr>
              <a:t>	</a:t>
            </a:r>
            <a:r>
              <a:rPr dirty="0" sz="900" spc="-55" b="1">
                <a:solidFill>
                  <a:srgbClr val="2453D5"/>
                </a:solidFill>
                <a:latin typeface="Arial"/>
                <a:cs typeface="Arial"/>
              </a:rPr>
              <a:t>WCAG</a:t>
            </a:r>
            <a:r>
              <a:rPr dirty="0" sz="850" spc="-55" b="1">
                <a:solidFill>
                  <a:srgbClr val="2453D5"/>
                </a:solidFill>
                <a:latin typeface="Tahoma"/>
                <a:cs typeface="Tahoma"/>
              </a:rPr>
              <a:t>-</a:t>
            </a:r>
            <a:r>
              <a:rPr dirty="0" sz="900" spc="-10" b="1">
                <a:solidFill>
                  <a:srgbClr val="2453D5"/>
                </a:solidFill>
                <a:latin typeface="Arial"/>
                <a:cs typeface="Arial"/>
              </a:rPr>
              <a:t>friendly</a:t>
            </a:r>
            <a:r>
              <a:rPr dirty="0" sz="900" b="1">
                <a:solidFill>
                  <a:srgbClr val="2453D5"/>
                </a:solidFill>
                <a:latin typeface="Arial"/>
                <a:cs typeface="Arial"/>
              </a:rPr>
              <a:t>	</a:t>
            </a:r>
            <a:r>
              <a:rPr dirty="0" sz="900" spc="-40" b="1">
                <a:solidFill>
                  <a:srgbClr val="2453D5"/>
                </a:solidFill>
                <a:latin typeface="Arial"/>
                <a:cs typeface="Arial"/>
              </a:rPr>
              <a:t>Code </a:t>
            </a:r>
            <a:r>
              <a:rPr dirty="0" sz="900" spc="-10" b="1">
                <a:solidFill>
                  <a:srgbClr val="2453D5"/>
                </a:solidFill>
                <a:latin typeface="Arial"/>
                <a:cs typeface="Arial"/>
              </a:rPr>
              <a:t>maintenable</a:t>
            </a:r>
            <a:endParaRPr sz="90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5799" y="533400"/>
            <a:ext cx="266699" cy="266699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753318" y="534987"/>
            <a:ext cx="2249805" cy="23685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4005" algn="l"/>
              </a:tabLst>
            </a:pPr>
            <a:r>
              <a:rPr dirty="0" sz="1100" spc="3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300" spc="-20" b="1">
                <a:solidFill>
                  <a:srgbClr val="2453D5"/>
                </a:solidFill>
                <a:latin typeface="Arial"/>
                <a:cs typeface="Arial"/>
              </a:rPr>
              <a:t>AfriTalent</a:t>
            </a:r>
            <a:r>
              <a:rPr dirty="0" sz="1300" spc="-8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350" spc="-50" b="1">
                <a:solidFill>
                  <a:srgbClr val="2453D5"/>
                </a:solidFill>
                <a:latin typeface="Arial"/>
                <a:cs typeface="Arial"/>
              </a:rPr>
              <a:t>—</a:t>
            </a:r>
            <a:r>
              <a:rPr dirty="0" sz="1350" spc="-21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300" spc="-25" b="1">
                <a:solidFill>
                  <a:srgbClr val="2453D5"/>
                </a:solidFill>
                <a:latin typeface="Arial"/>
                <a:cs typeface="Arial"/>
              </a:rPr>
              <a:t>Présentation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7249" y="552449"/>
            <a:ext cx="76199" cy="76199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673100" y="6474593"/>
            <a:ext cx="4275455" cy="161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AfriTalent</a:t>
            </a:r>
            <a:r>
              <a:rPr dirty="0" sz="950" spc="-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By</a:t>
            </a:r>
            <a:r>
              <a:rPr dirty="0" sz="95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5C6A81"/>
                </a:solidFill>
                <a:latin typeface="Microsoft Sans Serif"/>
                <a:cs typeface="Microsoft Sans Serif"/>
              </a:rPr>
              <a:t>Agent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23</a:t>
            </a:r>
            <a:r>
              <a:rPr dirty="0" sz="105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dirty="0" sz="105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Contact</a:t>
            </a:r>
            <a:r>
              <a:rPr dirty="0" sz="95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:</a:t>
            </a:r>
            <a:r>
              <a:rPr dirty="0" sz="105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40">
                <a:solidFill>
                  <a:srgbClr val="5C6A81"/>
                </a:solidFill>
                <a:latin typeface="Microsoft Sans Serif"/>
                <a:cs typeface="Microsoft Sans Serif"/>
                <a:hlinkClick r:id="rId9"/>
              </a:rPr>
              <a:t>agent</a:t>
            </a:r>
            <a:r>
              <a:rPr dirty="0" sz="1050" spc="-40">
                <a:solidFill>
                  <a:srgbClr val="5C6A81"/>
                </a:solidFill>
                <a:latin typeface="Microsoft Sans Serif"/>
                <a:cs typeface="Microsoft Sans Serif"/>
                <a:hlinkClick r:id="rId9"/>
              </a:rPr>
              <a:t>210601@</a:t>
            </a:r>
            <a:r>
              <a:rPr dirty="0" sz="950" spc="-40">
                <a:solidFill>
                  <a:srgbClr val="5C6A81"/>
                </a:solidFill>
                <a:latin typeface="Microsoft Sans Serif"/>
                <a:cs typeface="Microsoft Sans Serif"/>
                <a:hlinkClick r:id="rId9"/>
              </a:rPr>
              <a:t>gmail</a:t>
            </a:r>
            <a:r>
              <a:rPr dirty="0" sz="1050" spc="-40">
                <a:solidFill>
                  <a:srgbClr val="5C6A81"/>
                </a:solidFill>
                <a:latin typeface="Microsoft Sans Serif"/>
                <a:cs typeface="Microsoft Sans Serif"/>
                <a:hlinkClick r:id="rId9"/>
              </a:rPr>
              <a:t>.</a:t>
            </a:r>
            <a:r>
              <a:rPr dirty="0" sz="950" spc="-40">
                <a:solidFill>
                  <a:srgbClr val="5C6A81"/>
                </a:solidFill>
                <a:latin typeface="Microsoft Sans Serif"/>
                <a:cs typeface="Microsoft Sans Serif"/>
                <a:hlinkClick r:id="rId9"/>
              </a:rPr>
              <a:t>com</a:t>
            </a:r>
            <a:r>
              <a:rPr dirty="0" sz="95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dirty="0" sz="1050" spc="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5">
                <a:solidFill>
                  <a:srgbClr val="5C6A81"/>
                </a:solidFill>
                <a:latin typeface="Microsoft Sans Serif"/>
                <a:cs typeface="Microsoft Sans Serif"/>
              </a:rPr>
              <a:t>+221</a:t>
            </a:r>
            <a:r>
              <a:rPr dirty="0" sz="10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85">
                <a:solidFill>
                  <a:srgbClr val="5C6A81"/>
                </a:solidFill>
                <a:latin typeface="Microsoft Sans Serif"/>
                <a:cs typeface="Microsoft Sans Serif"/>
              </a:rPr>
              <a:t>71</a:t>
            </a:r>
            <a:r>
              <a:rPr dirty="0" sz="10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008</a:t>
            </a:r>
            <a:r>
              <a:rPr dirty="0" sz="105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00</a:t>
            </a:r>
            <a:r>
              <a:rPr dirty="0" sz="105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86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854581" y="6474593"/>
            <a:ext cx="657860" cy="161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Slide</a:t>
            </a:r>
            <a:r>
              <a:rPr dirty="0" sz="95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09</a:t>
            </a:r>
            <a:r>
              <a:rPr dirty="0" sz="105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/</a:t>
            </a:r>
            <a:r>
              <a:rPr dirty="0" sz="1050" spc="-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80">
                <a:solidFill>
                  <a:srgbClr val="5C6A81"/>
                </a:solidFill>
                <a:latin typeface="Microsoft Sans Serif"/>
                <a:cs typeface="Microsoft Sans Serif"/>
              </a:rPr>
              <a:t>11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79707" y="566061"/>
            <a:ext cx="82740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b="1">
                <a:solidFill>
                  <a:srgbClr val="5C6A81"/>
                </a:solidFill>
                <a:latin typeface="Arial"/>
                <a:cs typeface="Arial"/>
              </a:rPr>
              <a:t>Slide</a:t>
            </a:r>
            <a:r>
              <a:rPr dirty="0" sz="1150" spc="10" b="1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5C6A81"/>
                </a:solidFill>
                <a:latin typeface="Arial"/>
                <a:cs typeface="Arial"/>
              </a:rPr>
              <a:t>10</a:t>
            </a:r>
            <a:r>
              <a:rPr dirty="0" sz="1100" spc="30" b="1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dirty="0" sz="1100" spc="110" b="1">
                <a:solidFill>
                  <a:srgbClr val="5C6A81"/>
                </a:solidFill>
                <a:latin typeface="Arial"/>
                <a:cs typeface="Arial"/>
              </a:rPr>
              <a:t>/</a:t>
            </a:r>
            <a:r>
              <a:rPr dirty="0" sz="1100" spc="15" b="1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dirty="0" sz="1100" spc="-120" b="1">
                <a:solidFill>
                  <a:srgbClr val="5C6A81"/>
                </a:solidFill>
                <a:latin typeface="Arial"/>
                <a:cs typeface="Arial"/>
              </a:rPr>
              <a:t>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3100" y="1056648"/>
            <a:ext cx="162560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60" b="1">
                <a:solidFill>
                  <a:srgbClr val="2453D5"/>
                </a:solidFill>
                <a:latin typeface="Arial"/>
                <a:cs typeface="Arial"/>
              </a:rPr>
              <a:t>AXES</a:t>
            </a:r>
            <a:r>
              <a:rPr dirty="0" sz="950" spc="15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950" spc="20" b="1">
                <a:solidFill>
                  <a:srgbClr val="2453D5"/>
                </a:solidFill>
                <a:latin typeface="Arial"/>
                <a:cs typeface="Arial"/>
              </a:rPr>
              <a:t>DE</a:t>
            </a:r>
            <a:r>
              <a:rPr dirty="0" sz="950" spc="17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950" spc="20" b="1">
                <a:solidFill>
                  <a:srgbClr val="2453D5"/>
                </a:solidFill>
                <a:latin typeface="Arial"/>
                <a:cs typeface="Arial"/>
              </a:rPr>
              <a:t>PROGRESSI</a:t>
            </a:r>
            <a:r>
              <a:rPr dirty="0" sz="950" spc="-114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950" spc="-25" b="1">
                <a:solidFill>
                  <a:srgbClr val="2453D5"/>
                </a:solidFill>
                <a:latin typeface="Arial"/>
                <a:cs typeface="Arial"/>
              </a:rPr>
              <a:t>ON</a:t>
            </a:r>
            <a:endParaRPr sz="9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100" y="1207857"/>
            <a:ext cx="5877560" cy="5041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100" spc="-140" b="1">
                <a:solidFill>
                  <a:srgbClr val="121725"/>
                </a:solidFill>
                <a:latin typeface="Arial"/>
                <a:cs typeface="Arial"/>
              </a:rPr>
              <a:t>Limites</a:t>
            </a:r>
            <a:r>
              <a:rPr dirty="0" sz="3100" spc="-35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3100" b="1">
                <a:solidFill>
                  <a:srgbClr val="121725"/>
                </a:solidFill>
                <a:latin typeface="Arial"/>
                <a:cs typeface="Arial"/>
              </a:rPr>
              <a:t>et</a:t>
            </a:r>
            <a:r>
              <a:rPr dirty="0" sz="3100" spc="-35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3100" spc="-125" b="1">
                <a:solidFill>
                  <a:srgbClr val="121725"/>
                </a:solidFill>
                <a:latin typeface="Arial"/>
                <a:cs typeface="Arial"/>
              </a:rPr>
              <a:t>améliorations</a:t>
            </a:r>
            <a:r>
              <a:rPr dirty="0" sz="3100" spc="-35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3100" spc="-105" b="1">
                <a:solidFill>
                  <a:srgbClr val="121725"/>
                </a:solidFill>
                <a:latin typeface="Arial"/>
                <a:cs typeface="Arial"/>
              </a:rPr>
              <a:t>possibles</a:t>
            </a:r>
            <a:endParaRPr sz="31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5799" y="1790699"/>
            <a:ext cx="533400" cy="38100"/>
          </a:xfrm>
          <a:custGeom>
            <a:avLst/>
            <a:gdLst/>
            <a:ahLst/>
            <a:cxnLst/>
            <a:rect l="l" t="t" r="r" b="b"/>
            <a:pathLst>
              <a:path w="533400" h="38100">
                <a:moveTo>
                  <a:pt x="5168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9049"/>
                </a:lnTo>
                <a:lnTo>
                  <a:pt x="0" y="16523"/>
                </a:lnTo>
                <a:lnTo>
                  <a:pt x="16523" y="0"/>
                </a:lnTo>
                <a:lnTo>
                  <a:pt x="516876" y="0"/>
                </a:lnTo>
                <a:lnTo>
                  <a:pt x="533399" y="16523"/>
                </a:lnTo>
                <a:lnTo>
                  <a:pt x="533399" y="21576"/>
                </a:lnTo>
                <a:lnTo>
                  <a:pt x="519306" y="37616"/>
                </a:lnTo>
                <a:lnTo>
                  <a:pt x="516876" y="38099"/>
                </a:lnTo>
                <a:close/>
              </a:path>
            </a:pathLst>
          </a:custGeom>
          <a:solidFill>
            <a:srgbClr val="F59D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73100" y="1915914"/>
            <a:ext cx="8524240" cy="22606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Un bilan honnête</a:t>
            </a:r>
            <a:r>
              <a:rPr dirty="0" sz="120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du site</a:t>
            </a:r>
            <a:r>
              <a:rPr dirty="0" sz="120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AfriTalent</a:t>
            </a:r>
            <a:r>
              <a:rPr dirty="0" sz="120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5C6A81"/>
                </a:solidFill>
                <a:latin typeface="Microsoft Sans Serif"/>
                <a:cs typeface="Microsoft Sans Serif"/>
              </a:rPr>
              <a:t>: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ce</a:t>
            </a:r>
            <a:r>
              <a:rPr dirty="0" sz="120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qui</a:t>
            </a:r>
            <a:r>
              <a:rPr dirty="0" sz="120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5C6A81"/>
                </a:solidFill>
                <a:latin typeface="Microsoft Sans Serif"/>
                <a:cs typeface="Microsoft Sans Serif"/>
              </a:rPr>
              <a:t>manque</a:t>
            </a:r>
            <a:r>
              <a:rPr dirty="0" sz="120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aujourd</a:t>
            </a:r>
            <a:r>
              <a:rPr dirty="0" sz="130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hui</a:t>
            </a:r>
            <a:r>
              <a:rPr dirty="0" sz="130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300" spc="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dirty="0" sz="1200" spc="-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les</a:t>
            </a:r>
            <a:r>
              <a:rPr dirty="0" sz="120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leviers</a:t>
            </a:r>
            <a:r>
              <a:rPr dirty="0" sz="120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concrets</a:t>
            </a:r>
            <a:r>
              <a:rPr dirty="0" sz="1200" spc="-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pour</a:t>
            </a:r>
            <a:r>
              <a:rPr dirty="0" sz="1200" spc="-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passer</a:t>
            </a:r>
            <a:r>
              <a:rPr dirty="0" sz="120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du vitrine</a:t>
            </a:r>
            <a:r>
              <a:rPr dirty="0" sz="1200" spc="-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à la</a:t>
            </a:r>
            <a:r>
              <a:rPr dirty="0" sz="120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5C6A81"/>
                </a:solidFill>
                <a:latin typeface="Microsoft Sans Serif"/>
                <a:cs typeface="Microsoft Sans Serif"/>
              </a:rPr>
              <a:t>marketplace</a:t>
            </a:r>
            <a:r>
              <a:rPr dirty="0" sz="130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85799" y="2371724"/>
            <a:ext cx="361950" cy="361950"/>
            <a:chOff x="685799" y="2371724"/>
            <a:chExt cx="361950" cy="361950"/>
          </a:xfrm>
        </p:grpSpPr>
        <p:sp>
          <p:nvSpPr>
            <p:cNvPr id="8" name="object 8"/>
            <p:cNvSpPr/>
            <p:nvPr/>
          </p:nvSpPr>
          <p:spPr>
            <a:xfrm>
              <a:off x="685799" y="2371724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272954" y="361949"/>
                  </a:moveTo>
                  <a:lnTo>
                    <a:pt x="88995" y="361949"/>
                  </a:lnTo>
                  <a:lnTo>
                    <a:pt x="82801" y="361339"/>
                  </a:lnTo>
                  <a:lnTo>
                    <a:pt x="37131" y="342422"/>
                  </a:lnTo>
                  <a:lnTo>
                    <a:pt x="9643" y="308928"/>
                  </a:lnTo>
                  <a:lnTo>
                    <a:pt x="0" y="272953"/>
                  </a:lnTo>
                  <a:lnTo>
                    <a:pt x="0" y="266699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2" y="12577"/>
                  </a:lnTo>
                  <a:lnTo>
                    <a:pt x="88995" y="0"/>
                  </a:lnTo>
                  <a:lnTo>
                    <a:pt x="272954" y="0"/>
                  </a:lnTo>
                  <a:lnTo>
                    <a:pt x="314417" y="12577"/>
                  </a:lnTo>
                  <a:lnTo>
                    <a:pt x="349372" y="47531"/>
                  </a:lnTo>
                  <a:lnTo>
                    <a:pt x="361949" y="88995"/>
                  </a:lnTo>
                  <a:lnTo>
                    <a:pt x="361949" y="272953"/>
                  </a:lnTo>
                  <a:lnTo>
                    <a:pt x="349372" y="314417"/>
                  </a:lnTo>
                  <a:lnTo>
                    <a:pt x="314417" y="349371"/>
                  </a:lnTo>
                  <a:lnTo>
                    <a:pt x="279148" y="361339"/>
                  </a:lnTo>
                  <a:lnTo>
                    <a:pt x="272954" y="361949"/>
                  </a:lnTo>
                  <a:close/>
                </a:path>
              </a:pathLst>
            </a:custGeom>
            <a:solidFill>
              <a:srgbClr val="F59D0A">
                <a:alpha val="121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349" y="2463799"/>
              <a:ext cx="196850" cy="16827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149349" y="2305112"/>
            <a:ext cx="1647825" cy="43370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950" spc="-10" b="1">
                <a:solidFill>
                  <a:srgbClr val="5C6A81"/>
                </a:solidFill>
                <a:latin typeface="Arial"/>
                <a:cs typeface="Arial"/>
              </a:rPr>
              <a:t>CONSTAT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50" spc="-60" b="1">
                <a:solidFill>
                  <a:srgbClr val="121725"/>
                </a:solidFill>
                <a:latin typeface="Arial"/>
                <a:cs typeface="Arial"/>
              </a:rPr>
              <a:t>Limites</a:t>
            </a:r>
            <a:r>
              <a:rPr dirty="0" sz="1550" spc="-12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550" spc="-20" b="1">
                <a:solidFill>
                  <a:srgbClr val="121725"/>
                </a:solidFill>
                <a:latin typeface="Arial"/>
                <a:cs typeface="Arial"/>
              </a:rPr>
              <a:t>identifiées</a:t>
            </a:r>
            <a:endParaRPr sz="155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19749" y="2447924"/>
            <a:ext cx="209549" cy="20954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672385" y="2457405"/>
            <a:ext cx="9715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spc="30" b="1">
                <a:solidFill>
                  <a:srgbClr val="B46F08"/>
                </a:solidFill>
                <a:latin typeface="Arial"/>
                <a:cs typeface="Arial"/>
              </a:rPr>
              <a:t>6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372223" y="2371724"/>
            <a:ext cx="361950" cy="361950"/>
            <a:chOff x="6372223" y="2371724"/>
            <a:chExt cx="361950" cy="361950"/>
          </a:xfrm>
        </p:grpSpPr>
        <p:sp>
          <p:nvSpPr>
            <p:cNvPr id="14" name="object 14"/>
            <p:cNvSpPr/>
            <p:nvPr/>
          </p:nvSpPr>
          <p:spPr>
            <a:xfrm>
              <a:off x="6372223" y="2371724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272954" y="361949"/>
                  </a:moveTo>
                  <a:lnTo>
                    <a:pt x="88995" y="361949"/>
                  </a:lnTo>
                  <a:lnTo>
                    <a:pt x="82801" y="361339"/>
                  </a:lnTo>
                  <a:lnTo>
                    <a:pt x="37132" y="342422"/>
                  </a:lnTo>
                  <a:lnTo>
                    <a:pt x="9643" y="308928"/>
                  </a:lnTo>
                  <a:lnTo>
                    <a:pt x="0" y="272953"/>
                  </a:lnTo>
                  <a:lnTo>
                    <a:pt x="0" y="266699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2" y="12577"/>
                  </a:lnTo>
                  <a:lnTo>
                    <a:pt x="88995" y="0"/>
                  </a:lnTo>
                  <a:lnTo>
                    <a:pt x="272954" y="0"/>
                  </a:lnTo>
                  <a:lnTo>
                    <a:pt x="314417" y="12577"/>
                  </a:lnTo>
                  <a:lnTo>
                    <a:pt x="349372" y="47531"/>
                  </a:lnTo>
                  <a:lnTo>
                    <a:pt x="361950" y="88995"/>
                  </a:lnTo>
                  <a:lnTo>
                    <a:pt x="361950" y="272953"/>
                  </a:lnTo>
                  <a:lnTo>
                    <a:pt x="349372" y="314417"/>
                  </a:lnTo>
                  <a:lnTo>
                    <a:pt x="314417" y="349371"/>
                  </a:lnTo>
                  <a:lnTo>
                    <a:pt x="279148" y="361339"/>
                  </a:lnTo>
                  <a:lnTo>
                    <a:pt x="272954" y="361949"/>
                  </a:lnTo>
                  <a:close/>
                </a:path>
              </a:pathLst>
            </a:custGeom>
            <a:solidFill>
              <a:srgbClr val="0E9E6E">
                <a:alpha val="121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59537" y="2466974"/>
              <a:ext cx="174625" cy="174625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685799" y="2324099"/>
            <a:ext cx="10820400" cy="4019550"/>
            <a:chOff x="685799" y="2324099"/>
            <a:chExt cx="10820400" cy="4019550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95999" y="2324099"/>
              <a:ext cx="9524" cy="40004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85799" y="6334124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108203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0820399" y="0"/>
                  </a:lnTo>
                  <a:lnTo>
                    <a:pt x="10820399" y="9524"/>
                  </a:lnTo>
                  <a:close/>
                </a:path>
              </a:pathLst>
            </a:custGeom>
            <a:solidFill>
              <a:srgbClr val="E4E8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831011" y="2294879"/>
            <a:ext cx="2240280" cy="44386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950" b="1">
                <a:solidFill>
                  <a:srgbClr val="5C6A81"/>
                </a:solidFill>
                <a:latin typeface="Arial"/>
                <a:cs typeface="Arial"/>
              </a:rPr>
              <a:t>PLAN</a:t>
            </a:r>
            <a:r>
              <a:rPr dirty="0" sz="950" spc="-35" b="1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5C6A81"/>
                </a:solidFill>
                <a:latin typeface="Arial"/>
                <a:cs typeface="Arial"/>
              </a:rPr>
              <a:t>D</a:t>
            </a:r>
            <a:r>
              <a:rPr dirty="0" sz="1050" spc="-10" b="1">
                <a:solidFill>
                  <a:srgbClr val="5C6A81"/>
                </a:solidFill>
                <a:latin typeface="Arial"/>
                <a:cs typeface="Arial"/>
              </a:rPr>
              <a:t>'</a:t>
            </a:r>
            <a:r>
              <a:rPr dirty="0" sz="950" spc="-10" b="1">
                <a:solidFill>
                  <a:srgbClr val="5C6A81"/>
                </a:solidFill>
                <a:latin typeface="Arial"/>
                <a:cs typeface="Arial"/>
              </a:rPr>
              <a:t>ACTION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50" spc="-55" b="1">
                <a:solidFill>
                  <a:srgbClr val="121725"/>
                </a:solidFill>
                <a:latin typeface="Arial"/>
                <a:cs typeface="Arial"/>
              </a:rPr>
              <a:t>Améliorations</a:t>
            </a:r>
            <a:r>
              <a:rPr dirty="0" sz="1550" spc="-6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550" spc="-35" b="1">
                <a:solidFill>
                  <a:srgbClr val="121725"/>
                </a:solidFill>
                <a:latin typeface="Arial"/>
                <a:cs typeface="Arial"/>
              </a:rPr>
              <a:t>suggérées</a:t>
            </a:r>
            <a:endParaRPr sz="155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296649" y="2447924"/>
            <a:ext cx="209549" cy="209549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1357917" y="2457405"/>
            <a:ext cx="8953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spc="-50" b="1">
                <a:solidFill>
                  <a:srgbClr val="0E9E6E"/>
                </a:solidFill>
                <a:latin typeface="Arial"/>
                <a:cs typeface="Arial"/>
              </a:rPr>
              <a:t>7</a:t>
            </a:r>
            <a:endParaRPr sz="850">
              <a:latin typeface="Arial"/>
              <a:cs typeface="Arial"/>
            </a:endParaRPr>
          </a:p>
        </p:txBody>
      </p:sp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5799" y="533400"/>
            <a:ext cx="266699" cy="266699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753318" y="534987"/>
            <a:ext cx="2249805" cy="23685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4005" algn="l"/>
              </a:tabLst>
            </a:pPr>
            <a:r>
              <a:rPr dirty="0" sz="1100" spc="3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300" spc="-20" b="1">
                <a:solidFill>
                  <a:srgbClr val="2453D5"/>
                </a:solidFill>
                <a:latin typeface="Arial"/>
                <a:cs typeface="Arial"/>
              </a:rPr>
              <a:t>AfriTalent</a:t>
            </a:r>
            <a:r>
              <a:rPr dirty="0" sz="1300" spc="-8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350" spc="-50" b="1">
                <a:solidFill>
                  <a:srgbClr val="2453D5"/>
                </a:solidFill>
                <a:latin typeface="Arial"/>
                <a:cs typeface="Arial"/>
              </a:rPr>
              <a:t>—</a:t>
            </a:r>
            <a:r>
              <a:rPr dirty="0" sz="1350" spc="-21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300" spc="-25" b="1">
                <a:solidFill>
                  <a:srgbClr val="2453D5"/>
                </a:solidFill>
                <a:latin typeface="Arial"/>
                <a:cs typeface="Arial"/>
              </a:rPr>
              <a:t>Présentation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24" name="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7249" y="552449"/>
            <a:ext cx="76199" cy="7619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85799" y="2914649"/>
            <a:ext cx="171450" cy="171449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738286" y="2905726"/>
            <a:ext cx="59055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50" b="1">
                <a:solidFill>
                  <a:srgbClr val="FFFFFF"/>
                </a:solidFill>
                <a:latin typeface="Corbel"/>
                <a:cs typeface="Corbel"/>
              </a:rPr>
              <a:t>!</a:t>
            </a:r>
            <a:endParaRPr sz="950">
              <a:latin typeface="Corbel"/>
              <a:cs typeface="Corbel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85799" y="3381374"/>
            <a:ext cx="171450" cy="17144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85799" y="3857624"/>
            <a:ext cx="171450" cy="171449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738286" y="3848701"/>
            <a:ext cx="59055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50" b="1">
                <a:solidFill>
                  <a:srgbClr val="FFFFFF"/>
                </a:solidFill>
                <a:latin typeface="Corbel"/>
                <a:cs typeface="Corbel"/>
              </a:rPr>
              <a:t>!</a:t>
            </a:r>
            <a:endParaRPr sz="950">
              <a:latin typeface="Corbel"/>
              <a:cs typeface="Corbel"/>
            </a:endParaRPr>
          </a:p>
        </p:txBody>
      </p:sp>
      <p:pic>
        <p:nvPicPr>
          <p:cNvPr id="30" name="object 3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85799" y="4324349"/>
            <a:ext cx="171450" cy="171449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738286" y="4315426"/>
            <a:ext cx="59055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50" b="1">
                <a:solidFill>
                  <a:srgbClr val="FFFFFF"/>
                </a:solidFill>
                <a:latin typeface="Corbel"/>
                <a:cs typeface="Corbel"/>
              </a:rPr>
              <a:t>!</a:t>
            </a:r>
            <a:endParaRPr sz="950">
              <a:latin typeface="Corbel"/>
              <a:cs typeface="Corbel"/>
            </a:endParaRPr>
          </a:p>
        </p:txBody>
      </p:sp>
      <p:pic>
        <p:nvPicPr>
          <p:cNvPr id="32" name="object 3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85799" y="4800599"/>
            <a:ext cx="171450" cy="171449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738286" y="4791676"/>
            <a:ext cx="59055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50" b="1">
                <a:solidFill>
                  <a:srgbClr val="FFFFFF"/>
                </a:solidFill>
                <a:latin typeface="Corbel"/>
                <a:cs typeface="Corbel"/>
              </a:rPr>
              <a:t>!</a:t>
            </a:r>
            <a:endParaRPr sz="950">
              <a:latin typeface="Corbel"/>
              <a:cs typeface="Corbe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38286" y="2874839"/>
            <a:ext cx="4932045" cy="25685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94945" marR="360680">
              <a:lnSpc>
                <a:spcPct val="108700"/>
              </a:lnSpc>
              <a:spcBef>
                <a:spcPts val="90"/>
              </a:spcBef>
            </a:pPr>
            <a:r>
              <a:rPr dirty="0" sz="1100" spc="-25">
                <a:solidFill>
                  <a:srgbClr val="121725"/>
                </a:solidFill>
                <a:latin typeface="Microsoft Sans Serif"/>
                <a:cs typeface="Microsoft Sans Serif"/>
              </a:rPr>
              <a:t>Formulaire</a:t>
            </a:r>
            <a:r>
              <a:rPr dirty="0" sz="1100" spc="-3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de</a:t>
            </a:r>
            <a:r>
              <a:rPr dirty="0" sz="1100" spc="-3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contact</a:t>
            </a:r>
            <a:r>
              <a:rPr dirty="0" sz="1100" spc="-3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non</a:t>
            </a:r>
            <a:r>
              <a:rPr dirty="0" sz="1100" spc="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fonctionnel</a:t>
            </a:r>
            <a:r>
              <a:rPr dirty="0" sz="1100" spc="3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121725"/>
                </a:solidFill>
                <a:latin typeface="Microsoft Sans Serif"/>
                <a:cs typeface="Microsoft Sans Serif"/>
              </a:rPr>
              <a:t>:</a:t>
            </a:r>
            <a:r>
              <a:rPr dirty="0" sz="1150" spc="2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aucune</a:t>
            </a:r>
            <a:r>
              <a:rPr dirty="0" sz="1100" spc="-3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donnée</a:t>
            </a:r>
            <a:r>
              <a:rPr dirty="0" sz="1100" spc="-3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n</a:t>
            </a:r>
            <a:r>
              <a:rPr dirty="0" sz="1150">
                <a:solidFill>
                  <a:srgbClr val="121725"/>
                </a:solidFill>
                <a:latin typeface="Microsoft Sans Serif"/>
                <a:cs typeface="Microsoft Sans Serif"/>
              </a:rPr>
              <a:t>'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est</a:t>
            </a:r>
            <a:r>
              <a:rPr dirty="0" sz="1100" spc="-3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réellement envoyée</a:t>
            </a:r>
            <a:r>
              <a:rPr dirty="0" sz="1100" spc="-4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121725"/>
                </a:solidFill>
                <a:latin typeface="Microsoft Sans Serif"/>
                <a:cs typeface="Microsoft Sans Serif"/>
              </a:rPr>
              <a:t>(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pas</a:t>
            </a:r>
            <a:r>
              <a:rPr dirty="0" sz="1100" spc="-3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de</a:t>
            </a:r>
            <a:r>
              <a:rPr dirty="0" sz="1100" spc="-4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backend</a:t>
            </a:r>
            <a:r>
              <a:rPr dirty="0" sz="1150" spc="-10">
                <a:solidFill>
                  <a:srgbClr val="121725"/>
                </a:solidFill>
                <a:latin typeface="Microsoft Sans Serif"/>
                <a:cs typeface="Microsoft Sans Serif"/>
              </a:rPr>
              <a:t>).</a:t>
            </a:r>
            <a:endParaRPr sz="1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  <a:tabLst>
                <a:tab pos="194945" algn="l"/>
              </a:tabLst>
            </a:pPr>
            <a:r>
              <a:rPr dirty="0" baseline="2923" sz="1425" spc="-75" b="1">
                <a:solidFill>
                  <a:srgbClr val="FFFFFF"/>
                </a:solidFill>
                <a:latin typeface="Corbel"/>
                <a:cs typeface="Corbel"/>
              </a:rPr>
              <a:t>!</a:t>
            </a:r>
            <a:r>
              <a:rPr dirty="0" baseline="2923" sz="1425" b="1">
                <a:solidFill>
                  <a:srgbClr val="FFFFFF"/>
                </a:solidFill>
                <a:latin typeface="Corbel"/>
                <a:cs typeface="Corbel"/>
              </a:rPr>
              <a:t>	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Aucune</a:t>
            </a:r>
            <a:r>
              <a:rPr dirty="0" sz="1100" spc="-4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authentification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ni</a:t>
            </a:r>
            <a:r>
              <a:rPr dirty="0" sz="1100" spc="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espace</a:t>
            </a:r>
            <a:r>
              <a:rPr dirty="0" sz="1100" spc="-4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utilisateur</a:t>
            </a:r>
            <a:r>
              <a:rPr dirty="0" sz="1100" spc="-4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121725"/>
                </a:solidFill>
                <a:latin typeface="Microsoft Sans Serif"/>
                <a:cs typeface="Microsoft Sans Serif"/>
              </a:rPr>
              <a:t>:</a:t>
            </a:r>
            <a:r>
              <a:rPr dirty="0" sz="1150" spc="1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impossible</a:t>
            </a:r>
            <a:r>
              <a:rPr dirty="0" sz="1100" spc="-4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de</a:t>
            </a:r>
            <a:r>
              <a:rPr dirty="0" sz="1100" spc="-4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gérer</a:t>
            </a:r>
            <a:r>
              <a:rPr dirty="0" sz="1100" spc="-4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un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 profil</a:t>
            </a:r>
            <a:endParaRPr sz="1100">
              <a:latin typeface="Microsoft Sans Serif"/>
              <a:cs typeface="Microsoft Sans Serif"/>
            </a:endParaRPr>
          </a:p>
          <a:p>
            <a:pPr marL="194945">
              <a:lnSpc>
                <a:spcPct val="100000"/>
              </a:lnSpc>
              <a:spcBef>
                <a:spcPts val="195"/>
              </a:spcBef>
            </a:pP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freelance</a:t>
            </a:r>
            <a:r>
              <a:rPr dirty="0" sz="1100" spc="-6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en</a:t>
            </a:r>
            <a:r>
              <a:rPr dirty="0" sz="1100" spc="-2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ligne</a:t>
            </a:r>
            <a:r>
              <a:rPr dirty="0" sz="1150" spc="-10">
                <a:solidFill>
                  <a:srgbClr val="121725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  <a:p>
            <a:pPr marL="194945" marR="5080">
              <a:lnSpc>
                <a:spcPct val="108700"/>
              </a:lnSpc>
              <a:spcBef>
                <a:spcPts val="675"/>
              </a:spcBef>
            </a:pP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Police</a:t>
            </a:r>
            <a:r>
              <a:rPr dirty="0" sz="1100" spc="-4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Inter</a:t>
            </a:r>
            <a:r>
              <a:rPr dirty="0" sz="1100" spc="-4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référencée</a:t>
            </a:r>
            <a:r>
              <a:rPr dirty="0" sz="1100" spc="-4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0">
                <a:solidFill>
                  <a:srgbClr val="121725"/>
                </a:solidFill>
                <a:latin typeface="Microsoft Sans Serif"/>
                <a:cs typeface="Microsoft Sans Serif"/>
              </a:rPr>
              <a:t>mais</a:t>
            </a:r>
            <a:r>
              <a:rPr dirty="0" sz="1100" spc="-3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non</a:t>
            </a:r>
            <a:r>
              <a:rPr dirty="0" sz="1100" spc="-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importée</a:t>
            </a:r>
            <a:r>
              <a:rPr dirty="0" sz="1100" spc="-4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via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0">
                <a:solidFill>
                  <a:srgbClr val="121725"/>
                </a:solidFill>
                <a:latin typeface="Microsoft Sans Serif"/>
                <a:cs typeface="Microsoft Sans Serif"/>
              </a:rPr>
              <a:t>Google</a:t>
            </a:r>
            <a:r>
              <a:rPr dirty="0" sz="1100" spc="-3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5">
                <a:solidFill>
                  <a:srgbClr val="121725"/>
                </a:solidFill>
                <a:latin typeface="Microsoft Sans Serif"/>
                <a:cs typeface="Microsoft Sans Serif"/>
              </a:rPr>
              <a:t>Fonts</a:t>
            </a:r>
            <a:r>
              <a:rPr dirty="0" sz="1100" spc="-3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121725"/>
                </a:solidFill>
                <a:latin typeface="Microsoft Sans Serif"/>
                <a:cs typeface="Microsoft Sans Serif"/>
              </a:rPr>
              <a:t>:</a:t>
            </a:r>
            <a:r>
              <a:rPr dirty="0" sz="1150" spc="1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fallback</a:t>
            </a:r>
            <a:r>
              <a:rPr dirty="0" sz="1100" spc="-7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système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sur</a:t>
            </a:r>
            <a:r>
              <a:rPr dirty="0" sz="1100" spc="-4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certains</a:t>
            </a:r>
            <a:r>
              <a:rPr dirty="0" sz="1100" spc="-3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navigateurs</a:t>
            </a:r>
            <a:r>
              <a:rPr dirty="0" sz="1150" spc="-10">
                <a:solidFill>
                  <a:srgbClr val="121725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  <a:p>
            <a:pPr marL="194945" marR="154940">
              <a:lnSpc>
                <a:spcPct val="114100"/>
              </a:lnSpc>
              <a:spcBef>
                <a:spcPts val="600"/>
              </a:spcBef>
            </a:pP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Aucun</a:t>
            </a:r>
            <a:r>
              <a:rPr dirty="0" sz="1100" spc="-3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lien</a:t>
            </a:r>
            <a:r>
              <a:rPr dirty="0" sz="1100" spc="-2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vers</a:t>
            </a:r>
            <a:r>
              <a:rPr dirty="0" sz="1100" spc="-5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les</a:t>
            </a:r>
            <a:r>
              <a:rPr dirty="0" sz="1100" spc="-5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réseaux</a:t>
            </a:r>
            <a:r>
              <a:rPr dirty="0" sz="1100" spc="-6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sociaux</a:t>
            </a:r>
            <a:r>
              <a:rPr dirty="0" sz="1100" spc="-6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5">
                <a:solidFill>
                  <a:srgbClr val="121725"/>
                </a:solidFill>
                <a:latin typeface="Microsoft Sans Serif"/>
                <a:cs typeface="Microsoft Sans Serif"/>
              </a:rPr>
              <a:t>(</a:t>
            </a:r>
            <a:r>
              <a:rPr dirty="0" sz="1100" spc="-25">
                <a:solidFill>
                  <a:srgbClr val="121725"/>
                </a:solidFill>
                <a:latin typeface="Microsoft Sans Serif"/>
                <a:cs typeface="Microsoft Sans Serif"/>
              </a:rPr>
              <a:t>LinkedIn</a:t>
            </a:r>
            <a:r>
              <a:rPr dirty="0" sz="1150" spc="-25">
                <a:solidFill>
                  <a:srgbClr val="121725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-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0">
                <a:solidFill>
                  <a:srgbClr val="121725"/>
                </a:solidFill>
                <a:latin typeface="Microsoft Sans Serif"/>
                <a:cs typeface="Microsoft Sans Serif"/>
              </a:rPr>
              <a:t>Twitter</a:t>
            </a:r>
            <a:r>
              <a:rPr dirty="0" sz="1150" spc="-20">
                <a:solidFill>
                  <a:srgbClr val="121725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-1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0">
                <a:solidFill>
                  <a:srgbClr val="121725"/>
                </a:solidFill>
                <a:latin typeface="Microsoft Sans Serif"/>
                <a:cs typeface="Microsoft Sans Serif"/>
              </a:rPr>
              <a:t>Instagram</a:t>
            </a:r>
            <a:r>
              <a:rPr dirty="0" sz="1150" spc="-20">
                <a:solidFill>
                  <a:srgbClr val="121725"/>
                </a:solidFill>
                <a:latin typeface="Microsoft Sans Serif"/>
                <a:cs typeface="Microsoft Sans Serif"/>
              </a:rPr>
              <a:t>)</a:t>
            </a:r>
            <a:r>
              <a:rPr dirty="0" sz="1150" spc="1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121725"/>
                </a:solidFill>
                <a:latin typeface="Microsoft Sans Serif"/>
                <a:cs typeface="Microsoft Sans Serif"/>
              </a:rPr>
              <a:t>:</a:t>
            </a:r>
            <a:r>
              <a:rPr dirty="0" sz="1150" spc="-1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visibilité limitée</a:t>
            </a:r>
            <a:r>
              <a:rPr dirty="0" sz="1150" spc="-10">
                <a:solidFill>
                  <a:srgbClr val="121725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  <a:p>
            <a:pPr marL="194945">
              <a:lnSpc>
                <a:spcPct val="100000"/>
              </a:lnSpc>
              <a:spcBef>
                <a:spcPts val="795"/>
              </a:spcBef>
            </a:pPr>
            <a:r>
              <a:rPr dirty="0" sz="1100" spc="-50">
                <a:solidFill>
                  <a:srgbClr val="121725"/>
                </a:solidFill>
                <a:latin typeface="Microsoft Sans Serif"/>
                <a:cs typeface="Microsoft Sans Serif"/>
              </a:rPr>
              <a:t>Pas</a:t>
            </a:r>
            <a:r>
              <a:rPr dirty="0" sz="1100" spc="-2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de</a:t>
            </a:r>
            <a:r>
              <a:rPr dirty="0" sz="1100" spc="-4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moteur</a:t>
            </a:r>
            <a:r>
              <a:rPr dirty="0" sz="1100" spc="-4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de</a:t>
            </a:r>
            <a:r>
              <a:rPr dirty="0" sz="1100" spc="-3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recherche</a:t>
            </a:r>
            <a:r>
              <a:rPr dirty="0" sz="1100" spc="-3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interne</a:t>
            </a:r>
            <a:r>
              <a:rPr dirty="0" sz="1100" spc="-3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ni</a:t>
            </a:r>
            <a:r>
              <a:rPr dirty="0" sz="1100" spc="1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de</a:t>
            </a:r>
            <a:r>
              <a:rPr dirty="0" sz="1100" spc="-3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blog</a:t>
            </a:r>
            <a:r>
              <a:rPr dirty="0" sz="1150">
                <a:solidFill>
                  <a:srgbClr val="121725"/>
                </a:solidFill>
                <a:latin typeface="Microsoft Sans Serif"/>
                <a:cs typeface="Microsoft Sans Serif"/>
              </a:rPr>
              <a:t>/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contenu </a:t>
            </a:r>
            <a:r>
              <a:rPr dirty="0" sz="1100" spc="-20">
                <a:solidFill>
                  <a:srgbClr val="121725"/>
                </a:solidFill>
                <a:latin typeface="Microsoft Sans Serif"/>
                <a:cs typeface="Microsoft Sans Serif"/>
              </a:rPr>
              <a:t>SEO</a:t>
            </a:r>
            <a:r>
              <a:rPr dirty="0" sz="1150" spc="-20">
                <a:solidFill>
                  <a:srgbClr val="121725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  <a:p>
            <a:pPr marL="194945" marR="234950">
              <a:lnSpc>
                <a:spcPct val="108700"/>
              </a:lnSpc>
              <a:spcBef>
                <a:spcPts val="675"/>
              </a:spcBef>
            </a:pP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Statistiques</a:t>
            </a:r>
            <a:r>
              <a:rPr dirty="0" sz="1100" spc="-5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affichées</a:t>
            </a:r>
            <a:r>
              <a:rPr dirty="0" sz="1100" spc="-5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121725"/>
                </a:solidFill>
                <a:latin typeface="Microsoft Sans Serif"/>
                <a:cs typeface="Microsoft Sans Serif"/>
              </a:rPr>
              <a:t>(2500+</a:t>
            </a:r>
            <a:r>
              <a:rPr dirty="0" sz="1150" spc="-3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freelances</a:t>
            </a:r>
            <a:r>
              <a:rPr dirty="0" sz="1150" spc="-10">
                <a:solidFill>
                  <a:srgbClr val="121725"/>
                </a:solidFill>
                <a:latin typeface="Microsoft Sans Serif"/>
                <a:cs typeface="Microsoft Sans Serif"/>
              </a:rPr>
              <a:t>)</a:t>
            </a:r>
            <a:r>
              <a:rPr dirty="0" sz="1150" spc="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non</a:t>
            </a:r>
            <a:r>
              <a:rPr dirty="0" sz="1100" spc="-2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vérifiables</a:t>
            </a:r>
            <a:r>
              <a:rPr dirty="0" sz="1100" spc="-5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121725"/>
                </a:solidFill>
                <a:latin typeface="Microsoft Sans Serif"/>
                <a:cs typeface="Microsoft Sans Serif"/>
              </a:rPr>
              <a:t>:</a:t>
            </a:r>
            <a:r>
              <a:rPr dirty="0" sz="1150" spc="-1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potentiellement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fictives</a:t>
            </a:r>
            <a:r>
              <a:rPr dirty="0" sz="1100" spc="-1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à</a:t>
            </a:r>
            <a:r>
              <a:rPr dirty="0" sz="1100" spc="2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ce</a:t>
            </a:r>
            <a:r>
              <a:rPr dirty="0" sz="1100" spc="-1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stade</a:t>
            </a:r>
            <a:r>
              <a:rPr dirty="0" sz="1150" spc="-10">
                <a:solidFill>
                  <a:srgbClr val="121725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</p:txBody>
      </p:sp>
      <p:pic>
        <p:nvPicPr>
          <p:cNvPr id="35" name="object 3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85799" y="5076824"/>
            <a:ext cx="171450" cy="171449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738286" y="5067901"/>
            <a:ext cx="59055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50" b="1">
                <a:solidFill>
                  <a:srgbClr val="FFFFFF"/>
                </a:solidFill>
                <a:latin typeface="Corbel"/>
                <a:cs typeface="Corbel"/>
              </a:rPr>
              <a:t>!</a:t>
            </a:r>
            <a:endParaRPr sz="950">
              <a:latin typeface="Corbel"/>
              <a:cs typeface="Corbel"/>
            </a:endParaRPr>
          </a:p>
        </p:txBody>
      </p:sp>
      <p:pic>
        <p:nvPicPr>
          <p:cNvPr id="37" name="object 3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372223" y="2914649"/>
            <a:ext cx="171450" cy="171449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6396582" y="2921000"/>
            <a:ext cx="113664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65" b="1">
                <a:solidFill>
                  <a:srgbClr val="FFFFFF"/>
                </a:solidFill>
                <a:latin typeface="Yu Gothic"/>
                <a:cs typeface="Yu Gothic"/>
              </a:rPr>
              <a:t>✓</a:t>
            </a:r>
            <a:endParaRPr sz="800">
              <a:latin typeface="Yu Gothic"/>
              <a:cs typeface="Yu Gothic"/>
            </a:endParaRPr>
          </a:p>
        </p:txBody>
      </p:sp>
      <p:pic>
        <p:nvPicPr>
          <p:cNvPr id="39" name="object 3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372223" y="3381374"/>
            <a:ext cx="171450" cy="171449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372223" y="3857624"/>
            <a:ext cx="171450" cy="171449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6396582" y="3863975"/>
            <a:ext cx="113664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65" b="1">
                <a:solidFill>
                  <a:srgbClr val="FFFFFF"/>
                </a:solidFill>
                <a:latin typeface="Yu Gothic"/>
                <a:cs typeface="Yu Gothic"/>
              </a:rPr>
              <a:t>✓</a:t>
            </a:r>
            <a:endParaRPr sz="800">
              <a:latin typeface="Yu Gothic"/>
              <a:cs typeface="Yu Gothic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396582" y="2874839"/>
            <a:ext cx="5069840" cy="1625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18440" marR="55244">
              <a:lnSpc>
                <a:spcPct val="108700"/>
              </a:lnSpc>
              <a:spcBef>
                <a:spcPts val="90"/>
              </a:spcBef>
            </a:pP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Connecter</a:t>
            </a:r>
            <a:r>
              <a:rPr dirty="0" sz="1100" spc="-5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le</a:t>
            </a:r>
            <a:r>
              <a:rPr dirty="0" sz="1100" spc="-4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formulaire</a:t>
            </a:r>
            <a:r>
              <a:rPr dirty="0" sz="1100" spc="-4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à</a:t>
            </a:r>
            <a:r>
              <a:rPr dirty="0" sz="1100" spc="-1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un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service</a:t>
            </a:r>
            <a:r>
              <a:rPr dirty="0" sz="1100" spc="-4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backend</a:t>
            </a:r>
            <a:r>
              <a:rPr dirty="0" sz="1100" spc="-2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5">
                <a:solidFill>
                  <a:srgbClr val="121725"/>
                </a:solidFill>
                <a:latin typeface="Microsoft Sans Serif"/>
                <a:cs typeface="Microsoft Sans Serif"/>
              </a:rPr>
              <a:t>(</a:t>
            </a:r>
            <a:r>
              <a:rPr dirty="0" sz="1100" spc="-25">
                <a:solidFill>
                  <a:srgbClr val="121725"/>
                </a:solidFill>
                <a:latin typeface="Microsoft Sans Serif"/>
                <a:cs typeface="Microsoft Sans Serif"/>
              </a:rPr>
              <a:t>Formspree</a:t>
            </a:r>
            <a:r>
              <a:rPr dirty="0" sz="1150" spc="-25">
                <a:solidFill>
                  <a:srgbClr val="121725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40">
                <a:solidFill>
                  <a:srgbClr val="121725"/>
                </a:solidFill>
                <a:latin typeface="Microsoft Sans Serif"/>
                <a:cs typeface="Microsoft Sans Serif"/>
              </a:rPr>
              <a:t>EmailJS</a:t>
            </a:r>
            <a:r>
              <a:rPr dirty="0" sz="1150" spc="-40">
                <a:solidFill>
                  <a:srgbClr val="121725"/>
                </a:solidFill>
                <a:latin typeface="Microsoft Sans Serif"/>
                <a:cs typeface="Microsoft Sans Serif"/>
              </a:rPr>
              <a:t>)</a:t>
            </a:r>
            <a:r>
              <a:rPr dirty="0" sz="1150" spc="2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ou</a:t>
            </a:r>
            <a:r>
              <a:rPr dirty="0" sz="1100" spc="-1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une</a:t>
            </a:r>
            <a:r>
              <a:rPr dirty="0" sz="1100" spc="-4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35">
                <a:solidFill>
                  <a:srgbClr val="121725"/>
                </a:solidFill>
                <a:latin typeface="Microsoft Sans Serif"/>
                <a:cs typeface="Microsoft Sans Serif"/>
              </a:rPr>
              <a:t>API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Node</a:t>
            </a:r>
            <a:r>
              <a:rPr dirty="0" sz="1150" spc="-10">
                <a:solidFill>
                  <a:srgbClr val="121725"/>
                </a:solidFill>
                <a:latin typeface="Microsoft Sans Serif"/>
                <a:cs typeface="Microsoft Sans Serif"/>
              </a:rPr>
              <a:t>.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js</a:t>
            </a:r>
            <a:r>
              <a:rPr dirty="0" sz="1100" spc="-5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pour</a:t>
            </a:r>
            <a:r>
              <a:rPr dirty="0" sz="1100" spc="-5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un</a:t>
            </a:r>
            <a:r>
              <a:rPr dirty="0" sz="1100" spc="-2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envoi</a:t>
            </a:r>
            <a:r>
              <a:rPr dirty="0" sz="1100" spc="-1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réel</a:t>
            </a:r>
            <a:r>
              <a:rPr dirty="0" sz="1150" spc="-10">
                <a:solidFill>
                  <a:srgbClr val="121725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  <a:p>
            <a:pPr marL="215900" marR="53340" indent="-203835">
              <a:lnSpc>
                <a:spcPct val="114100"/>
              </a:lnSpc>
              <a:spcBef>
                <a:spcPts val="600"/>
              </a:spcBef>
              <a:buClr>
                <a:srgbClr val="FFFFFF"/>
              </a:buClr>
              <a:buSzPct val="72727"/>
              <a:buFont typeface="Yu Gothic"/>
              <a:buChar char="✓"/>
              <a:tabLst>
                <a:tab pos="218440" algn="l"/>
              </a:tabLst>
            </a:pP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Ajouter</a:t>
            </a:r>
            <a:r>
              <a:rPr dirty="0" sz="1100" spc="-4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un</a:t>
            </a:r>
            <a:r>
              <a:rPr dirty="0" sz="1100" spc="-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système</a:t>
            </a:r>
            <a:r>
              <a:rPr dirty="0" sz="1100" spc="-3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d</a:t>
            </a:r>
            <a:r>
              <a:rPr dirty="0" sz="1150">
                <a:solidFill>
                  <a:srgbClr val="121725"/>
                </a:solidFill>
                <a:latin typeface="Microsoft Sans Serif"/>
                <a:cs typeface="Microsoft Sans Serif"/>
              </a:rPr>
              <a:t>'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authentification </a:t>
            </a:r>
            <a:r>
              <a:rPr dirty="0" sz="1150" spc="-25">
                <a:solidFill>
                  <a:srgbClr val="121725"/>
                </a:solidFill>
                <a:latin typeface="Microsoft Sans Serif"/>
                <a:cs typeface="Microsoft Sans Serif"/>
              </a:rPr>
              <a:t>(</a:t>
            </a:r>
            <a:r>
              <a:rPr dirty="0" sz="1100" spc="-25">
                <a:solidFill>
                  <a:srgbClr val="121725"/>
                </a:solidFill>
                <a:latin typeface="Microsoft Sans Serif"/>
                <a:cs typeface="Microsoft Sans Serif"/>
              </a:rPr>
              <a:t>Firebase</a:t>
            </a:r>
            <a:r>
              <a:rPr dirty="0" sz="1100" spc="-3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Auth</a:t>
            </a:r>
            <a:r>
              <a:rPr dirty="0" sz="1150" spc="-10">
                <a:solidFill>
                  <a:srgbClr val="121725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1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30">
                <a:solidFill>
                  <a:srgbClr val="121725"/>
                </a:solidFill>
                <a:latin typeface="Microsoft Sans Serif"/>
                <a:cs typeface="Microsoft Sans Serif"/>
              </a:rPr>
              <a:t>Supabase</a:t>
            </a:r>
            <a:r>
              <a:rPr dirty="0" sz="1150" spc="-30">
                <a:solidFill>
                  <a:srgbClr val="121725"/>
                </a:solidFill>
                <a:latin typeface="Microsoft Sans Serif"/>
                <a:cs typeface="Microsoft Sans Serif"/>
              </a:rPr>
              <a:t>)</a:t>
            </a:r>
            <a:r>
              <a:rPr dirty="0" sz="1150" spc="3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avec</a:t>
            </a:r>
            <a:r>
              <a:rPr dirty="0" sz="1100" spc="-3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espaces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	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freelances</a:t>
            </a:r>
            <a:r>
              <a:rPr dirty="0" sz="1100" spc="-3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et</a:t>
            </a:r>
            <a:r>
              <a:rPr dirty="0" sz="1100" spc="-4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entreprises</a:t>
            </a:r>
            <a:r>
              <a:rPr dirty="0" sz="1150" spc="-10">
                <a:solidFill>
                  <a:srgbClr val="121725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  <a:p>
            <a:pPr marL="218440" marR="5080">
              <a:lnSpc>
                <a:spcPct val="109800"/>
              </a:lnSpc>
              <a:spcBef>
                <a:spcPts val="720"/>
              </a:spcBef>
            </a:pP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Importer</a:t>
            </a:r>
            <a:r>
              <a:rPr dirty="0" sz="1100" spc="-4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la</a:t>
            </a:r>
            <a:r>
              <a:rPr dirty="0" sz="1100" spc="-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police</a:t>
            </a:r>
            <a:r>
              <a:rPr dirty="0" sz="1100" spc="-4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Inter</a:t>
            </a:r>
            <a:r>
              <a:rPr dirty="0" sz="1100" spc="-4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via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0">
                <a:solidFill>
                  <a:srgbClr val="121725"/>
                </a:solidFill>
                <a:latin typeface="Microsoft Sans Serif"/>
                <a:cs typeface="Microsoft Sans Serif"/>
              </a:rPr>
              <a:t>Google</a:t>
            </a:r>
            <a:r>
              <a:rPr dirty="0" sz="1100" spc="-3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5">
                <a:solidFill>
                  <a:srgbClr val="121725"/>
                </a:solidFill>
                <a:latin typeface="Microsoft Sans Serif"/>
                <a:cs typeface="Microsoft Sans Serif"/>
              </a:rPr>
              <a:t>Fonts</a:t>
            </a:r>
            <a:r>
              <a:rPr dirty="0" sz="1100" spc="-3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pour</a:t>
            </a:r>
            <a:r>
              <a:rPr dirty="0" sz="1100" spc="-4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une</a:t>
            </a:r>
            <a:r>
              <a:rPr dirty="0" sz="1100" spc="-3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cohérence</a:t>
            </a:r>
            <a:r>
              <a:rPr dirty="0" sz="1100" spc="-4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typographique</a:t>
            </a:r>
            <a:r>
              <a:rPr dirty="0" sz="1100" spc="-3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5">
                <a:solidFill>
                  <a:srgbClr val="121725"/>
                </a:solidFill>
                <a:latin typeface="Microsoft Sans Serif"/>
                <a:cs typeface="Microsoft Sans Serif"/>
              </a:rPr>
              <a:t>sur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tous</a:t>
            </a:r>
            <a:r>
              <a:rPr dirty="0" sz="1100" spc="-4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les</a:t>
            </a:r>
            <a:r>
              <a:rPr dirty="0" sz="1100" spc="-4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navigateurs</a:t>
            </a:r>
            <a:r>
              <a:rPr dirty="0" sz="1150" spc="-10">
                <a:solidFill>
                  <a:srgbClr val="121725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  <a:p>
            <a:pPr marL="218440">
              <a:lnSpc>
                <a:spcPct val="100000"/>
              </a:lnSpc>
              <a:spcBef>
                <a:spcPts val="795"/>
              </a:spcBef>
            </a:pP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Intégrer</a:t>
            </a:r>
            <a:r>
              <a:rPr dirty="0" sz="1100" spc="-3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0">
                <a:solidFill>
                  <a:srgbClr val="121725"/>
                </a:solidFill>
                <a:latin typeface="Microsoft Sans Serif"/>
                <a:cs typeface="Microsoft Sans Serif"/>
              </a:rPr>
              <a:t>LinkedIn</a:t>
            </a:r>
            <a:r>
              <a:rPr dirty="0" sz="1150" spc="-20">
                <a:solidFill>
                  <a:srgbClr val="121725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3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Twitter</a:t>
            </a:r>
            <a:r>
              <a:rPr dirty="0" sz="1150" spc="-10">
                <a:solidFill>
                  <a:srgbClr val="121725"/>
                </a:solidFill>
                <a:latin typeface="Microsoft Sans Serif"/>
                <a:cs typeface="Microsoft Sans Serif"/>
              </a:rPr>
              <a:t>/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X</a:t>
            </a:r>
            <a:r>
              <a:rPr dirty="0" sz="1100" spc="-5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et</a:t>
            </a:r>
            <a:r>
              <a:rPr dirty="0" sz="1100" spc="-3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0">
                <a:solidFill>
                  <a:srgbClr val="121725"/>
                </a:solidFill>
                <a:latin typeface="Microsoft Sans Serif"/>
                <a:cs typeface="Microsoft Sans Serif"/>
              </a:rPr>
              <a:t>Instagram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pour</a:t>
            </a:r>
            <a:r>
              <a:rPr dirty="0" sz="1100" spc="-2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la</a:t>
            </a:r>
            <a:r>
              <a:rPr dirty="0" sz="1100" spc="1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viralité</a:t>
            </a:r>
            <a:r>
              <a:rPr dirty="0" sz="1100" spc="-2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et</a:t>
            </a:r>
            <a:r>
              <a:rPr dirty="0" sz="1100" spc="-3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la</a:t>
            </a:r>
            <a:r>
              <a:rPr dirty="0" sz="1100" spc="1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crédibilité</a:t>
            </a:r>
            <a:r>
              <a:rPr dirty="0" sz="1150" spc="-10">
                <a:solidFill>
                  <a:srgbClr val="121725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</p:txBody>
      </p:sp>
      <p:pic>
        <p:nvPicPr>
          <p:cNvPr id="43" name="object 4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372223" y="4324349"/>
            <a:ext cx="171450" cy="171449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6396582" y="4330700"/>
            <a:ext cx="113664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65" b="1">
                <a:solidFill>
                  <a:srgbClr val="FFFFFF"/>
                </a:solidFill>
                <a:latin typeface="Yu Gothic"/>
                <a:cs typeface="Yu Gothic"/>
              </a:rPr>
              <a:t>✓</a:t>
            </a:r>
            <a:endParaRPr sz="800">
              <a:latin typeface="Yu Gothic"/>
              <a:cs typeface="Yu Gothic"/>
            </a:endParaRPr>
          </a:p>
        </p:txBody>
      </p:sp>
      <p:pic>
        <p:nvPicPr>
          <p:cNvPr id="45" name="object 4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372223" y="4610099"/>
            <a:ext cx="171450" cy="171449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6396582" y="4606925"/>
            <a:ext cx="113664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65" b="1">
                <a:solidFill>
                  <a:srgbClr val="FFFFFF"/>
                </a:solidFill>
                <a:latin typeface="Yu Gothic"/>
                <a:cs typeface="Yu Gothic"/>
              </a:rPr>
              <a:t>✓</a:t>
            </a:r>
            <a:endParaRPr sz="800">
              <a:latin typeface="Yu Gothic"/>
              <a:cs typeface="Yu Gothic"/>
            </a:endParaRPr>
          </a:p>
        </p:txBody>
      </p:sp>
      <p:pic>
        <p:nvPicPr>
          <p:cNvPr id="47" name="object 4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372223" y="5076824"/>
            <a:ext cx="171450" cy="171449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6396582" y="5083175"/>
            <a:ext cx="113664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65" b="1">
                <a:solidFill>
                  <a:srgbClr val="FFFFFF"/>
                </a:solidFill>
                <a:latin typeface="Yu Gothic"/>
                <a:cs typeface="Yu Gothic"/>
              </a:rPr>
              <a:t>✓</a:t>
            </a:r>
            <a:endParaRPr sz="800">
              <a:latin typeface="Yu Gothic"/>
              <a:cs typeface="Yu Gothic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602411" y="4570289"/>
            <a:ext cx="4846320" cy="11588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90"/>
              </a:spcBef>
            </a:pPr>
            <a:r>
              <a:rPr dirty="0" sz="1100" spc="-20">
                <a:solidFill>
                  <a:srgbClr val="121725"/>
                </a:solidFill>
                <a:latin typeface="Microsoft Sans Serif"/>
                <a:cs typeface="Microsoft Sans Serif"/>
              </a:rPr>
              <a:t>Créer</a:t>
            </a:r>
            <a:r>
              <a:rPr dirty="0" sz="1100" spc="-3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un</a:t>
            </a:r>
            <a:r>
              <a:rPr dirty="0" sz="1100" spc="1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blog</a:t>
            </a:r>
            <a:r>
              <a:rPr dirty="0" sz="1100" spc="1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5">
                <a:solidFill>
                  <a:srgbClr val="121725"/>
                </a:solidFill>
                <a:latin typeface="Microsoft Sans Serif"/>
                <a:cs typeface="Microsoft Sans Serif"/>
              </a:rPr>
              <a:t>SEO</a:t>
            </a:r>
            <a:r>
              <a:rPr dirty="0" sz="1100" spc="-1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pour</a:t>
            </a:r>
            <a:r>
              <a:rPr dirty="0" sz="1100" spc="-2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attirer</a:t>
            </a:r>
            <a:r>
              <a:rPr dirty="0" sz="1100" spc="-2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du</a:t>
            </a:r>
            <a:r>
              <a:rPr dirty="0" sz="1100" spc="1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trafic</a:t>
            </a:r>
            <a:r>
              <a:rPr dirty="0" sz="1100" spc="-2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organique</a:t>
            </a:r>
            <a:r>
              <a:rPr dirty="0" sz="1100" spc="-2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sur</a:t>
            </a:r>
            <a:r>
              <a:rPr dirty="0" sz="1100" spc="-2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les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mots</a:t>
            </a:r>
            <a:r>
              <a:rPr dirty="0" sz="1150">
                <a:solidFill>
                  <a:srgbClr val="121725"/>
                </a:solidFill>
                <a:latin typeface="Microsoft Sans Serif"/>
                <a:cs typeface="Microsoft Sans Serif"/>
              </a:rPr>
              <a:t>-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clés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121725"/>
                </a:solidFill>
                <a:latin typeface="Microsoft Sans Serif"/>
                <a:cs typeface="Microsoft Sans Serif"/>
              </a:rPr>
              <a:t>«</a:t>
            </a:r>
            <a:r>
              <a:rPr dirty="0" sz="1150" spc="-4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freelance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tech</a:t>
            </a:r>
            <a:r>
              <a:rPr dirty="0" sz="1100" spc="2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Afrique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5">
                <a:solidFill>
                  <a:srgbClr val="121725"/>
                </a:solidFill>
                <a:latin typeface="Microsoft Sans Serif"/>
                <a:cs typeface="Microsoft Sans Serif"/>
              </a:rPr>
              <a:t>».</a:t>
            </a:r>
            <a:endParaRPr sz="1150">
              <a:latin typeface="Microsoft Sans Serif"/>
              <a:cs typeface="Microsoft Sans Serif"/>
            </a:endParaRPr>
          </a:p>
          <a:p>
            <a:pPr marL="12700" marR="822325">
              <a:lnSpc>
                <a:spcPct val="108700"/>
              </a:lnSpc>
              <a:spcBef>
                <a:spcPts val="675"/>
              </a:spcBef>
            </a:pP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Ajouter</a:t>
            </a:r>
            <a:r>
              <a:rPr dirty="0" sz="1100" spc="-4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une</a:t>
            </a:r>
            <a:r>
              <a:rPr dirty="0" sz="1100" spc="-4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vraie</a:t>
            </a:r>
            <a:r>
              <a:rPr dirty="0" sz="1100" spc="-3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base</a:t>
            </a:r>
            <a:r>
              <a:rPr dirty="0" sz="1100" spc="-4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de</a:t>
            </a:r>
            <a:r>
              <a:rPr dirty="0" sz="1100" spc="-3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données</a:t>
            </a:r>
            <a:r>
              <a:rPr dirty="0" sz="1100" spc="-3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35">
                <a:solidFill>
                  <a:srgbClr val="121725"/>
                </a:solidFill>
                <a:latin typeface="Microsoft Sans Serif"/>
                <a:cs typeface="Microsoft Sans Serif"/>
              </a:rPr>
              <a:t>(</a:t>
            </a:r>
            <a:r>
              <a:rPr dirty="0" sz="1100" spc="-35">
                <a:solidFill>
                  <a:srgbClr val="121725"/>
                </a:solidFill>
                <a:latin typeface="Microsoft Sans Serif"/>
                <a:cs typeface="Microsoft Sans Serif"/>
              </a:rPr>
              <a:t>SQLite</a:t>
            </a:r>
            <a:r>
              <a:rPr dirty="0" sz="1150" spc="-35">
                <a:solidFill>
                  <a:srgbClr val="121725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1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30">
                <a:solidFill>
                  <a:srgbClr val="121725"/>
                </a:solidFill>
                <a:latin typeface="Microsoft Sans Serif"/>
                <a:cs typeface="Microsoft Sans Serif"/>
              </a:rPr>
              <a:t>Supabase</a:t>
            </a:r>
            <a:r>
              <a:rPr dirty="0" sz="1150" spc="-30">
                <a:solidFill>
                  <a:srgbClr val="121725"/>
                </a:solidFill>
                <a:latin typeface="Microsoft Sans Serif"/>
                <a:cs typeface="Microsoft Sans Serif"/>
              </a:rPr>
              <a:t>)</a:t>
            </a:r>
            <a:r>
              <a:rPr dirty="0" sz="1150" spc="3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pour</a:t>
            </a:r>
            <a:r>
              <a:rPr dirty="0" sz="1100" spc="-4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gérer dynamiquement</a:t>
            </a:r>
            <a:r>
              <a:rPr dirty="0" sz="1100" spc="-3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les</a:t>
            </a:r>
            <a:r>
              <a:rPr dirty="0" sz="1100" spc="-1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profils</a:t>
            </a:r>
            <a:r>
              <a:rPr dirty="0" sz="1100" spc="-1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freelances</a:t>
            </a:r>
            <a:r>
              <a:rPr dirty="0" sz="1150" spc="-10">
                <a:solidFill>
                  <a:srgbClr val="121725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Implémenter</a:t>
            </a:r>
            <a:r>
              <a:rPr dirty="0" sz="1100" spc="-6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un</a:t>
            </a:r>
            <a:r>
              <a:rPr dirty="0" sz="1100" spc="-2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système</a:t>
            </a:r>
            <a:r>
              <a:rPr dirty="0" sz="1100" spc="-5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de</a:t>
            </a:r>
            <a:r>
              <a:rPr dirty="0" sz="1100" spc="-5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paiement</a:t>
            </a:r>
            <a:r>
              <a:rPr dirty="0" sz="1100" spc="-6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réel</a:t>
            </a:r>
            <a:r>
              <a:rPr dirty="0" sz="1100" spc="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121725"/>
                </a:solidFill>
                <a:latin typeface="Microsoft Sans Serif"/>
                <a:cs typeface="Microsoft Sans Serif"/>
              </a:rPr>
              <a:t>(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Stripe</a:t>
            </a:r>
            <a:r>
              <a:rPr dirty="0" sz="1150" spc="-10">
                <a:solidFill>
                  <a:srgbClr val="121725"/>
                </a:solidFill>
                <a:latin typeface="Microsoft Sans Serif"/>
                <a:cs typeface="Microsoft Sans Serif"/>
              </a:rPr>
              <a:t>, </a:t>
            </a:r>
            <a:r>
              <a:rPr dirty="0" sz="1100" spc="-20">
                <a:solidFill>
                  <a:srgbClr val="121725"/>
                </a:solidFill>
                <a:latin typeface="Microsoft Sans Serif"/>
                <a:cs typeface="Microsoft Sans Serif"/>
              </a:rPr>
              <a:t>Paystack</a:t>
            </a:r>
            <a:r>
              <a:rPr dirty="0" sz="1150" spc="-20">
                <a:solidFill>
                  <a:srgbClr val="121725"/>
                </a:solidFill>
                <a:latin typeface="Microsoft Sans Serif"/>
                <a:cs typeface="Microsoft Sans Serif"/>
              </a:rPr>
              <a:t>)</a:t>
            </a:r>
            <a:r>
              <a:rPr dirty="0" sz="1150" spc="1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pour</a:t>
            </a:r>
            <a:r>
              <a:rPr dirty="0" sz="1100" spc="-6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21725"/>
                </a:solidFill>
                <a:latin typeface="Microsoft Sans Serif"/>
                <a:cs typeface="Microsoft Sans Serif"/>
              </a:rPr>
              <a:t>les</a:t>
            </a:r>
            <a:r>
              <a:rPr dirty="0" sz="1100" spc="-45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121725"/>
                </a:solidFill>
                <a:latin typeface="Microsoft Sans Serif"/>
                <a:cs typeface="Microsoft Sans Serif"/>
              </a:rPr>
              <a:t>missions</a:t>
            </a:r>
            <a:r>
              <a:rPr dirty="0" sz="1150" spc="-10">
                <a:solidFill>
                  <a:srgbClr val="121725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</p:txBody>
      </p:sp>
      <p:pic>
        <p:nvPicPr>
          <p:cNvPr id="50" name="object 5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372223" y="5553074"/>
            <a:ext cx="171450" cy="171449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6396582" y="5549900"/>
            <a:ext cx="113664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65" b="1">
                <a:solidFill>
                  <a:srgbClr val="FFFFFF"/>
                </a:solidFill>
                <a:latin typeface="Yu Gothic"/>
                <a:cs typeface="Yu Gothic"/>
              </a:rPr>
              <a:t>✓</a:t>
            </a:r>
            <a:endParaRPr sz="800">
              <a:latin typeface="Yu Gothic"/>
              <a:cs typeface="Yu Gothic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73100" y="6474593"/>
            <a:ext cx="4275455" cy="161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AfriTalent</a:t>
            </a:r>
            <a:r>
              <a:rPr dirty="0" sz="950" spc="-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By</a:t>
            </a:r>
            <a:r>
              <a:rPr dirty="0" sz="95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5C6A81"/>
                </a:solidFill>
                <a:latin typeface="Microsoft Sans Serif"/>
                <a:cs typeface="Microsoft Sans Serif"/>
              </a:rPr>
              <a:t>Agent</a:t>
            </a:r>
            <a:r>
              <a:rPr dirty="0" sz="1050" spc="-10">
                <a:solidFill>
                  <a:srgbClr val="5C6A81"/>
                </a:solidFill>
                <a:latin typeface="Microsoft Sans Serif"/>
                <a:cs typeface="Microsoft Sans Serif"/>
              </a:rPr>
              <a:t>23</a:t>
            </a:r>
            <a:r>
              <a:rPr dirty="0" sz="105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dirty="0" sz="105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Contact</a:t>
            </a:r>
            <a:r>
              <a:rPr dirty="0" sz="950" spc="-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:</a:t>
            </a:r>
            <a:r>
              <a:rPr dirty="0" sz="105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40">
                <a:solidFill>
                  <a:srgbClr val="5C6A81"/>
                </a:solidFill>
                <a:latin typeface="Microsoft Sans Serif"/>
                <a:cs typeface="Microsoft Sans Serif"/>
                <a:hlinkClick r:id="rId17"/>
              </a:rPr>
              <a:t>agent</a:t>
            </a:r>
            <a:r>
              <a:rPr dirty="0" sz="1050" spc="-40">
                <a:solidFill>
                  <a:srgbClr val="5C6A81"/>
                </a:solidFill>
                <a:latin typeface="Microsoft Sans Serif"/>
                <a:cs typeface="Microsoft Sans Serif"/>
                <a:hlinkClick r:id="rId17"/>
              </a:rPr>
              <a:t>210601@</a:t>
            </a:r>
            <a:r>
              <a:rPr dirty="0" sz="950" spc="-40">
                <a:solidFill>
                  <a:srgbClr val="5C6A81"/>
                </a:solidFill>
                <a:latin typeface="Microsoft Sans Serif"/>
                <a:cs typeface="Microsoft Sans Serif"/>
                <a:hlinkClick r:id="rId17"/>
              </a:rPr>
              <a:t>gmail</a:t>
            </a:r>
            <a:r>
              <a:rPr dirty="0" sz="1050" spc="-40">
                <a:solidFill>
                  <a:srgbClr val="5C6A81"/>
                </a:solidFill>
                <a:latin typeface="Microsoft Sans Serif"/>
                <a:cs typeface="Microsoft Sans Serif"/>
                <a:hlinkClick r:id="rId17"/>
              </a:rPr>
              <a:t>.</a:t>
            </a:r>
            <a:r>
              <a:rPr dirty="0" sz="950" spc="-40">
                <a:solidFill>
                  <a:srgbClr val="5C6A81"/>
                </a:solidFill>
                <a:latin typeface="Microsoft Sans Serif"/>
                <a:cs typeface="Microsoft Sans Serif"/>
                <a:hlinkClick r:id="rId17"/>
              </a:rPr>
              <a:t>com</a:t>
            </a:r>
            <a:r>
              <a:rPr dirty="0" sz="950" spc="-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dirty="0" sz="1050" spc="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5">
                <a:solidFill>
                  <a:srgbClr val="5C6A81"/>
                </a:solidFill>
                <a:latin typeface="Microsoft Sans Serif"/>
                <a:cs typeface="Microsoft Sans Serif"/>
              </a:rPr>
              <a:t>+221</a:t>
            </a:r>
            <a:r>
              <a:rPr dirty="0" sz="10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85">
                <a:solidFill>
                  <a:srgbClr val="5C6A81"/>
                </a:solidFill>
                <a:latin typeface="Microsoft Sans Serif"/>
                <a:cs typeface="Microsoft Sans Serif"/>
              </a:rPr>
              <a:t>71</a:t>
            </a:r>
            <a:r>
              <a:rPr dirty="0" sz="105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008</a:t>
            </a:r>
            <a:r>
              <a:rPr dirty="0" sz="105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00</a:t>
            </a:r>
            <a:r>
              <a:rPr dirty="0" sz="105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5C6A81"/>
                </a:solidFill>
                <a:latin typeface="Microsoft Sans Serif"/>
                <a:cs typeface="Microsoft Sans Serif"/>
              </a:rPr>
              <a:t>86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0878839" y="6474593"/>
            <a:ext cx="633095" cy="161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 sz="950">
                <a:solidFill>
                  <a:srgbClr val="5C6A81"/>
                </a:solidFill>
                <a:latin typeface="Microsoft Sans Serif"/>
                <a:cs typeface="Microsoft Sans Serif"/>
              </a:rPr>
              <a:t>Slide </a:t>
            </a:r>
            <a:r>
              <a:rPr dirty="0" sz="1050" spc="-130">
                <a:solidFill>
                  <a:srgbClr val="5C6A81"/>
                </a:solidFill>
                <a:latin typeface="Microsoft Sans Serif"/>
                <a:cs typeface="Microsoft Sans Serif"/>
              </a:rPr>
              <a:t>10</a:t>
            </a:r>
            <a:r>
              <a:rPr dirty="0" sz="1050" spc="-2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5C6A81"/>
                </a:solidFill>
                <a:latin typeface="Microsoft Sans Serif"/>
                <a:cs typeface="Microsoft Sans Serif"/>
              </a:rPr>
              <a:t>/</a:t>
            </a:r>
            <a:r>
              <a:rPr dirty="0" sz="1050" spc="-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80">
                <a:solidFill>
                  <a:srgbClr val="5C6A81"/>
                </a:solidFill>
                <a:latin typeface="Microsoft Sans Serif"/>
                <a:cs typeface="Microsoft Sans Serif"/>
              </a:rPr>
              <a:t>11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91500" y="0"/>
            <a:ext cx="4000499" cy="40004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2000250"/>
            <a:ext cx="4191000" cy="4857750"/>
            <a:chOff x="0" y="2000250"/>
            <a:chExt cx="4191000" cy="485775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238499"/>
              <a:ext cx="3715511" cy="36194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90562" y="2019299"/>
              <a:ext cx="3495675" cy="2481580"/>
            </a:xfrm>
            <a:custGeom>
              <a:avLst/>
              <a:gdLst/>
              <a:ahLst/>
              <a:cxnLst/>
              <a:rect l="l" t="t" r="r" b="b"/>
              <a:pathLst>
                <a:path w="3495675" h="2481579">
                  <a:moveTo>
                    <a:pt x="3375530" y="2481262"/>
                  </a:moveTo>
                  <a:lnTo>
                    <a:pt x="120144" y="2481262"/>
                  </a:lnTo>
                  <a:lnTo>
                    <a:pt x="111782" y="2480438"/>
                  </a:lnTo>
                  <a:lnTo>
                    <a:pt x="71578" y="2468242"/>
                  </a:lnTo>
                  <a:lnTo>
                    <a:pt x="31692" y="2437628"/>
                  </a:lnTo>
                  <a:lnTo>
                    <a:pt x="6557" y="2394082"/>
                  </a:lnTo>
                  <a:lnTo>
                    <a:pt x="0" y="2361117"/>
                  </a:lnTo>
                  <a:lnTo>
                    <a:pt x="0" y="2352674"/>
                  </a:lnTo>
                  <a:lnTo>
                    <a:pt x="0" y="106794"/>
                  </a:lnTo>
                  <a:lnTo>
                    <a:pt x="13019" y="63625"/>
                  </a:lnTo>
                  <a:lnTo>
                    <a:pt x="43632" y="28170"/>
                  </a:lnTo>
                  <a:lnTo>
                    <a:pt x="87179" y="5828"/>
                  </a:lnTo>
                  <a:lnTo>
                    <a:pt x="120144" y="0"/>
                  </a:lnTo>
                  <a:lnTo>
                    <a:pt x="3375530" y="0"/>
                  </a:lnTo>
                  <a:lnTo>
                    <a:pt x="3424095" y="11572"/>
                  </a:lnTo>
                  <a:lnTo>
                    <a:pt x="3463982" y="38784"/>
                  </a:lnTo>
                  <a:lnTo>
                    <a:pt x="3489117" y="77492"/>
                  </a:lnTo>
                  <a:lnTo>
                    <a:pt x="3495674" y="106794"/>
                  </a:lnTo>
                  <a:lnTo>
                    <a:pt x="3495674" y="2361117"/>
                  </a:lnTo>
                  <a:lnTo>
                    <a:pt x="3482654" y="2409682"/>
                  </a:lnTo>
                  <a:lnTo>
                    <a:pt x="3452041" y="2449569"/>
                  </a:lnTo>
                  <a:lnTo>
                    <a:pt x="3408494" y="2474704"/>
                  </a:lnTo>
                  <a:lnTo>
                    <a:pt x="3383892" y="2480438"/>
                  </a:lnTo>
                  <a:lnTo>
                    <a:pt x="3375530" y="2481262"/>
                  </a:lnTo>
                  <a:close/>
                </a:path>
              </a:pathLst>
            </a:custGeom>
            <a:solidFill>
              <a:srgbClr val="ECF2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02863" y="2000250"/>
              <a:ext cx="3471545" cy="90805"/>
            </a:xfrm>
            <a:custGeom>
              <a:avLst/>
              <a:gdLst/>
              <a:ahLst/>
              <a:cxnLst/>
              <a:rect l="l" t="t" r="r" b="b"/>
              <a:pathLst>
                <a:path w="3471545" h="90805">
                  <a:moveTo>
                    <a:pt x="5634" y="90791"/>
                  </a:moveTo>
                  <a:lnTo>
                    <a:pt x="0" y="68253"/>
                  </a:lnTo>
                  <a:lnTo>
                    <a:pt x="5389" y="59250"/>
                  </a:lnTo>
                  <a:lnTo>
                    <a:pt x="13153" y="48794"/>
                  </a:lnTo>
                  <a:lnTo>
                    <a:pt x="42187" y="22452"/>
                  </a:lnTo>
                  <a:lnTo>
                    <a:pt x="77634" y="5709"/>
                  </a:lnTo>
                  <a:lnTo>
                    <a:pt x="116286" y="0"/>
                  </a:lnTo>
                  <a:lnTo>
                    <a:pt x="3354786" y="0"/>
                  </a:lnTo>
                  <a:lnTo>
                    <a:pt x="3393437" y="5709"/>
                  </a:lnTo>
                  <a:lnTo>
                    <a:pt x="3428885" y="22452"/>
                  </a:lnTo>
                  <a:lnTo>
                    <a:pt x="3448024" y="38099"/>
                  </a:lnTo>
                  <a:lnTo>
                    <a:pt x="116286" y="38099"/>
                  </a:lnTo>
                  <a:lnTo>
                    <a:pt x="104088" y="38553"/>
                  </a:lnTo>
                  <a:lnTo>
                    <a:pt x="57856" y="49359"/>
                  </a:lnTo>
                  <a:lnTo>
                    <a:pt x="20520" y="72953"/>
                  </a:lnTo>
                  <a:lnTo>
                    <a:pt x="7099" y="88403"/>
                  </a:lnTo>
                  <a:lnTo>
                    <a:pt x="5634" y="90791"/>
                  </a:lnTo>
                  <a:close/>
                </a:path>
                <a:path w="3471545" h="90805">
                  <a:moveTo>
                    <a:pt x="3465438" y="90791"/>
                  </a:moveTo>
                  <a:lnTo>
                    <a:pt x="3433301" y="59683"/>
                  </a:lnTo>
                  <a:lnTo>
                    <a:pt x="3390676" y="42178"/>
                  </a:lnTo>
                  <a:lnTo>
                    <a:pt x="3354786" y="38099"/>
                  </a:lnTo>
                  <a:lnTo>
                    <a:pt x="3448024" y="38099"/>
                  </a:lnTo>
                  <a:lnTo>
                    <a:pt x="3449078" y="39057"/>
                  </a:lnTo>
                  <a:lnTo>
                    <a:pt x="3457918" y="48794"/>
                  </a:lnTo>
                  <a:lnTo>
                    <a:pt x="3465683" y="59250"/>
                  </a:lnTo>
                  <a:lnTo>
                    <a:pt x="3471072" y="68253"/>
                  </a:lnTo>
                  <a:lnTo>
                    <a:pt x="3465438" y="90791"/>
                  </a:lnTo>
                  <a:close/>
                </a:path>
              </a:pathLst>
            </a:custGeom>
            <a:solidFill>
              <a:srgbClr val="2453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85787" y="2068232"/>
              <a:ext cx="3505200" cy="2437130"/>
            </a:xfrm>
            <a:custGeom>
              <a:avLst/>
              <a:gdLst/>
              <a:ahLst/>
              <a:cxnLst/>
              <a:rect l="l" t="t" r="r" b="b"/>
              <a:pathLst>
                <a:path w="3505200" h="2437129">
                  <a:moveTo>
                    <a:pt x="3505200" y="65379"/>
                  </a:moveTo>
                  <a:lnTo>
                    <a:pt x="3499497" y="26720"/>
                  </a:lnTo>
                  <a:lnTo>
                    <a:pt x="3487978" y="0"/>
                  </a:lnTo>
                  <a:lnTo>
                    <a:pt x="3482340" y="22542"/>
                  </a:lnTo>
                  <a:lnTo>
                    <a:pt x="3486251" y="28917"/>
                  </a:lnTo>
                  <a:lnTo>
                    <a:pt x="3490379" y="37769"/>
                  </a:lnTo>
                  <a:lnTo>
                    <a:pt x="3493325" y="46786"/>
                  </a:lnTo>
                  <a:lnTo>
                    <a:pt x="3495090" y="55994"/>
                  </a:lnTo>
                  <a:lnTo>
                    <a:pt x="3495675" y="65379"/>
                  </a:lnTo>
                  <a:lnTo>
                    <a:pt x="3495675" y="2303754"/>
                  </a:lnTo>
                  <a:lnTo>
                    <a:pt x="3486251" y="2351138"/>
                  </a:lnTo>
                  <a:lnTo>
                    <a:pt x="3458908" y="2391753"/>
                  </a:lnTo>
                  <a:lnTo>
                    <a:pt x="3419246" y="2418143"/>
                  </a:lnTo>
                  <a:lnTo>
                    <a:pt x="3384308" y="2426944"/>
                  </a:lnTo>
                  <a:lnTo>
                    <a:pt x="3384829" y="2426944"/>
                  </a:lnTo>
                  <a:lnTo>
                    <a:pt x="3371850" y="2427579"/>
                  </a:lnTo>
                  <a:lnTo>
                    <a:pt x="133350" y="2427579"/>
                  </a:lnTo>
                  <a:lnTo>
                    <a:pt x="120383" y="2426944"/>
                  </a:lnTo>
                  <a:lnTo>
                    <a:pt x="120904" y="2426944"/>
                  </a:lnTo>
                  <a:lnTo>
                    <a:pt x="109194" y="2425217"/>
                  </a:lnTo>
                  <a:lnTo>
                    <a:pt x="64554" y="2406726"/>
                  </a:lnTo>
                  <a:lnTo>
                    <a:pt x="46291" y="2391765"/>
                  </a:lnTo>
                  <a:lnTo>
                    <a:pt x="37592" y="2382266"/>
                  </a:lnTo>
                  <a:lnTo>
                    <a:pt x="14833" y="2339644"/>
                  </a:lnTo>
                  <a:lnTo>
                    <a:pt x="9525" y="2303754"/>
                  </a:lnTo>
                  <a:lnTo>
                    <a:pt x="9525" y="65379"/>
                  </a:lnTo>
                  <a:lnTo>
                    <a:pt x="22872" y="22542"/>
                  </a:lnTo>
                  <a:lnTo>
                    <a:pt x="17233" y="0"/>
                  </a:lnTo>
                  <a:lnTo>
                    <a:pt x="2540" y="39357"/>
                  </a:lnTo>
                  <a:lnTo>
                    <a:pt x="0" y="65379"/>
                  </a:lnTo>
                  <a:lnTo>
                    <a:pt x="0" y="2303754"/>
                  </a:lnTo>
                  <a:lnTo>
                    <a:pt x="5715" y="2342400"/>
                  </a:lnTo>
                  <a:lnTo>
                    <a:pt x="22453" y="2377846"/>
                  </a:lnTo>
                  <a:lnTo>
                    <a:pt x="39103" y="2398001"/>
                  </a:lnTo>
                  <a:lnTo>
                    <a:pt x="39509" y="2398458"/>
                  </a:lnTo>
                  <a:lnTo>
                    <a:pt x="48806" y="2406878"/>
                  </a:lnTo>
                  <a:lnTo>
                    <a:pt x="82321" y="2426944"/>
                  </a:lnTo>
                  <a:lnTo>
                    <a:pt x="120218" y="2436469"/>
                  </a:lnTo>
                  <a:lnTo>
                    <a:pt x="133350" y="2437104"/>
                  </a:lnTo>
                  <a:lnTo>
                    <a:pt x="3371850" y="2437104"/>
                  </a:lnTo>
                  <a:lnTo>
                    <a:pt x="3410508" y="2431389"/>
                  </a:lnTo>
                  <a:lnTo>
                    <a:pt x="3445954" y="2414651"/>
                  </a:lnTo>
                  <a:lnTo>
                    <a:pt x="3465639" y="2398496"/>
                  </a:lnTo>
                  <a:lnTo>
                    <a:pt x="3466147" y="2398039"/>
                  </a:lnTo>
                  <a:lnTo>
                    <a:pt x="3489439" y="2366670"/>
                  </a:lnTo>
                  <a:lnTo>
                    <a:pt x="3502672" y="2329764"/>
                  </a:lnTo>
                  <a:lnTo>
                    <a:pt x="3505200" y="2303754"/>
                  </a:lnTo>
                  <a:lnTo>
                    <a:pt x="3505200" y="65379"/>
                  </a:lnTo>
                  <a:close/>
                </a:path>
              </a:pathLst>
            </a:custGeom>
            <a:solidFill>
              <a:srgbClr val="E4E8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85824" y="2209799"/>
              <a:ext cx="438150" cy="438150"/>
            </a:xfrm>
            <a:custGeom>
              <a:avLst/>
              <a:gdLst/>
              <a:ahLst/>
              <a:cxnLst/>
              <a:rect l="l" t="t" r="r" b="b"/>
              <a:pathLst>
                <a:path w="438150" h="438150">
                  <a:moveTo>
                    <a:pt x="331354" y="438149"/>
                  </a:moveTo>
                  <a:lnTo>
                    <a:pt x="106794" y="438149"/>
                  </a:lnTo>
                  <a:lnTo>
                    <a:pt x="99361" y="437417"/>
                  </a:lnTo>
                  <a:lnTo>
                    <a:pt x="57038" y="423056"/>
                  </a:lnTo>
                  <a:lnTo>
                    <a:pt x="23432" y="393591"/>
                  </a:lnTo>
                  <a:lnTo>
                    <a:pt x="3660" y="353509"/>
                  </a:lnTo>
                  <a:lnTo>
                    <a:pt x="0" y="331354"/>
                  </a:lnTo>
                  <a:lnTo>
                    <a:pt x="0" y="323849"/>
                  </a:lnTo>
                  <a:lnTo>
                    <a:pt x="0" y="106794"/>
                  </a:lnTo>
                  <a:lnTo>
                    <a:pt x="11572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4" y="0"/>
                  </a:lnTo>
                  <a:lnTo>
                    <a:pt x="331354" y="0"/>
                  </a:lnTo>
                  <a:lnTo>
                    <a:pt x="374524" y="11572"/>
                  </a:lnTo>
                  <a:lnTo>
                    <a:pt x="409979" y="38784"/>
                  </a:lnTo>
                  <a:lnTo>
                    <a:pt x="432321" y="77492"/>
                  </a:lnTo>
                  <a:lnTo>
                    <a:pt x="438149" y="106794"/>
                  </a:lnTo>
                  <a:lnTo>
                    <a:pt x="438149" y="331354"/>
                  </a:lnTo>
                  <a:lnTo>
                    <a:pt x="426577" y="374523"/>
                  </a:lnTo>
                  <a:lnTo>
                    <a:pt x="399365" y="409979"/>
                  </a:lnTo>
                  <a:lnTo>
                    <a:pt x="360656" y="432321"/>
                  </a:lnTo>
                  <a:lnTo>
                    <a:pt x="338787" y="437417"/>
                  </a:lnTo>
                  <a:lnTo>
                    <a:pt x="331354" y="438149"/>
                  </a:lnTo>
                  <a:close/>
                </a:path>
              </a:pathLst>
            </a:custGeom>
            <a:solidFill>
              <a:srgbClr val="2453D5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5525" y="2336799"/>
              <a:ext cx="171450" cy="19367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0711259" y="566061"/>
            <a:ext cx="79565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b="1">
                <a:solidFill>
                  <a:srgbClr val="5C6A81"/>
                </a:solidFill>
                <a:latin typeface="Arial"/>
                <a:cs typeface="Arial"/>
              </a:rPr>
              <a:t>Slide</a:t>
            </a:r>
            <a:r>
              <a:rPr dirty="0" sz="1150" spc="40" b="1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5C6A81"/>
                </a:solidFill>
                <a:latin typeface="Sitka Banner"/>
                <a:cs typeface="Sitka Banner"/>
              </a:rPr>
              <a:t>11</a:t>
            </a:r>
            <a:r>
              <a:rPr dirty="0" sz="1100" spc="165" b="1">
                <a:solidFill>
                  <a:srgbClr val="5C6A81"/>
                </a:solidFill>
                <a:latin typeface="Sitka Banner"/>
                <a:cs typeface="Sitka Banner"/>
              </a:rPr>
              <a:t> </a:t>
            </a:r>
            <a:r>
              <a:rPr dirty="0" sz="1100" b="1">
                <a:solidFill>
                  <a:srgbClr val="5C6A81"/>
                </a:solidFill>
                <a:latin typeface="Sitka Banner"/>
                <a:cs typeface="Sitka Banner"/>
              </a:rPr>
              <a:t>/</a:t>
            </a:r>
            <a:r>
              <a:rPr dirty="0" sz="1100" spc="105" b="1">
                <a:solidFill>
                  <a:srgbClr val="5C6A81"/>
                </a:solidFill>
                <a:latin typeface="Sitka Banner"/>
                <a:cs typeface="Sitka Banner"/>
              </a:rPr>
              <a:t> </a:t>
            </a:r>
            <a:r>
              <a:rPr dirty="0" sz="1100" spc="-25" b="1">
                <a:solidFill>
                  <a:srgbClr val="5C6A81"/>
                </a:solidFill>
                <a:latin typeface="Sitka Banner"/>
                <a:cs typeface="Sitka Banner"/>
              </a:rPr>
              <a:t>11</a:t>
            </a:r>
            <a:endParaRPr sz="1100">
              <a:latin typeface="Sitka Banner"/>
              <a:cs typeface="Sitka Banner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3100" y="1056643"/>
            <a:ext cx="1751964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65" b="1">
                <a:solidFill>
                  <a:srgbClr val="2453D5"/>
                </a:solidFill>
                <a:latin typeface="Arial"/>
                <a:cs typeface="Arial"/>
              </a:rPr>
              <a:t>SYNTHÈSE</a:t>
            </a:r>
            <a:r>
              <a:rPr dirty="0" sz="950" spc="13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2453D5"/>
                </a:solidFill>
                <a:latin typeface="Cambria"/>
                <a:cs typeface="Cambria"/>
              </a:rPr>
              <a:t>&amp;</a:t>
            </a:r>
            <a:r>
              <a:rPr dirty="0" sz="950" spc="140" b="1">
                <a:solidFill>
                  <a:srgbClr val="2453D5"/>
                </a:solidFill>
                <a:latin typeface="Cambria"/>
                <a:cs typeface="Cambria"/>
              </a:rPr>
              <a:t> </a:t>
            </a:r>
            <a:r>
              <a:rPr dirty="0" sz="950" spc="35" b="1">
                <a:solidFill>
                  <a:srgbClr val="2453D5"/>
                </a:solidFill>
                <a:latin typeface="Arial"/>
                <a:cs typeface="Arial"/>
              </a:rPr>
              <a:t>OUVERTURE</a:t>
            </a:r>
            <a:endParaRPr sz="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3100" y="1207857"/>
            <a:ext cx="1993900" cy="5041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100" spc="-130" b="1">
                <a:solidFill>
                  <a:srgbClr val="121725"/>
                </a:solidFill>
                <a:latin typeface="Arial"/>
                <a:cs typeface="Arial"/>
              </a:rPr>
              <a:t>Conclusion</a:t>
            </a:r>
            <a:endParaRPr sz="31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85799" y="1790699"/>
            <a:ext cx="533400" cy="38100"/>
          </a:xfrm>
          <a:custGeom>
            <a:avLst/>
            <a:gdLst/>
            <a:ahLst/>
            <a:cxnLst/>
            <a:rect l="l" t="t" r="r" b="b"/>
            <a:pathLst>
              <a:path w="533400" h="38100">
                <a:moveTo>
                  <a:pt x="5168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9049"/>
                </a:lnTo>
                <a:lnTo>
                  <a:pt x="0" y="16523"/>
                </a:lnTo>
                <a:lnTo>
                  <a:pt x="16523" y="0"/>
                </a:lnTo>
                <a:lnTo>
                  <a:pt x="516876" y="0"/>
                </a:lnTo>
                <a:lnTo>
                  <a:pt x="533399" y="16523"/>
                </a:lnTo>
                <a:lnTo>
                  <a:pt x="533399" y="21576"/>
                </a:lnTo>
                <a:lnTo>
                  <a:pt x="519306" y="37616"/>
                </a:lnTo>
                <a:lnTo>
                  <a:pt x="516876" y="38099"/>
                </a:lnTo>
                <a:close/>
              </a:path>
            </a:pathLst>
          </a:custGeom>
          <a:solidFill>
            <a:srgbClr val="F59D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873124" y="2578750"/>
            <a:ext cx="2979420" cy="1265555"/>
          </a:xfrm>
          <a:prstGeom prst="rect">
            <a:avLst/>
          </a:prstGeom>
        </p:spPr>
        <p:txBody>
          <a:bodyPr wrap="square" lIns="0" tIns="142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1450" spc="-75" b="1">
                <a:solidFill>
                  <a:srgbClr val="121725"/>
                </a:solidFill>
                <a:latin typeface="Arial"/>
                <a:cs typeface="Arial"/>
              </a:rPr>
              <a:t>Rôle</a:t>
            </a:r>
            <a:r>
              <a:rPr dirty="0" sz="1450" spc="-14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450" spc="-50" b="1">
                <a:solidFill>
                  <a:srgbClr val="121725"/>
                </a:solidFill>
                <a:latin typeface="Arial"/>
                <a:cs typeface="Arial"/>
              </a:rPr>
              <a:t>du</a:t>
            </a:r>
            <a:r>
              <a:rPr dirty="0" sz="1450" spc="-105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450" spc="-20" b="1">
                <a:solidFill>
                  <a:srgbClr val="121725"/>
                </a:solidFill>
                <a:latin typeface="Arial"/>
                <a:cs typeface="Arial"/>
              </a:rPr>
              <a:t>site</a:t>
            </a:r>
            <a:endParaRPr sz="1450">
              <a:latin typeface="Arial"/>
              <a:cs typeface="Arial"/>
            </a:endParaRPr>
          </a:p>
          <a:p>
            <a:pPr marL="12700" marR="5080">
              <a:lnSpc>
                <a:spcPct val="117300"/>
              </a:lnSpc>
              <a:spcBef>
                <a:spcPts val="555"/>
              </a:spcBef>
            </a:pP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AfriTalent</a:t>
            </a:r>
            <a:r>
              <a:rPr dirty="0" sz="1100" spc="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est</a:t>
            </a:r>
            <a:r>
              <a:rPr dirty="0" sz="1100" spc="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une</a:t>
            </a:r>
            <a:r>
              <a:rPr dirty="0" sz="1100" spc="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plateforme</a:t>
            </a:r>
            <a:r>
              <a:rPr dirty="0" sz="1100" spc="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vitrine</a:t>
            </a:r>
            <a:r>
              <a:rPr dirty="0" sz="1100" spc="5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qui</a:t>
            </a:r>
            <a:r>
              <a:rPr dirty="0" sz="1100" spc="10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met</a:t>
            </a:r>
            <a:r>
              <a:rPr dirty="0" sz="1100" spc="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5">
                <a:solidFill>
                  <a:srgbClr val="5C6A81"/>
                </a:solidFill>
                <a:latin typeface="Microsoft Sans Serif"/>
                <a:cs typeface="Microsoft Sans Serif"/>
              </a:rPr>
              <a:t>en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relation</a:t>
            </a:r>
            <a:r>
              <a:rPr dirty="0" sz="1100" spc="6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les</a:t>
            </a:r>
            <a:r>
              <a:rPr dirty="0" sz="1100" spc="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entreprises</a:t>
            </a:r>
            <a:r>
              <a:rPr dirty="0" sz="1100" spc="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dirty="0" sz="110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les</a:t>
            </a:r>
            <a:r>
              <a:rPr dirty="0" sz="1100" spc="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freelances</a:t>
            </a:r>
            <a:r>
              <a:rPr dirty="0" sz="1100" spc="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tech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africains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dirty="0" sz="1200" spc="8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0">
                <a:solidFill>
                  <a:srgbClr val="5C6A81"/>
                </a:solidFill>
                <a:latin typeface="Microsoft Sans Serif"/>
                <a:cs typeface="Microsoft Sans Serif"/>
              </a:rPr>
              <a:t>Elle</a:t>
            </a:r>
            <a:r>
              <a:rPr dirty="0" sz="1100" spc="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valorise</a:t>
            </a:r>
            <a:r>
              <a:rPr dirty="0" sz="1100" spc="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l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expertise</a:t>
            </a:r>
            <a:r>
              <a:rPr dirty="0" sz="1100" spc="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locale</a:t>
            </a:r>
            <a:r>
              <a:rPr dirty="0" sz="1100" spc="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50">
                <a:solidFill>
                  <a:srgbClr val="5C6A81"/>
                </a:solidFill>
                <a:latin typeface="Microsoft Sans Serif"/>
                <a:cs typeface="Microsoft Sans Serif"/>
              </a:rPr>
              <a:t>à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l</a:t>
            </a:r>
            <a:r>
              <a:rPr dirty="0" sz="1200" spc="-1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international</a:t>
            </a:r>
            <a:r>
              <a:rPr dirty="0" sz="120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85824" y="4086224"/>
            <a:ext cx="1809750" cy="238125"/>
          </a:xfrm>
          <a:custGeom>
            <a:avLst/>
            <a:gdLst/>
            <a:ahLst/>
            <a:cxnLst/>
            <a:rect l="l" t="t" r="r" b="b"/>
            <a:pathLst>
              <a:path w="1809750" h="238125">
                <a:moveTo>
                  <a:pt x="1698504" y="238124"/>
                </a:moveTo>
                <a:lnTo>
                  <a:pt x="111244" y="238124"/>
                </a:lnTo>
                <a:lnTo>
                  <a:pt x="103502" y="237362"/>
                </a:lnTo>
                <a:lnTo>
                  <a:pt x="66276" y="226069"/>
                </a:lnTo>
                <a:lnTo>
                  <a:pt x="29344" y="197724"/>
                </a:lnTo>
                <a:lnTo>
                  <a:pt x="6071" y="157402"/>
                </a:lnTo>
                <a:lnTo>
                  <a:pt x="0" y="126880"/>
                </a:lnTo>
                <a:lnTo>
                  <a:pt x="0" y="119062"/>
                </a:lnTo>
                <a:lnTo>
                  <a:pt x="0" y="111244"/>
                </a:lnTo>
                <a:lnTo>
                  <a:pt x="12054" y="66276"/>
                </a:lnTo>
                <a:lnTo>
                  <a:pt x="40400" y="29344"/>
                </a:lnTo>
                <a:lnTo>
                  <a:pt x="80721" y="6071"/>
                </a:lnTo>
                <a:lnTo>
                  <a:pt x="111244" y="0"/>
                </a:lnTo>
                <a:lnTo>
                  <a:pt x="1698504" y="0"/>
                </a:lnTo>
                <a:lnTo>
                  <a:pt x="1743472" y="12054"/>
                </a:lnTo>
                <a:lnTo>
                  <a:pt x="1780404" y="40400"/>
                </a:lnTo>
                <a:lnTo>
                  <a:pt x="1803678" y="80721"/>
                </a:lnTo>
                <a:lnTo>
                  <a:pt x="1809749" y="111244"/>
                </a:lnTo>
                <a:lnTo>
                  <a:pt x="1809749" y="126880"/>
                </a:lnTo>
                <a:lnTo>
                  <a:pt x="1797694" y="171847"/>
                </a:lnTo>
                <a:lnTo>
                  <a:pt x="1769349" y="208779"/>
                </a:lnTo>
                <a:lnTo>
                  <a:pt x="1729027" y="232053"/>
                </a:lnTo>
                <a:lnTo>
                  <a:pt x="1706247" y="237361"/>
                </a:lnTo>
                <a:lnTo>
                  <a:pt x="1698504" y="238124"/>
                </a:lnTo>
                <a:close/>
              </a:path>
            </a:pathLst>
          </a:custGeom>
          <a:solidFill>
            <a:srgbClr val="2453D5">
              <a:alpha val="101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968374" y="4104778"/>
            <a:ext cx="1642745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2453D5"/>
                </a:solidFill>
                <a:latin typeface="Arial"/>
                <a:cs typeface="Arial"/>
              </a:rPr>
              <a:t>VITRINE</a:t>
            </a:r>
            <a:r>
              <a:rPr dirty="0" sz="850" spc="65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2453D5"/>
                </a:solidFill>
                <a:latin typeface="Arial"/>
                <a:cs typeface="Arial"/>
              </a:rPr>
              <a:t>·</a:t>
            </a:r>
            <a:r>
              <a:rPr dirty="0" sz="950" spc="11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2453D5"/>
                </a:solidFill>
                <a:latin typeface="Arial"/>
                <a:cs typeface="Arial"/>
              </a:rPr>
              <a:t>MISE</a:t>
            </a:r>
            <a:r>
              <a:rPr dirty="0" sz="850" spc="65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2453D5"/>
                </a:solidFill>
                <a:latin typeface="Arial"/>
                <a:cs typeface="Arial"/>
              </a:rPr>
              <a:t>EN</a:t>
            </a:r>
            <a:r>
              <a:rPr dirty="0" sz="850" spc="6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2453D5"/>
                </a:solidFill>
                <a:latin typeface="Arial"/>
                <a:cs typeface="Arial"/>
              </a:rPr>
              <a:t>RELATION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343399" y="2000250"/>
            <a:ext cx="3505200" cy="2505075"/>
            <a:chOff x="4343399" y="2000250"/>
            <a:chExt cx="3505200" cy="2505075"/>
          </a:xfrm>
        </p:grpSpPr>
        <p:sp>
          <p:nvSpPr>
            <p:cNvPr id="18" name="object 18"/>
            <p:cNvSpPr/>
            <p:nvPr/>
          </p:nvSpPr>
          <p:spPr>
            <a:xfrm>
              <a:off x="4348162" y="2019299"/>
              <a:ext cx="3495675" cy="2481580"/>
            </a:xfrm>
            <a:custGeom>
              <a:avLst/>
              <a:gdLst/>
              <a:ahLst/>
              <a:cxnLst/>
              <a:rect l="l" t="t" r="r" b="b"/>
              <a:pathLst>
                <a:path w="3495675" h="2481579">
                  <a:moveTo>
                    <a:pt x="3375530" y="2481262"/>
                  </a:moveTo>
                  <a:lnTo>
                    <a:pt x="120144" y="2481262"/>
                  </a:lnTo>
                  <a:lnTo>
                    <a:pt x="111782" y="2480438"/>
                  </a:lnTo>
                  <a:lnTo>
                    <a:pt x="71578" y="2468242"/>
                  </a:lnTo>
                  <a:lnTo>
                    <a:pt x="31692" y="2437628"/>
                  </a:lnTo>
                  <a:lnTo>
                    <a:pt x="6556" y="2394082"/>
                  </a:lnTo>
                  <a:lnTo>
                    <a:pt x="0" y="2361117"/>
                  </a:lnTo>
                  <a:lnTo>
                    <a:pt x="0" y="2352674"/>
                  </a:lnTo>
                  <a:lnTo>
                    <a:pt x="0" y="106794"/>
                  </a:lnTo>
                  <a:lnTo>
                    <a:pt x="13018" y="63625"/>
                  </a:lnTo>
                  <a:lnTo>
                    <a:pt x="43632" y="28170"/>
                  </a:lnTo>
                  <a:lnTo>
                    <a:pt x="87179" y="5828"/>
                  </a:lnTo>
                  <a:lnTo>
                    <a:pt x="120144" y="0"/>
                  </a:lnTo>
                  <a:lnTo>
                    <a:pt x="3375530" y="0"/>
                  </a:lnTo>
                  <a:lnTo>
                    <a:pt x="3424095" y="11572"/>
                  </a:lnTo>
                  <a:lnTo>
                    <a:pt x="3463982" y="38784"/>
                  </a:lnTo>
                  <a:lnTo>
                    <a:pt x="3489117" y="77492"/>
                  </a:lnTo>
                  <a:lnTo>
                    <a:pt x="3495674" y="106794"/>
                  </a:lnTo>
                  <a:lnTo>
                    <a:pt x="3495674" y="2361117"/>
                  </a:lnTo>
                  <a:lnTo>
                    <a:pt x="3482654" y="2409682"/>
                  </a:lnTo>
                  <a:lnTo>
                    <a:pt x="3452042" y="2449569"/>
                  </a:lnTo>
                  <a:lnTo>
                    <a:pt x="3408494" y="2474704"/>
                  </a:lnTo>
                  <a:lnTo>
                    <a:pt x="3383892" y="2480438"/>
                  </a:lnTo>
                  <a:lnTo>
                    <a:pt x="3375530" y="2481262"/>
                  </a:lnTo>
                  <a:close/>
                </a:path>
              </a:pathLst>
            </a:custGeom>
            <a:solidFill>
              <a:srgbClr val="ECF2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360463" y="2000250"/>
              <a:ext cx="3471545" cy="90805"/>
            </a:xfrm>
            <a:custGeom>
              <a:avLst/>
              <a:gdLst/>
              <a:ahLst/>
              <a:cxnLst/>
              <a:rect l="l" t="t" r="r" b="b"/>
              <a:pathLst>
                <a:path w="3471545" h="90805">
                  <a:moveTo>
                    <a:pt x="5634" y="90790"/>
                  </a:moveTo>
                  <a:lnTo>
                    <a:pt x="0" y="68253"/>
                  </a:lnTo>
                  <a:lnTo>
                    <a:pt x="5388" y="59250"/>
                  </a:lnTo>
                  <a:lnTo>
                    <a:pt x="13153" y="48794"/>
                  </a:lnTo>
                  <a:lnTo>
                    <a:pt x="42187" y="22452"/>
                  </a:lnTo>
                  <a:lnTo>
                    <a:pt x="77634" y="5709"/>
                  </a:lnTo>
                  <a:lnTo>
                    <a:pt x="116286" y="0"/>
                  </a:lnTo>
                  <a:lnTo>
                    <a:pt x="3354786" y="0"/>
                  </a:lnTo>
                  <a:lnTo>
                    <a:pt x="3393437" y="5709"/>
                  </a:lnTo>
                  <a:lnTo>
                    <a:pt x="3428885" y="22452"/>
                  </a:lnTo>
                  <a:lnTo>
                    <a:pt x="3448024" y="38099"/>
                  </a:lnTo>
                  <a:lnTo>
                    <a:pt x="116286" y="38099"/>
                  </a:lnTo>
                  <a:lnTo>
                    <a:pt x="104088" y="38553"/>
                  </a:lnTo>
                  <a:lnTo>
                    <a:pt x="57856" y="49359"/>
                  </a:lnTo>
                  <a:lnTo>
                    <a:pt x="20519" y="72953"/>
                  </a:lnTo>
                  <a:lnTo>
                    <a:pt x="7098" y="88403"/>
                  </a:lnTo>
                  <a:lnTo>
                    <a:pt x="5634" y="90790"/>
                  </a:lnTo>
                  <a:close/>
                </a:path>
                <a:path w="3471545" h="90805">
                  <a:moveTo>
                    <a:pt x="3465438" y="90790"/>
                  </a:moveTo>
                  <a:lnTo>
                    <a:pt x="3433301" y="59683"/>
                  </a:lnTo>
                  <a:lnTo>
                    <a:pt x="3390676" y="42178"/>
                  </a:lnTo>
                  <a:lnTo>
                    <a:pt x="3354786" y="38099"/>
                  </a:lnTo>
                  <a:lnTo>
                    <a:pt x="3448024" y="38099"/>
                  </a:lnTo>
                  <a:lnTo>
                    <a:pt x="3449078" y="39057"/>
                  </a:lnTo>
                  <a:lnTo>
                    <a:pt x="3457919" y="48794"/>
                  </a:lnTo>
                  <a:lnTo>
                    <a:pt x="3465683" y="59250"/>
                  </a:lnTo>
                  <a:lnTo>
                    <a:pt x="3471072" y="68253"/>
                  </a:lnTo>
                  <a:lnTo>
                    <a:pt x="3465438" y="90790"/>
                  </a:lnTo>
                  <a:close/>
                </a:path>
              </a:pathLst>
            </a:custGeom>
            <a:solidFill>
              <a:srgbClr val="F59D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343387" y="2068232"/>
              <a:ext cx="3505200" cy="2437130"/>
            </a:xfrm>
            <a:custGeom>
              <a:avLst/>
              <a:gdLst/>
              <a:ahLst/>
              <a:cxnLst/>
              <a:rect l="l" t="t" r="r" b="b"/>
              <a:pathLst>
                <a:path w="3505200" h="2437129">
                  <a:moveTo>
                    <a:pt x="3505200" y="65379"/>
                  </a:moveTo>
                  <a:lnTo>
                    <a:pt x="3499497" y="26720"/>
                  </a:lnTo>
                  <a:lnTo>
                    <a:pt x="3487978" y="0"/>
                  </a:lnTo>
                  <a:lnTo>
                    <a:pt x="3482340" y="22542"/>
                  </a:lnTo>
                  <a:lnTo>
                    <a:pt x="3486251" y="28917"/>
                  </a:lnTo>
                  <a:lnTo>
                    <a:pt x="3490379" y="37769"/>
                  </a:lnTo>
                  <a:lnTo>
                    <a:pt x="3493325" y="46786"/>
                  </a:lnTo>
                  <a:lnTo>
                    <a:pt x="3495090" y="55994"/>
                  </a:lnTo>
                  <a:lnTo>
                    <a:pt x="3495675" y="65379"/>
                  </a:lnTo>
                  <a:lnTo>
                    <a:pt x="3495675" y="2303754"/>
                  </a:lnTo>
                  <a:lnTo>
                    <a:pt x="3486251" y="2351138"/>
                  </a:lnTo>
                  <a:lnTo>
                    <a:pt x="3458908" y="2391753"/>
                  </a:lnTo>
                  <a:lnTo>
                    <a:pt x="3419233" y="2418143"/>
                  </a:lnTo>
                  <a:lnTo>
                    <a:pt x="3384308" y="2426944"/>
                  </a:lnTo>
                  <a:lnTo>
                    <a:pt x="3384829" y="2426944"/>
                  </a:lnTo>
                  <a:lnTo>
                    <a:pt x="3371850" y="2427579"/>
                  </a:lnTo>
                  <a:lnTo>
                    <a:pt x="133350" y="2427579"/>
                  </a:lnTo>
                  <a:lnTo>
                    <a:pt x="120383" y="2426944"/>
                  </a:lnTo>
                  <a:lnTo>
                    <a:pt x="120904" y="2426944"/>
                  </a:lnTo>
                  <a:lnTo>
                    <a:pt x="109194" y="2425217"/>
                  </a:lnTo>
                  <a:lnTo>
                    <a:pt x="64554" y="2406726"/>
                  </a:lnTo>
                  <a:lnTo>
                    <a:pt x="46291" y="2391765"/>
                  </a:lnTo>
                  <a:lnTo>
                    <a:pt x="37592" y="2382266"/>
                  </a:lnTo>
                  <a:lnTo>
                    <a:pt x="14833" y="2339644"/>
                  </a:lnTo>
                  <a:lnTo>
                    <a:pt x="9525" y="2303754"/>
                  </a:lnTo>
                  <a:lnTo>
                    <a:pt x="9525" y="65379"/>
                  </a:lnTo>
                  <a:lnTo>
                    <a:pt x="22872" y="22542"/>
                  </a:lnTo>
                  <a:lnTo>
                    <a:pt x="17233" y="0"/>
                  </a:lnTo>
                  <a:lnTo>
                    <a:pt x="2540" y="39357"/>
                  </a:lnTo>
                  <a:lnTo>
                    <a:pt x="0" y="65379"/>
                  </a:lnTo>
                  <a:lnTo>
                    <a:pt x="0" y="2303754"/>
                  </a:lnTo>
                  <a:lnTo>
                    <a:pt x="5715" y="2342400"/>
                  </a:lnTo>
                  <a:lnTo>
                    <a:pt x="22453" y="2377846"/>
                  </a:lnTo>
                  <a:lnTo>
                    <a:pt x="39103" y="2398001"/>
                  </a:lnTo>
                  <a:lnTo>
                    <a:pt x="39509" y="2398458"/>
                  </a:lnTo>
                  <a:lnTo>
                    <a:pt x="48806" y="2406878"/>
                  </a:lnTo>
                  <a:lnTo>
                    <a:pt x="82321" y="2426944"/>
                  </a:lnTo>
                  <a:lnTo>
                    <a:pt x="120218" y="2436469"/>
                  </a:lnTo>
                  <a:lnTo>
                    <a:pt x="133350" y="2437104"/>
                  </a:lnTo>
                  <a:lnTo>
                    <a:pt x="3371850" y="2437104"/>
                  </a:lnTo>
                  <a:lnTo>
                    <a:pt x="3410508" y="2431389"/>
                  </a:lnTo>
                  <a:lnTo>
                    <a:pt x="3445954" y="2414651"/>
                  </a:lnTo>
                  <a:lnTo>
                    <a:pt x="3465639" y="2398496"/>
                  </a:lnTo>
                  <a:lnTo>
                    <a:pt x="3466147" y="2398039"/>
                  </a:lnTo>
                  <a:lnTo>
                    <a:pt x="3489439" y="2366670"/>
                  </a:lnTo>
                  <a:lnTo>
                    <a:pt x="3502672" y="2329764"/>
                  </a:lnTo>
                  <a:lnTo>
                    <a:pt x="3505200" y="2303754"/>
                  </a:lnTo>
                  <a:lnTo>
                    <a:pt x="3505200" y="65379"/>
                  </a:lnTo>
                  <a:close/>
                </a:path>
              </a:pathLst>
            </a:custGeom>
            <a:solidFill>
              <a:srgbClr val="E4E8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543424" y="2209799"/>
              <a:ext cx="438150" cy="438150"/>
            </a:xfrm>
            <a:custGeom>
              <a:avLst/>
              <a:gdLst/>
              <a:ahLst/>
              <a:cxnLst/>
              <a:rect l="l" t="t" r="r" b="b"/>
              <a:pathLst>
                <a:path w="438150" h="438150">
                  <a:moveTo>
                    <a:pt x="331355" y="438149"/>
                  </a:moveTo>
                  <a:lnTo>
                    <a:pt x="106794" y="438149"/>
                  </a:lnTo>
                  <a:lnTo>
                    <a:pt x="99361" y="437417"/>
                  </a:lnTo>
                  <a:lnTo>
                    <a:pt x="57037" y="423056"/>
                  </a:lnTo>
                  <a:lnTo>
                    <a:pt x="23431" y="393591"/>
                  </a:lnTo>
                  <a:lnTo>
                    <a:pt x="3659" y="353509"/>
                  </a:lnTo>
                  <a:lnTo>
                    <a:pt x="0" y="331354"/>
                  </a:lnTo>
                  <a:lnTo>
                    <a:pt x="0" y="323849"/>
                  </a:lnTo>
                  <a:lnTo>
                    <a:pt x="0" y="106794"/>
                  </a:lnTo>
                  <a:lnTo>
                    <a:pt x="11571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4" y="0"/>
                  </a:lnTo>
                  <a:lnTo>
                    <a:pt x="331355" y="0"/>
                  </a:lnTo>
                  <a:lnTo>
                    <a:pt x="374523" y="11572"/>
                  </a:lnTo>
                  <a:lnTo>
                    <a:pt x="409978" y="38784"/>
                  </a:lnTo>
                  <a:lnTo>
                    <a:pt x="432320" y="77492"/>
                  </a:lnTo>
                  <a:lnTo>
                    <a:pt x="438149" y="106794"/>
                  </a:lnTo>
                  <a:lnTo>
                    <a:pt x="438149" y="331354"/>
                  </a:lnTo>
                  <a:lnTo>
                    <a:pt x="426576" y="374523"/>
                  </a:lnTo>
                  <a:lnTo>
                    <a:pt x="399364" y="409979"/>
                  </a:lnTo>
                  <a:lnTo>
                    <a:pt x="360656" y="432321"/>
                  </a:lnTo>
                  <a:lnTo>
                    <a:pt x="338788" y="437417"/>
                  </a:lnTo>
                  <a:lnTo>
                    <a:pt x="331355" y="438149"/>
                  </a:lnTo>
                  <a:close/>
                </a:path>
              </a:pathLst>
            </a:custGeom>
            <a:solidFill>
              <a:srgbClr val="F59D0A">
                <a:alpha val="121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51374" y="2317749"/>
              <a:ext cx="222250" cy="212725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4530724" y="2600355"/>
            <a:ext cx="3057525" cy="1243965"/>
          </a:xfrm>
          <a:prstGeom prst="rect">
            <a:avLst/>
          </a:prstGeom>
        </p:spPr>
        <p:txBody>
          <a:bodyPr wrap="square" lIns="0" tIns="1206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dirty="0" sz="1450" spc="-25" b="1">
                <a:solidFill>
                  <a:srgbClr val="121725"/>
                </a:solidFill>
                <a:latin typeface="Arial"/>
                <a:cs typeface="Arial"/>
              </a:rPr>
              <a:t>Intérêt</a:t>
            </a:r>
            <a:r>
              <a:rPr dirty="0" sz="1450" spc="-13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450" spc="-50" b="1">
                <a:solidFill>
                  <a:srgbClr val="121725"/>
                </a:solidFill>
                <a:latin typeface="Arial"/>
                <a:cs typeface="Arial"/>
              </a:rPr>
              <a:t>du</a:t>
            </a:r>
            <a:r>
              <a:rPr dirty="0" sz="1450" spc="-90" b="1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121725"/>
                </a:solidFill>
                <a:latin typeface="Arial"/>
                <a:cs typeface="Arial"/>
              </a:rPr>
              <a:t>projet</a:t>
            </a:r>
            <a:endParaRPr sz="1450">
              <a:latin typeface="Arial"/>
              <a:cs typeface="Arial"/>
            </a:endParaRPr>
          </a:p>
          <a:p>
            <a:pPr marL="12700" marR="5080">
              <a:lnSpc>
                <a:spcPct val="112799"/>
              </a:lnSpc>
              <a:spcBef>
                <a:spcPts val="500"/>
              </a:spcBef>
            </a:pP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Un</a:t>
            </a:r>
            <a:r>
              <a:rPr dirty="0" sz="1100" spc="6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projet</a:t>
            </a:r>
            <a:r>
              <a:rPr dirty="0" sz="110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web</a:t>
            </a:r>
            <a:r>
              <a:rPr dirty="0" sz="1100" spc="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complet</a:t>
            </a:r>
            <a:r>
              <a:rPr dirty="0" sz="110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dirty="0" sz="110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soigné</a:t>
            </a:r>
            <a:r>
              <a:rPr dirty="0" sz="110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:</a:t>
            </a:r>
            <a:r>
              <a:rPr dirty="0" sz="1200" spc="7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design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moderne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200" spc="7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code</a:t>
            </a:r>
            <a:r>
              <a:rPr dirty="0" sz="110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propre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200" spc="7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accessibilité</a:t>
            </a:r>
            <a:r>
              <a:rPr dirty="0" sz="110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respectée</a:t>
            </a:r>
            <a:r>
              <a:rPr dirty="0" sz="1200" spc="-10">
                <a:solidFill>
                  <a:srgbClr val="5C6A81"/>
                </a:solidFill>
                <a:latin typeface="Microsoft Sans Serif"/>
                <a:cs typeface="Microsoft Sans Serif"/>
              </a:rPr>
              <a:t>.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Un</a:t>
            </a:r>
            <a:r>
              <a:rPr dirty="0" sz="1100" spc="7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excellent</a:t>
            </a:r>
            <a:r>
              <a:rPr dirty="0" sz="1100" spc="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cas</a:t>
            </a:r>
            <a:r>
              <a:rPr dirty="0" sz="1100" spc="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d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école</a:t>
            </a:r>
            <a:r>
              <a:rPr dirty="0" sz="1100" spc="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pour</a:t>
            </a:r>
            <a:r>
              <a:rPr dirty="0" sz="1100" spc="3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dirty="0" sz="1100" spc="3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développement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front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-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end</a:t>
            </a:r>
            <a:r>
              <a:rPr dirty="0" sz="1100" spc="22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statique</a:t>
            </a:r>
            <a:r>
              <a:rPr dirty="0" sz="120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543424" y="4086224"/>
            <a:ext cx="1724025" cy="238125"/>
          </a:xfrm>
          <a:custGeom>
            <a:avLst/>
            <a:gdLst/>
            <a:ahLst/>
            <a:cxnLst/>
            <a:rect l="l" t="t" r="r" b="b"/>
            <a:pathLst>
              <a:path w="1724025" h="238125">
                <a:moveTo>
                  <a:pt x="1612779" y="238124"/>
                </a:moveTo>
                <a:lnTo>
                  <a:pt x="111244" y="238124"/>
                </a:lnTo>
                <a:lnTo>
                  <a:pt x="103501" y="237362"/>
                </a:lnTo>
                <a:lnTo>
                  <a:pt x="66275" y="226069"/>
                </a:lnTo>
                <a:lnTo>
                  <a:pt x="29344" y="197724"/>
                </a:lnTo>
                <a:lnTo>
                  <a:pt x="6070" y="157402"/>
                </a:lnTo>
                <a:lnTo>
                  <a:pt x="0" y="126880"/>
                </a:lnTo>
                <a:lnTo>
                  <a:pt x="0" y="119062"/>
                </a:lnTo>
                <a:lnTo>
                  <a:pt x="0" y="111244"/>
                </a:lnTo>
                <a:lnTo>
                  <a:pt x="12054" y="66276"/>
                </a:lnTo>
                <a:lnTo>
                  <a:pt x="40400" y="29344"/>
                </a:lnTo>
                <a:lnTo>
                  <a:pt x="80720" y="6071"/>
                </a:lnTo>
                <a:lnTo>
                  <a:pt x="111244" y="0"/>
                </a:lnTo>
                <a:lnTo>
                  <a:pt x="1612779" y="0"/>
                </a:lnTo>
                <a:lnTo>
                  <a:pt x="1657747" y="12054"/>
                </a:lnTo>
                <a:lnTo>
                  <a:pt x="1694679" y="40400"/>
                </a:lnTo>
                <a:lnTo>
                  <a:pt x="1717953" y="80721"/>
                </a:lnTo>
                <a:lnTo>
                  <a:pt x="1724024" y="111244"/>
                </a:lnTo>
                <a:lnTo>
                  <a:pt x="1724024" y="126880"/>
                </a:lnTo>
                <a:lnTo>
                  <a:pt x="1711969" y="171847"/>
                </a:lnTo>
                <a:lnTo>
                  <a:pt x="1683623" y="208779"/>
                </a:lnTo>
                <a:lnTo>
                  <a:pt x="1643301" y="232053"/>
                </a:lnTo>
                <a:lnTo>
                  <a:pt x="1620522" y="237361"/>
                </a:lnTo>
                <a:lnTo>
                  <a:pt x="1612779" y="238124"/>
                </a:lnTo>
                <a:close/>
              </a:path>
            </a:pathLst>
          </a:custGeom>
          <a:solidFill>
            <a:srgbClr val="F59D0A">
              <a:alpha val="1411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625974" y="4104778"/>
            <a:ext cx="1557655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B46F08"/>
                </a:solidFill>
                <a:latin typeface="Arial"/>
                <a:cs typeface="Arial"/>
              </a:rPr>
              <a:t>CAS</a:t>
            </a:r>
            <a:r>
              <a:rPr dirty="0" sz="850" spc="30" b="1">
                <a:solidFill>
                  <a:srgbClr val="B46F08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B46F08"/>
                </a:solidFill>
                <a:latin typeface="Arial"/>
                <a:cs typeface="Arial"/>
              </a:rPr>
              <a:t>D</a:t>
            </a:r>
            <a:r>
              <a:rPr dirty="0" sz="950" b="1">
                <a:solidFill>
                  <a:srgbClr val="B46F08"/>
                </a:solidFill>
                <a:latin typeface="Arial"/>
                <a:cs typeface="Arial"/>
              </a:rPr>
              <a:t>'</a:t>
            </a:r>
            <a:r>
              <a:rPr dirty="0" sz="950" spc="-145" b="1">
                <a:solidFill>
                  <a:srgbClr val="B46F08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B46F08"/>
                </a:solidFill>
                <a:latin typeface="Arial"/>
                <a:cs typeface="Arial"/>
              </a:rPr>
              <a:t>ÉCOLE</a:t>
            </a:r>
            <a:r>
              <a:rPr dirty="0" sz="850" spc="50" b="1">
                <a:solidFill>
                  <a:srgbClr val="B46F0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B46F08"/>
                </a:solidFill>
                <a:latin typeface="Arial"/>
                <a:cs typeface="Arial"/>
              </a:rPr>
              <a:t>·</a:t>
            </a:r>
            <a:r>
              <a:rPr dirty="0" sz="950" spc="90" b="1">
                <a:solidFill>
                  <a:srgbClr val="B46F08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B46F08"/>
                </a:solidFill>
                <a:latin typeface="Arial"/>
                <a:cs typeface="Arial"/>
              </a:rPr>
              <a:t>FRONT</a:t>
            </a:r>
            <a:r>
              <a:rPr dirty="0" sz="950" b="1">
                <a:solidFill>
                  <a:srgbClr val="B46F08"/>
                </a:solidFill>
                <a:latin typeface="Arial"/>
                <a:cs typeface="Arial"/>
              </a:rPr>
              <a:t>-</a:t>
            </a:r>
            <a:r>
              <a:rPr dirty="0" sz="850" spc="-25" b="1">
                <a:solidFill>
                  <a:srgbClr val="B46F08"/>
                </a:solidFill>
                <a:latin typeface="Arial"/>
                <a:cs typeface="Arial"/>
              </a:rPr>
              <a:t>END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000999" y="2000250"/>
            <a:ext cx="3505200" cy="2505075"/>
            <a:chOff x="8000999" y="2000250"/>
            <a:chExt cx="3505200" cy="2505075"/>
          </a:xfrm>
        </p:grpSpPr>
        <p:sp>
          <p:nvSpPr>
            <p:cNvPr id="27" name="object 27"/>
            <p:cNvSpPr/>
            <p:nvPr/>
          </p:nvSpPr>
          <p:spPr>
            <a:xfrm>
              <a:off x="8005761" y="2019299"/>
              <a:ext cx="3495675" cy="2481580"/>
            </a:xfrm>
            <a:custGeom>
              <a:avLst/>
              <a:gdLst/>
              <a:ahLst/>
              <a:cxnLst/>
              <a:rect l="l" t="t" r="r" b="b"/>
              <a:pathLst>
                <a:path w="3495675" h="2481579">
                  <a:moveTo>
                    <a:pt x="3375530" y="2481262"/>
                  </a:moveTo>
                  <a:lnTo>
                    <a:pt x="120145" y="2481262"/>
                  </a:lnTo>
                  <a:lnTo>
                    <a:pt x="111782" y="2480438"/>
                  </a:lnTo>
                  <a:lnTo>
                    <a:pt x="71578" y="2468242"/>
                  </a:lnTo>
                  <a:lnTo>
                    <a:pt x="31691" y="2437628"/>
                  </a:lnTo>
                  <a:lnTo>
                    <a:pt x="6556" y="2394082"/>
                  </a:lnTo>
                  <a:lnTo>
                    <a:pt x="0" y="2361117"/>
                  </a:lnTo>
                  <a:lnTo>
                    <a:pt x="0" y="2352674"/>
                  </a:lnTo>
                  <a:lnTo>
                    <a:pt x="0" y="106794"/>
                  </a:lnTo>
                  <a:lnTo>
                    <a:pt x="13018" y="63625"/>
                  </a:lnTo>
                  <a:lnTo>
                    <a:pt x="43632" y="28170"/>
                  </a:lnTo>
                  <a:lnTo>
                    <a:pt x="87179" y="5828"/>
                  </a:lnTo>
                  <a:lnTo>
                    <a:pt x="120145" y="0"/>
                  </a:lnTo>
                  <a:lnTo>
                    <a:pt x="3375530" y="0"/>
                  </a:lnTo>
                  <a:lnTo>
                    <a:pt x="3424094" y="11572"/>
                  </a:lnTo>
                  <a:lnTo>
                    <a:pt x="3463981" y="38784"/>
                  </a:lnTo>
                  <a:lnTo>
                    <a:pt x="3489116" y="77492"/>
                  </a:lnTo>
                  <a:lnTo>
                    <a:pt x="3495674" y="106794"/>
                  </a:lnTo>
                  <a:lnTo>
                    <a:pt x="3495674" y="2361117"/>
                  </a:lnTo>
                  <a:lnTo>
                    <a:pt x="3482653" y="2409682"/>
                  </a:lnTo>
                  <a:lnTo>
                    <a:pt x="3452041" y="2449569"/>
                  </a:lnTo>
                  <a:lnTo>
                    <a:pt x="3408494" y="2474704"/>
                  </a:lnTo>
                  <a:lnTo>
                    <a:pt x="3383892" y="2480438"/>
                  </a:lnTo>
                  <a:lnTo>
                    <a:pt x="3375530" y="2481262"/>
                  </a:lnTo>
                  <a:close/>
                </a:path>
              </a:pathLst>
            </a:custGeom>
            <a:solidFill>
              <a:srgbClr val="ECF2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8018063" y="2000250"/>
              <a:ext cx="3471545" cy="90805"/>
            </a:xfrm>
            <a:custGeom>
              <a:avLst/>
              <a:gdLst/>
              <a:ahLst/>
              <a:cxnLst/>
              <a:rect l="l" t="t" r="r" b="b"/>
              <a:pathLst>
                <a:path w="3471545" h="90805">
                  <a:moveTo>
                    <a:pt x="5634" y="90790"/>
                  </a:moveTo>
                  <a:lnTo>
                    <a:pt x="0" y="68252"/>
                  </a:lnTo>
                  <a:lnTo>
                    <a:pt x="5388" y="59250"/>
                  </a:lnTo>
                  <a:lnTo>
                    <a:pt x="13153" y="48794"/>
                  </a:lnTo>
                  <a:lnTo>
                    <a:pt x="42186" y="22452"/>
                  </a:lnTo>
                  <a:lnTo>
                    <a:pt x="77634" y="5709"/>
                  </a:lnTo>
                  <a:lnTo>
                    <a:pt x="116286" y="0"/>
                  </a:lnTo>
                  <a:lnTo>
                    <a:pt x="3354786" y="0"/>
                  </a:lnTo>
                  <a:lnTo>
                    <a:pt x="3393436" y="5709"/>
                  </a:lnTo>
                  <a:lnTo>
                    <a:pt x="3428884" y="22452"/>
                  </a:lnTo>
                  <a:lnTo>
                    <a:pt x="3448024" y="38099"/>
                  </a:lnTo>
                  <a:lnTo>
                    <a:pt x="116286" y="38099"/>
                  </a:lnTo>
                  <a:lnTo>
                    <a:pt x="104088" y="38553"/>
                  </a:lnTo>
                  <a:lnTo>
                    <a:pt x="57856" y="49359"/>
                  </a:lnTo>
                  <a:lnTo>
                    <a:pt x="20520" y="72953"/>
                  </a:lnTo>
                  <a:lnTo>
                    <a:pt x="7099" y="88403"/>
                  </a:lnTo>
                  <a:lnTo>
                    <a:pt x="5634" y="90790"/>
                  </a:lnTo>
                  <a:close/>
                </a:path>
                <a:path w="3471545" h="90805">
                  <a:moveTo>
                    <a:pt x="3465438" y="90790"/>
                  </a:moveTo>
                  <a:lnTo>
                    <a:pt x="3433300" y="59683"/>
                  </a:lnTo>
                  <a:lnTo>
                    <a:pt x="3390676" y="42178"/>
                  </a:lnTo>
                  <a:lnTo>
                    <a:pt x="3354786" y="38099"/>
                  </a:lnTo>
                  <a:lnTo>
                    <a:pt x="3448024" y="38099"/>
                  </a:lnTo>
                  <a:lnTo>
                    <a:pt x="3449078" y="39057"/>
                  </a:lnTo>
                  <a:lnTo>
                    <a:pt x="3457918" y="48794"/>
                  </a:lnTo>
                  <a:lnTo>
                    <a:pt x="3465683" y="59250"/>
                  </a:lnTo>
                  <a:lnTo>
                    <a:pt x="3471071" y="68252"/>
                  </a:lnTo>
                  <a:lnTo>
                    <a:pt x="3465438" y="90790"/>
                  </a:lnTo>
                  <a:close/>
                </a:path>
              </a:pathLst>
            </a:custGeom>
            <a:solidFill>
              <a:srgbClr val="0E9E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000987" y="2068232"/>
              <a:ext cx="3505200" cy="2437130"/>
            </a:xfrm>
            <a:custGeom>
              <a:avLst/>
              <a:gdLst/>
              <a:ahLst/>
              <a:cxnLst/>
              <a:rect l="l" t="t" r="r" b="b"/>
              <a:pathLst>
                <a:path w="3505200" h="2437129">
                  <a:moveTo>
                    <a:pt x="3505200" y="65379"/>
                  </a:moveTo>
                  <a:lnTo>
                    <a:pt x="3499497" y="26720"/>
                  </a:lnTo>
                  <a:lnTo>
                    <a:pt x="3487978" y="0"/>
                  </a:lnTo>
                  <a:lnTo>
                    <a:pt x="3482340" y="22542"/>
                  </a:lnTo>
                  <a:lnTo>
                    <a:pt x="3486251" y="28917"/>
                  </a:lnTo>
                  <a:lnTo>
                    <a:pt x="3490379" y="37769"/>
                  </a:lnTo>
                  <a:lnTo>
                    <a:pt x="3493325" y="46786"/>
                  </a:lnTo>
                  <a:lnTo>
                    <a:pt x="3495090" y="55994"/>
                  </a:lnTo>
                  <a:lnTo>
                    <a:pt x="3495675" y="65379"/>
                  </a:lnTo>
                  <a:lnTo>
                    <a:pt x="3495675" y="2303754"/>
                  </a:lnTo>
                  <a:lnTo>
                    <a:pt x="3486251" y="2351138"/>
                  </a:lnTo>
                  <a:lnTo>
                    <a:pt x="3458908" y="2391753"/>
                  </a:lnTo>
                  <a:lnTo>
                    <a:pt x="3419233" y="2418143"/>
                  </a:lnTo>
                  <a:lnTo>
                    <a:pt x="3384308" y="2426944"/>
                  </a:lnTo>
                  <a:lnTo>
                    <a:pt x="3384829" y="2426944"/>
                  </a:lnTo>
                  <a:lnTo>
                    <a:pt x="3371850" y="2427579"/>
                  </a:lnTo>
                  <a:lnTo>
                    <a:pt x="133350" y="2427579"/>
                  </a:lnTo>
                  <a:lnTo>
                    <a:pt x="120383" y="2426944"/>
                  </a:lnTo>
                  <a:lnTo>
                    <a:pt x="120904" y="2426944"/>
                  </a:lnTo>
                  <a:lnTo>
                    <a:pt x="109194" y="2425217"/>
                  </a:lnTo>
                  <a:lnTo>
                    <a:pt x="64554" y="2406726"/>
                  </a:lnTo>
                  <a:lnTo>
                    <a:pt x="46278" y="2391765"/>
                  </a:lnTo>
                  <a:lnTo>
                    <a:pt x="37592" y="2382266"/>
                  </a:lnTo>
                  <a:lnTo>
                    <a:pt x="14833" y="2339644"/>
                  </a:lnTo>
                  <a:lnTo>
                    <a:pt x="9525" y="2303754"/>
                  </a:lnTo>
                  <a:lnTo>
                    <a:pt x="9525" y="65379"/>
                  </a:lnTo>
                  <a:lnTo>
                    <a:pt x="22872" y="22542"/>
                  </a:lnTo>
                  <a:lnTo>
                    <a:pt x="17233" y="0"/>
                  </a:lnTo>
                  <a:lnTo>
                    <a:pt x="2540" y="39357"/>
                  </a:lnTo>
                  <a:lnTo>
                    <a:pt x="0" y="65379"/>
                  </a:lnTo>
                  <a:lnTo>
                    <a:pt x="0" y="2303754"/>
                  </a:lnTo>
                  <a:lnTo>
                    <a:pt x="5715" y="2342400"/>
                  </a:lnTo>
                  <a:lnTo>
                    <a:pt x="22453" y="2377846"/>
                  </a:lnTo>
                  <a:lnTo>
                    <a:pt x="39103" y="2398001"/>
                  </a:lnTo>
                  <a:lnTo>
                    <a:pt x="39509" y="2398458"/>
                  </a:lnTo>
                  <a:lnTo>
                    <a:pt x="48806" y="2406878"/>
                  </a:lnTo>
                  <a:lnTo>
                    <a:pt x="82321" y="2426944"/>
                  </a:lnTo>
                  <a:lnTo>
                    <a:pt x="120218" y="2436469"/>
                  </a:lnTo>
                  <a:lnTo>
                    <a:pt x="133350" y="2437104"/>
                  </a:lnTo>
                  <a:lnTo>
                    <a:pt x="3371850" y="2437104"/>
                  </a:lnTo>
                  <a:lnTo>
                    <a:pt x="3410508" y="2431389"/>
                  </a:lnTo>
                  <a:lnTo>
                    <a:pt x="3445954" y="2414651"/>
                  </a:lnTo>
                  <a:lnTo>
                    <a:pt x="3465639" y="2398496"/>
                  </a:lnTo>
                  <a:lnTo>
                    <a:pt x="3466147" y="2398039"/>
                  </a:lnTo>
                  <a:lnTo>
                    <a:pt x="3489439" y="2366670"/>
                  </a:lnTo>
                  <a:lnTo>
                    <a:pt x="3502672" y="2329764"/>
                  </a:lnTo>
                  <a:lnTo>
                    <a:pt x="3505200" y="2303754"/>
                  </a:lnTo>
                  <a:lnTo>
                    <a:pt x="3505200" y="65379"/>
                  </a:lnTo>
                  <a:close/>
                </a:path>
              </a:pathLst>
            </a:custGeom>
            <a:solidFill>
              <a:srgbClr val="E4E8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201024" y="2209799"/>
              <a:ext cx="438150" cy="438150"/>
            </a:xfrm>
            <a:custGeom>
              <a:avLst/>
              <a:gdLst/>
              <a:ahLst/>
              <a:cxnLst/>
              <a:rect l="l" t="t" r="r" b="b"/>
              <a:pathLst>
                <a:path w="438150" h="438150">
                  <a:moveTo>
                    <a:pt x="331355" y="438149"/>
                  </a:moveTo>
                  <a:lnTo>
                    <a:pt x="106795" y="438149"/>
                  </a:lnTo>
                  <a:lnTo>
                    <a:pt x="99361" y="437417"/>
                  </a:lnTo>
                  <a:lnTo>
                    <a:pt x="57037" y="423056"/>
                  </a:lnTo>
                  <a:lnTo>
                    <a:pt x="23432" y="393591"/>
                  </a:lnTo>
                  <a:lnTo>
                    <a:pt x="3660" y="353509"/>
                  </a:lnTo>
                  <a:lnTo>
                    <a:pt x="0" y="331354"/>
                  </a:lnTo>
                  <a:lnTo>
                    <a:pt x="0" y="323849"/>
                  </a:lnTo>
                  <a:lnTo>
                    <a:pt x="0" y="106794"/>
                  </a:lnTo>
                  <a:lnTo>
                    <a:pt x="11571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5" y="0"/>
                  </a:lnTo>
                  <a:lnTo>
                    <a:pt x="331355" y="0"/>
                  </a:lnTo>
                  <a:lnTo>
                    <a:pt x="374524" y="11572"/>
                  </a:lnTo>
                  <a:lnTo>
                    <a:pt x="409978" y="38784"/>
                  </a:lnTo>
                  <a:lnTo>
                    <a:pt x="432321" y="77492"/>
                  </a:lnTo>
                  <a:lnTo>
                    <a:pt x="438150" y="106794"/>
                  </a:lnTo>
                  <a:lnTo>
                    <a:pt x="438150" y="331354"/>
                  </a:lnTo>
                  <a:lnTo>
                    <a:pt x="426576" y="374523"/>
                  </a:lnTo>
                  <a:lnTo>
                    <a:pt x="399365" y="409979"/>
                  </a:lnTo>
                  <a:lnTo>
                    <a:pt x="360656" y="432321"/>
                  </a:lnTo>
                  <a:lnTo>
                    <a:pt x="338788" y="437417"/>
                  </a:lnTo>
                  <a:lnTo>
                    <a:pt x="331355" y="438149"/>
                  </a:lnTo>
                  <a:close/>
                </a:path>
              </a:pathLst>
            </a:custGeom>
            <a:solidFill>
              <a:srgbClr val="0E9E6E">
                <a:alpha val="121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08974" y="2362199"/>
              <a:ext cx="222250" cy="13335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8188324" y="2600355"/>
            <a:ext cx="3073400" cy="1243965"/>
          </a:xfrm>
          <a:prstGeom prst="rect">
            <a:avLst/>
          </a:prstGeom>
        </p:spPr>
        <p:txBody>
          <a:bodyPr wrap="square" lIns="0" tIns="1206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dirty="0" sz="1450" spc="-10" b="1">
                <a:solidFill>
                  <a:srgbClr val="121725"/>
                </a:solidFill>
                <a:latin typeface="Arial"/>
                <a:cs typeface="Arial"/>
              </a:rPr>
              <a:t>Perspectives</a:t>
            </a:r>
            <a:endParaRPr sz="1450">
              <a:latin typeface="Arial"/>
              <a:cs typeface="Arial"/>
            </a:endParaRPr>
          </a:p>
          <a:p>
            <a:pPr marL="12700" marR="5080">
              <a:lnSpc>
                <a:spcPct val="112799"/>
              </a:lnSpc>
              <a:spcBef>
                <a:spcPts val="500"/>
              </a:spcBef>
            </a:pPr>
            <a:r>
              <a:rPr dirty="0" sz="1100" spc="-30">
                <a:solidFill>
                  <a:srgbClr val="5C6A81"/>
                </a:solidFill>
                <a:latin typeface="Microsoft Sans Serif"/>
                <a:cs typeface="Microsoft Sans Serif"/>
              </a:rPr>
              <a:t>En</a:t>
            </a:r>
            <a:r>
              <a:rPr dirty="0" sz="1100" spc="5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ajoutant un</a:t>
            </a:r>
            <a:r>
              <a:rPr dirty="0" sz="1100" spc="5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backend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200" spc="6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une</a:t>
            </a:r>
            <a:r>
              <a:rPr dirty="0" sz="1100" spc="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authentification</a:t>
            </a:r>
            <a:r>
              <a:rPr dirty="0" sz="1100" spc="5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5">
                <a:solidFill>
                  <a:srgbClr val="5C6A81"/>
                </a:solidFill>
                <a:latin typeface="Microsoft Sans Serif"/>
                <a:cs typeface="Microsoft Sans Serif"/>
              </a:rPr>
              <a:t>et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un</a:t>
            </a:r>
            <a:r>
              <a:rPr dirty="0" sz="1100" spc="5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paiement</a:t>
            </a:r>
            <a:r>
              <a:rPr dirty="0" sz="1100" spc="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réel</a:t>
            </a:r>
            <a:r>
              <a:rPr dirty="0" sz="120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dirty="0" sz="1200" spc="7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AfriTalent</a:t>
            </a:r>
            <a:r>
              <a:rPr dirty="0" sz="1100" spc="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pourrait</a:t>
            </a:r>
            <a:r>
              <a:rPr dirty="0" sz="1100" spc="1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devenir</a:t>
            </a:r>
            <a:r>
              <a:rPr dirty="0" sz="1100" spc="1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25">
                <a:solidFill>
                  <a:srgbClr val="5C6A81"/>
                </a:solidFill>
                <a:latin typeface="Microsoft Sans Serif"/>
                <a:cs typeface="Microsoft Sans Serif"/>
              </a:rPr>
              <a:t>une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vraie</a:t>
            </a:r>
            <a:r>
              <a:rPr dirty="0" sz="1100" spc="4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marketplace</a:t>
            </a:r>
            <a:r>
              <a:rPr dirty="0" sz="1100" spc="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fonctionnelle</a:t>
            </a:r>
            <a:r>
              <a:rPr dirty="0" sz="1100" spc="4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5C6A81"/>
                </a:solidFill>
                <a:latin typeface="Microsoft Sans Serif"/>
                <a:cs typeface="Microsoft Sans Serif"/>
              </a:rPr>
              <a:t>à</a:t>
            </a:r>
            <a:r>
              <a:rPr dirty="0" sz="1100" spc="85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l</a:t>
            </a:r>
            <a:r>
              <a:rPr dirty="0" sz="1200" spc="-1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dirty="0" sz="1100" spc="-10">
                <a:solidFill>
                  <a:srgbClr val="5C6A81"/>
                </a:solidFill>
                <a:latin typeface="Microsoft Sans Serif"/>
                <a:cs typeface="Microsoft Sans Serif"/>
              </a:rPr>
              <a:t>échelle panafricaine</a:t>
            </a:r>
            <a:r>
              <a:rPr dirty="0" sz="1200" spc="-1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201023" y="4086224"/>
            <a:ext cx="2009775" cy="238125"/>
          </a:xfrm>
          <a:custGeom>
            <a:avLst/>
            <a:gdLst/>
            <a:ahLst/>
            <a:cxnLst/>
            <a:rect l="l" t="t" r="r" b="b"/>
            <a:pathLst>
              <a:path w="2009775" h="238125">
                <a:moveTo>
                  <a:pt x="1898529" y="238124"/>
                </a:moveTo>
                <a:lnTo>
                  <a:pt x="111244" y="238124"/>
                </a:lnTo>
                <a:lnTo>
                  <a:pt x="103501" y="237362"/>
                </a:lnTo>
                <a:lnTo>
                  <a:pt x="66276" y="226069"/>
                </a:lnTo>
                <a:lnTo>
                  <a:pt x="29344" y="197724"/>
                </a:lnTo>
                <a:lnTo>
                  <a:pt x="6071" y="157402"/>
                </a:lnTo>
                <a:lnTo>
                  <a:pt x="0" y="126880"/>
                </a:lnTo>
                <a:lnTo>
                  <a:pt x="0" y="119062"/>
                </a:lnTo>
                <a:lnTo>
                  <a:pt x="0" y="111244"/>
                </a:lnTo>
                <a:lnTo>
                  <a:pt x="12054" y="66276"/>
                </a:lnTo>
                <a:lnTo>
                  <a:pt x="40399" y="29344"/>
                </a:lnTo>
                <a:lnTo>
                  <a:pt x="80720" y="6071"/>
                </a:lnTo>
                <a:lnTo>
                  <a:pt x="111244" y="0"/>
                </a:lnTo>
                <a:lnTo>
                  <a:pt x="1898529" y="0"/>
                </a:lnTo>
                <a:lnTo>
                  <a:pt x="1943498" y="12054"/>
                </a:lnTo>
                <a:lnTo>
                  <a:pt x="1980429" y="40400"/>
                </a:lnTo>
                <a:lnTo>
                  <a:pt x="2003702" y="80721"/>
                </a:lnTo>
                <a:lnTo>
                  <a:pt x="2009775" y="111244"/>
                </a:lnTo>
                <a:lnTo>
                  <a:pt x="2009775" y="126880"/>
                </a:lnTo>
                <a:lnTo>
                  <a:pt x="1997719" y="171847"/>
                </a:lnTo>
                <a:lnTo>
                  <a:pt x="1969373" y="208779"/>
                </a:lnTo>
                <a:lnTo>
                  <a:pt x="1929052" y="232053"/>
                </a:lnTo>
                <a:lnTo>
                  <a:pt x="1906272" y="237361"/>
                </a:lnTo>
                <a:lnTo>
                  <a:pt x="1898529" y="238124"/>
                </a:lnTo>
                <a:close/>
              </a:path>
            </a:pathLst>
          </a:custGeom>
          <a:solidFill>
            <a:srgbClr val="0E9E6E">
              <a:alpha val="1411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8283574" y="4104778"/>
            <a:ext cx="1836420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E9E6E"/>
                </a:solidFill>
                <a:latin typeface="Arial"/>
                <a:cs typeface="Arial"/>
              </a:rPr>
              <a:t>MARKETPLACE</a:t>
            </a:r>
            <a:r>
              <a:rPr dirty="0" sz="850" spc="75" b="1">
                <a:solidFill>
                  <a:srgbClr val="0E9E6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E9E6E"/>
                </a:solidFill>
                <a:latin typeface="Arial"/>
                <a:cs typeface="Arial"/>
              </a:rPr>
              <a:t>·</a:t>
            </a:r>
            <a:r>
              <a:rPr dirty="0" sz="950" spc="120" b="1">
                <a:solidFill>
                  <a:srgbClr val="0E9E6E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E9E6E"/>
                </a:solidFill>
                <a:latin typeface="Arial"/>
                <a:cs typeface="Arial"/>
              </a:rPr>
              <a:t>PANAFRICAINE</a:t>
            </a:r>
            <a:endParaRPr sz="850">
              <a:latin typeface="Arial"/>
              <a:cs typeface="Arial"/>
            </a:endParaRPr>
          </a:p>
        </p:txBody>
      </p:sp>
      <p:pic>
        <p:nvPicPr>
          <p:cNvPr id="35" name="object 3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5799" y="533400"/>
            <a:ext cx="266699" cy="266699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753318" y="534987"/>
            <a:ext cx="2249805" cy="23685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4005" algn="l"/>
              </a:tabLst>
            </a:pPr>
            <a:r>
              <a:rPr dirty="0" sz="1100" spc="3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300" spc="-20" b="1">
                <a:solidFill>
                  <a:srgbClr val="2453D5"/>
                </a:solidFill>
                <a:latin typeface="Arial"/>
                <a:cs typeface="Arial"/>
              </a:rPr>
              <a:t>AfriTalent</a:t>
            </a:r>
            <a:r>
              <a:rPr dirty="0" sz="1300" spc="-8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350" spc="-50" b="1">
                <a:solidFill>
                  <a:srgbClr val="2453D5"/>
                </a:solidFill>
                <a:latin typeface="Arial"/>
                <a:cs typeface="Arial"/>
              </a:rPr>
              <a:t>—</a:t>
            </a:r>
            <a:r>
              <a:rPr dirty="0" sz="1350" spc="-210" b="1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dirty="0" sz="1300" spc="-25" b="1">
                <a:solidFill>
                  <a:srgbClr val="2453D5"/>
                </a:solidFill>
                <a:latin typeface="Arial"/>
                <a:cs typeface="Arial"/>
              </a:rPr>
              <a:t>Présentation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37" name="object 3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7249" y="552449"/>
            <a:ext cx="76199" cy="76199"/>
          </a:xfrm>
          <a:prstGeom prst="rect">
            <a:avLst/>
          </a:prstGeom>
        </p:spPr>
      </p:pic>
      <p:grpSp>
        <p:nvGrpSpPr>
          <p:cNvPr id="38" name="object 38"/>
          <p:cNvGrpSpPr/>
          <p:nvPr/>
        </p:nvGrpSpPr>
        <p:grpSpPr>
          <a:xfrm>
            <a:off x="365759" y="4413503"/>
            <a:ext cx="11460480" cy="2268220"/>
            <a:chOff x="365759" y="4413503"/>
            <a:chExt cx="11460480" cy="2268220"/>
          </a:xfrm>
        </p:grpSpPr>
        <p:sp>
          <p:nvSpPr>
            <p:cNvPr id="39" name="object 39"/>
            <p:cNvSpPr/>
            <p:nvPr/>
          </p:nvSpPr>
          <p:spPr>
            <a:xfrm>
              <a:off x="365759" y="4413503"/>
              <a:ext cx="11460480" cy="2268220"/>
            </a:xfrm>
            <a:custGeom>
              <a:avLst/>
              <a:gdLst/>
              <a:ahLst/>
              <a:cxnLst/>
              <a:rect l="l" t="t" r="r" b="b"/>
              <a:pathLst>
                <a:path w="11460480" h="2268220">
                  <a:moveTo>
                    <a:pt x="11460479" y="2267711"/>
                  </a:moveTo>
                  <a:lnTo>
                    <a:pt x="0" y="2267711"/>
                  </a:lnTo>
                  <a:lnTo>
                    <a:pt x="0" y="0"/>
                  </a:lnTo>
                  <a:lnTo>
                    <a:pt x="11460479" y="0"/>
                  </a:lnTo>
                  <a:lnTo>
                    <a:pt x="11460479" y="244220"/>
                  </a:lnTo>
                  <a:lnTo>
                    <a:pt x="472439" y="244220"/>
                  </a:lnTo>
                  <a:lnTo>
                    <a:pt x="457427" y="244946"/>
                  </a:lnTo>
                  <a:lnTo>
                    <a:pt x="414118" y="255821"/>
                  </a:lnTo>
                  <a:lnTo>
                    <a:pt x="375805" y="278754"/>
                  </a:lnTo>
                  <a:lnTo>
                    <a:pt x="345700" y="311935"/>
                  </a:lnTo>
                  <a:lnTo>
                    <a:pt x="326565" y="352447"/>
                  </a:lnTo>
                  <a:lnTo>
                    <a:pt x="320039" y="396620"/>
                  </a:lnTo>
                  <a:lnTo>
                    <a:pt x="320039" y="1720595"/>
                  </a:lnTo>
                  <a:lnTo>
                    <a:pt x="326565" y="1764768"/>
                  </a:lnTo>
                  <a:lnTo>
                    <a:pt x="345700" y="1805279"/>
                  </a:lnTo>
                  <a:lnTo>
                    <a:pt x="375805" y="1838461"/>
                  </a:lnTo>
                  <a:lnTo>
                    <a:pt x="414120" y="1861394"/>
                  </a:lnTo>
                  <a:lnTo>
                    <a:pt x="457429" y="1872270"/>
                  </a:lnTo>
                  <a:lnTo>
                    <a:pt x="472439" y="1872995"/>
                  </a:lnTo>
                  <a:lnTo>
                    <a:pt x="11460479" y="1872995"/>
                  </a:lnTo>
                  <a:lnTo>
                    <a:pt x="11460479" y="2267711"/>
                  </a:lnTo>
                  <a:close/>
                </a:path>
                <a:path w="11460480" h="2268220">
                  <a:moveTo>
                    <a:pt x="11460479" y="1872995"/>
                  </a:moveTo>
                  <a:lnTo>
                    <a:pt x="10988039" y="1872995"/>
                  </a:lnTo>
                  <a:lnTo>
                    <a:pt x="11003052" y="1872270"/>
                  </a:lnTo>
                  <a:lnTo>
                    <a:pt x="11017776" y="1870095"/>
                  </a:lnTo>
                  <a:lnTo>
                    <a:pt x="11059952" y="1854979"/>
                  </a:lnTo>
                  <a:lnTo>
                    <a:pt x="11095802" y="1828358"/>
                  </a:lnTo>
                  <a:lnTo>
                    <a:pt x="11122422" y="1792508"/>
                  </a:lnTo>
                  <a:lnTo>
                    <a:pt x="11137538" y="1750332"/>
                  </a:lnTo>
                  <a:lnTo>
                    <a:pt x="11140439" y="1720595"/>
                  </a:lnTo>
                  <a:lnTo>
                    <a:pt x="11140439" y="396620"/>
                  </a:lnTo>
                  <a:lnTo>
                    <a:pt x="11133913" y="352447"/>
                  </a:lnTo>
                  <a:lnTo>
                    <a:pt x="11114777" y="311935"/>
                  </a:lnTo>
                  <a:lnTo>
                    <a:pt x="11084673" y="278754"/>
                  </a:lnTo>
                  <a:lnTo>
                    <a:pt x="11046359" y="255821"/>
                  </a:lnTo>
                  <a:lnTo>
                    <a:pt x="11003052" y="244946"/>
                  </a:lnTo>
                  <a:lnTo>
                    <a:pt x="10988039" y="244220"/>
                  </a:lnTo>
                  <a:lnTo>
                    <a:pt x="11460479" y="244220"/>
                  </a:lnTo>
                  <a:lnTo>
                    <a:pt x="11460479" y="1872995"/>
                  </a:lnTo>
                  <a:close/>
                </a:path>
              </a:pathLst>
            </a:custGeom>
            <a:solidFill>
              <a:srgbClr val="2453D5">
                <a:alpha val="180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5799" y="4657724"/>
              <a:ext cx="10820399" cy="162877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942575" y="4657724"/>
              <a:ext cx="1563623" cy="156324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5799" y="5007863"/>
              <a:ext cx="1469135" cy="127863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38216" y="5632449"/>
              <a:ext cx="158750" cy="149225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1346844" y="4872434"/>
            <a:ext cx="9486265" cy="11950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2700" marR="5080" indent="14604">
              <a:lnSpc>
                <a:spcPct val="106600"/>
              </a:lnSpc>
            </a:pPr>
            <a:r>
              <a:rPr dirty="0" sz="1650" spc="-55" b="1">
                <a:solidFill>
                  <a:srgbClr val="FFFFFF"/>
                </a:solidFill>
                <a:latin typeface="Arial"/>
                <a:cs typeface="Arial"/>
              </a:rPr>
              <a:t>AfriTalent</a:t>
            </a:r>
            <a:r>
              <a:rPr dirty="0" sz="1650" spc="-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70" b="1">
                <a:solidFill>
                  <a:srgbClr val="FFFFFF"/>
                </a:solidFill>
                <a:latin typeface="Arial"/>
                <a:cs typeface="Arial"/>
              </a:rPr>
              <a:t>démontre</a:t>
            </a:r>
            <a:r>
              <a:rPr dirty="0" sz="1650" spc="-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45" b="1">
                <a:solidFill>
                  <a:srgbClr val="FFFFFF"/>
                </a:solidFill>
                <a:latin typeface="Arial"/>
                <a:cs typeface="Arial"/>
              </a:rPr>
              <a:t>qu</a:t>
            </a:r>
            <a:r>
              <a:rPr dirty="0" sz="1700" spc="-45" b="1">
                <a:solidFill>
                  <a:srgbClr val="FFFFFF"/>
                </a:solidFill>
                <a:latin typeface="Sitka Display"/>
                <a:cs typeface="Sitka Display"/>
              </a:rPr>
              <a:t>'</a:t>
            </a:r>
            <a:r>
              <a:rPr dirty="0" sz="1650" spc="-45" b="1">
                <a:solidFill>
                  <a:srgbClr val="FFFFFF"/>
                </a:solidFill>
                <a:latin typeface="Arial"/>
                <a:cs typeface="Arial"/>
              </a:rPr>
              <a:t>avec</a:t>
            </a:r>
            <a:r>
              <a:rPr dirty="0" sz="1650" spc="-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55" b="1">
                <a:solidFill>
                  <a:srgbClr val="FABE24"/>
                </a:solidFill>
                <a:latin typeface="Arial"/>
                <a:cs typeface="Arial"/>
              </a:rPr>
              <a:t>HTML</a:t>
            </a:r>
            <a:r>
              <a:rPr dirty="0" sz="1700" spc="-55" b="1">
                <a:solidFill>
                  <a:srgbClr val="FABE24"/>
                </a:solidFill>
                <a:latin typeface="Sitka Display"/>
                <a:cs typeface="Sitka Display"/>
              </a:rPr>
              <a:t>,</a:t>
            </a:r>
            <a:r>
              <a:rPr dirty="0" sz="1700" spc="45" b="1">
                <a:solidFill>
                  <a:srgbClr val="FABE24"/>
                </a:solidFill>
                <a:latin typeface="Sitka Display"/>
                <a:cs typeface="Sitka Display"/>
              </a:rPr>
              <a:t> </a:t>
            </a:r>
            <a:r>
              <a:rPr dirty="0" sz="1650" spc="-100" b="1">
                <a:solidFill>
                  <a:srgbClr val="FABE24"/>
                </a:solidFill>
                <a:latin typeface="Arial"/>
                <a:cs typeface="Arial"/>
              </a:rPr>
              <a:t>CSS</a:t>
            </a:r>
            <a:r>
              <a:rPr dirty="0" sz="1700" spc="-100" b="1">
                <a:solidFill>
                  <a:srgbClr val="FABE24"/>
                </a:solidFill>
                <a:latin typeface="Sitka Display"/>
                <a:cs typeface="Sitka Display"/>
              </a:rPr>
              <a:t>,</a:t>
            </a:r>
            <a:r>
              <a:rPr dirty="0" sz="1700" spc="45" b="1">
                <a:solidFill>
                  <a:srgbClr val="FABE24"/>
                </a:solidFill>
                <a:latin typeface="Sitka Display"/>
                <a:cs typeface="Sitka Display"/>
              </a:rPr>
              <a:t> </a:t>
            </a:r>
            <a:r>
              <a:rPr dirty="0" sz="1650" spc="-60" b="1">
                <a:solidFill>
                  <a:srgbClr val="FABE24"/>
                </a:solidFill>
                <a:latin typeface="Arial"/>
                <a:cs typeface="Arial"/>
              </a:rPr>
              <a:t>JavaScript</a:t>
            </a:r>
            <a:r>
              <a:rPr dirty="0" sz="1650" spc="-95" b="1">
                <a:solidFill>
                  <a:srgbClr val="FABE24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FFFFFF"/>
                </a:solidFill>
                <a:latin typeface="Arial"/>
                <a:cs typeface="Arial"/>
              </a:rPr>
              <a:t>et</a:t>
            </a:r>
            <a:r>
              <a:rPr dirty="0" sz="165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75" b="1">
                <a:solidFill>
                  <a:srgbClr val="FABE24"/>
                </a:solidFill>
                <a:latin typeface="Arial"/>
                <a:cs typeface="Arial"/>
              </a:rPr>
              <a:t>GitHub</a:t>
            </a:r>
            <a:r>
              <a:rPr dirty="0" sz="1650" spc="-90" b="1">
                <a:solidFill>
                  <a:srgbClr val="FABE24"/>
                </a:solidFill>
                <a:latin typeface="Arial"/>
                <a:cs typeface="Arial"/>
              </a:rPr>
              <a:t> </a:t>
            </a:r>
            <a:r>
              <a:rPr dirty="0" sz="1650" spc="-75" b="1">
                <a:solidFill>
                  <a:srgbClr val="FABE24"/>
                </a:solidFill>
                <a:latin typeface="Arial"/>
                <a:cs typeface="Arial"/>
              </a:rPr>
              <a:t>Pages</a:t>
            </a:r>
            <a:r>
              <a:rPr dirty="0" sz="1700" spc="-75" b="1">
                <a:solidFill>
                  <a:srgbClr val="FFFFFF"/>
                </a:solidFill>
                <a:latin typeface="Sitka Display"/>
                <a:cs typeface="Sitka Display"/>
              </a:rPr>
              <a:t>,</a:t>
            </a:r>
            <a:r>
              <a:rPr dirty="0" sz="1700" spc="45" b="1">
                <a:solidFill>
                  <a:srgbClr val="FFFFFF"/>
                </a:solidFill>
                <a:latin typeface="Sitka Display"/>
                <a:cs typeface="Sitka Display"/>
              </a:rPr>
              <a:t> </a:t>
            </a:r>
            <a:r>
              <a:rPr dirty="0" sz="1650" spc="-100" b="1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dirty="0" sz="1650" spc="-45" b="1">
                <a:solidFill>
                  <a:srgbClr val="FFFFFF"/>
                </a:solidFill>
                <a:latin typeface="Arial"/>
                <a:cs typeface="Arial"/>
              </a:rPr>
              <a:t> peut</a:t>
            </a:r>
            <a:r>
              <a:rPr dirty="0" sz="1650" spc="-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65" b="1">
                <a:solidFill>
                  <a:srgbClr val="FFFFFF"/>
                </a:solidFill>
                <a:latin typeface="Arial"/>
                <a:cs typeface="Arial"/>
              </a:rPr>
              <a:t>construire</a:t>
            </a:r>
            <a:r>
              <a:rPr dirty="0" sz="1650" spc="-90" b="1">
                <a:solidFill>
                  <a:srgbClr val="FFFFFF"/>
                </a:solidFill>
                <a:latin typeface="Arial"/>
                <a:cs typeface="Arial"/>
              </a:rPr>
              <a:t> un</a:t>
            </a:r>
            <a:r>
              <a:rPr dirty="0" sz="165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20" b="1">
                <a:solidFill>
                  <a:srgbClr val="FFFFFF"/>
                </a:solidFill>
                <a:latin typeface="Arial"/>
                <a:cs typeface="Arial"/>
              </a:rPr>
              <a:t>site </a:t>
            </a:r>
            <a:r>
              <a:rPr dirty="0" sz="1650" spc="-60" b="1">
                <a:solidFill>
                  <a:srgbClr val="FFFFFF"/>
                </a:solidFill>
                <a:latin typeface="Arial"/>
                <a:cs typeface="Arial"/>
              </a:rPr>
              <a:t>professionnel</a:t>
            </a:r>
            <a:r>
              <a:rPr dirty="0" sz="1700" spc="-60" b="1">
                <a:solidFill>
                  <a:srgbClr val="FFFFFF"/>
                </a:solidFill>
                <a:latin typeface="Sitka Display"/>
                <a:cs typeface="Sitka Display"/>
              </a:rPr>
              <a:t>,</a:t>
            </a:r>
            <a:r>
              <a:rPr dirty="0" sz="1700" spc="40" b="1">
                <a:solidFill>
                  <a:srgbClr val="FFFFFF"/>
                </a:solidFill>
                <a:latin typeface="Sitka Display"/>
                <a:cs typeface="Sitka Display"/>
              </a:rPr>
              <a:t> </a:t>
            </a:r>
            <a:r>
              <a:rPr dirty="0" sz="1650" spc="-60" b="1">
                <a:solidFill>
                  <a:srgbClr val="FFFFFF"/>
                </a:solidFill>
                <a:latin typeface="Arial"/>
                <a:cs typeface="Arial"/>
              </a:rPr>
              <a:t>accessible</a:t>
            </a:r>
            <a:r>
              <a:rPr dirty="0" sz="165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FFFFFF"/>
                </a:solidFill>
                <a:latin typeface="Arial"/>
                <a:cs typeface="Arial"/>
              </a:rPr>
              <a:t>et</a:t>
            </a:r>
            <a:r>
              <a:rPr dirty="0" sz="1650" spc="-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55" b="1">
                <a:solidFill>
                  <a:srgbClr val="FFFFFF"/>
                </a:solidFill>
                <a:latin typeface="Arial"/>
                <a:cs typeface="Arial"/>
              </a:rPr>
              <a:t>engageant</a:t>
            </a:r>
            <a:r>
              <a:rPr dirty="0" sz="1650" spc="-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440" b="1">
                <a:solidFill>
                  <a:srgbClr val="FFFFFF"/>
                </a:solidFill>
                <a:latin typeface="Sitka Display"/>
                <a:cs typeface="Sitka Display"/>
              </a:rPr>
              <a:t>—</a:t>
            </a:r>
            <a:r>
              <a:rPr dirty="0" sz="1700" spc="-180" b="1">
                <a:solidFill>
                  <a:srgbClr val="FFFFFF"/>
                </a:solidFill>
                <a:latin typeface="Sitka Display"/>
                <a:cs typeface="Sitka Display"/>
              </a:rPr>
              <a:t> </a:t>
            </a:r>
            <a:r>
              <a:rPr dirty="0" sz="1650" spc="-60" b="1">
                <a:solidFill>
                  <a:srgbClr val="FFFFFF"/>
                </a:solidFill>
                <a:latin typeface="Arial"/>
                <a:cs typeface="Arial"/>
              </a:rPr>
              <a:t>une</a:t>
            </a:r>
            <a:r>
              <a:rPr dirty="0" sz="165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55" b="1">
                <a:solidFill>
                  <a:srgbClr val="FFFFFF"/>
                </a:solidFill>
                <a:latin typeface="Arial"/>
                <a:cs typeface="Arial"/>
              </a:rPr>
              <a:t>base</a:t>
            </a:r>
            <a:r>
              <a:rPr dirty="0" sz="165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70" b="1">
                <a:solidFill>
                  <a:srgbClr val="FFFFFF"/>
                </a:solidFill>
                <a:latin typeface="Arial"/>
                <a:cs typeface="Arial"/>
              </a:rPr>
              <a:t>solide</a:t>
            </a:r>
            <a:r>
              <a:rPr dirty="0" sz="165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70" b="1">
                <a:solidFill>
                  <a:srgbClr val="FFFFFF"/>
                </a:solidFill>
                <a:latin typeface="Arial"/>
                <a:cs typeface="Arial"/>
              </a:rPr>
              <a:t>pour</a:t>
            </a:r>
            <a:r>
              <a:rPr dirty="0" sz="1650" spc="-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60" b="1">
                <a:solidFill>
                  <a:srgbClr val="FFFFFF"/>
                </a:solidFill>
                <a:latin typeface="Arial"/>
                <a:cs typeface="Arial"/>
              </a:rPr>
              <a:t>une</a:t>
            </a:r>
            <a:r>
              <a:rPr dirty="0" sz="165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40" b="1">
                <a:solidFill>
                  <a:srgbClr val="FFFFFF"/>
                </a:solidFill>
                <a:latin typeface="Arial"/>
                <a:cs typeface="Arial"/>
              </a:rPr>
              <a:t>future</a:t>
            </a:r>
            <a:r>
              <a:rPr dirty="0" sz="165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55" b="1">
                <a:solidFill>
                  <a:srgbClr val="FFFFFF"/>
                </a:solidFill>
                <a:latin typeface="Arial"/>
                <a:cs typeface="Arial"/>
              </a:rPr>
              <a:t>marketplace</a:t>
            </a:r>
            <a:r>
              <a:rPr dirty="0" sz="165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50" b="1">
                <a:solidFill>
                  <a:srgbClr val="FFFFFF"/>
                </a:solidFill>
                <a:latin typeface="Arial"/>
                <a:cs typeface="Arial"/>
              </a:rPr>
              <a:t>tech </a:t>
            </a:r>
            <a:r>
              <a:rPr dirty="0" sz="1650" spc="-10" b="1">
                <a:solidFill>
                  <a:srgbClr val="FFFFFF"/>
                </a:solidFill>
                <a:latin typeface="Arial"/>
                <a:cs typeface="Arial"/>
              </a:rPr>
              <a:t>africaine</a:t>
            </a:r>
            <a:r>
              <a:rPr dirty="0" sz="1700" spc="-10" b="1">
                <a:solidFill>
                  <a:srgbClr val="FFFFFF"/>
                </a:solidFill>
                <a:latin typeface="Sitka Display"/>
                <a:cs typeface="Sitka Display"/>
              </a:rPr>
              <a:t>.</a:t>
            </a:r>
            <a:endParaRPr sz="1700">
              <a:latin typeface="Sitka Display"/>
              <a:cs typeface="Sitka Display"/>
            </a:endParaRPr>
          </a:p>
          <a:p>
            <a:pPr algn="ctr" marL="268605">
              <a:lnSpc>
                <a:spcPct val="100000"/>
              </a:lnSpc>
              <a:spcBef>
                <a:spcPts val="1210"/>
              </a:spcBef>
            </a:pPr>
            <a:r>
              <a:rPr dirty="0" sz="1350" spc="-20" b="1">
                <a:solidFill>
                  <a:srgbClr val="FEFEFE"/>
                </a:solidFill>
                <a:latin typeface="Arial"/>
                <a:cs typeface="Arial"/>
              </a:rPr>
              <a:t>Merci</a:t>
            </a:r>
            <a:r>
              <a:rPr dirty="0" sz="1350" spc="-25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350" spc="-40" b="1">
                <a:solidFill>
                  <a:srgbClr val="FEFEFE"/>
                </a:solidFill>
                <a:latin typeface="Arial"/>
                <a:cs typeface="Arial"/>
              </a:rPr>
              <a:t>pour</a:t>
            </a:r>
            <a:r>
              <a:rPr dirty="0" sz="1350" spc="-70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350" spc="-30" b="1">
                <a:solidFill>
                  <a:srgbClr val="FEFEFE"/>
                </a:solidFill>
                <a:latin typeface="Arial"/>
                <a:cs typeface="Arial"/>
              </a:rPr>
              <a:t>votre</a:t>
            </a:r>
            <a:r>
              <a:rPr dirty="0" sz="1350" spc="-70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FEFEFE"/>
                </a:solidFill>
                <a:latin typeface="Arial"/>
                <a:cs typeface="Arial"/>
              </a:rPr>
              <a:t>attention</a:t>
            </a:r>
            <a:r>
              <a:rPr dirty="0" sz="1450" spc="-10" b="1">
                <a:solidFill>
                  <a:srgbClr val="FEFEFE"/>
                </a:solidFill>
                <a:latin typeface="Times New Roman"/>
                <a:cs typeface="Times New Roman"/>
              </a:rPr>
              <a:t>.</a:t>
            </a:r>
            <a:endParaRPr sz="1450">
              <a:latin typeface="Times New Roman"/>
              <a:cs typeface="Times New Roman"/>
            </a:endParaRPr>
          </a:p>
          <a:p>
            <a:pPr algn="ctr" marL="3175">
              <a:lnSpc>
                <a:spcPct val="100000"/>
              </a:lnSpc>
              <a:spcBef>
                <a:spcPts val="860"/>
              </a:spcBef>
            </a:pPr>
            <a:r>
              <a:rPr dirty="0" sz="950" b="1">
                <a:solidFill>
                  <a:srgbClr val="FEFEFE"/>
                </a:solidFill>
                <a:latin typeface="Arial"/>
                <a:cs typeface="Arial"/>
              </a:rPr>
              <a:t>Muteba</a:t>
            </a:r>
            <a:r>
              <a:rPr dirty="0" sz="950" spc="210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EFEFE"/>
                </a:solidFill>
                <a:latin typeface="Arial"/>
                <a:cs typeface="Arial"/>
              </a:rPr>
              <a:t>Wa</a:t>
            </a:r>
            <a:r>
              <a:rPr dirty="0" sz="950" spc="210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EFEFE"/>
                </a:solidFill>
                <a:latin typeface="Arial"/>
                <a:cs typeface="Arial"/>
              </a:rPr>
              <a:t>Muteba</a:t>
            </a:r>
            <a:r>
              <a:rPr dirty="0" sz="950" spc="210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950" spc="-80" b="1">
                <a:solidFill>
                  <a:srgbClr val="FEFEFE"/>
                </a:solidFill>
                <a:latin typeface="Arial"/>
                <a:cs typeface="Arial"/>
              </a:rPr>
              <a:t>I</a:t>
            </a:r>
            <a:r>
              <a:rPr dirty="0" sz="950" spc="-114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EFEFE"/>
                </a:solidFill>
                <a:latin typeface="Arial"/>
                <a:cs typeface="Arial"/>
              </a:rPr>
              <a:t>sraël</a:t>
            </a:r>
            <a:r>
              <a:rPr dirty="0" sz="950" spc="240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EFEFE"/>
                </a:solidFill>
                <a:latin typeface="Arial"/>
                <a:cs typeface="Arial"/>
              </a:rPr>
              <a:t>·</a:t>
            </a:r>
            <a:r>
              <a:rPr dirty="0" sz="950" spc="254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EFEFE"/>
                </a:solidFill>
                <a:latin typeface="Arial"/>
                <a:cs typeface="Arial"/>
              </a:rPr>
              <a:t>Afri</a:t>
            </a:r>
            <a:r>
              <a:rPr dirty="0" sz="950" spc="-135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FEFEFE"/>
                </a:solidFill>
                <a:latin typeface="Arial"/>
                <a:cs typeface="Arial"/>
              </a:rPr>
              <a:t>Tal</a:t>
            </a:r>
            <a:r>
              <a:rPr dirty="0" sz="950" spc="-114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EFEFE"/>
                </a:solidFill>
                <a:latin typeface="Arial"/>
                <a:cs typeface="Arial"/>
              </a:rPr>
              <a:t>ent</a:t>
            </a:r>
            <a:r>
              <a:rPr dirty="0" sz="950" spc="165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EFEFE"/>
                </a:solidFill>
                <a:latin typeface="Arial"/>
                <a:cs typeface="Arial"/>
              </a:rPr>
              <a:t>By</a:t>
            </a:r>
            <a:r>
              <a:rPr dirty="0" sz="950" spc="145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950" spc="55" b="1">
                <a:solidFill>
                  <a:srgbClr val="FEFEFE"/>
                </a:solidFill>
                <a:latin typeface="Arial"/>
                <a:cs typeface="Arial"/>
              </a:rPr>
              <a:t>Agent23</a:t>
            </a:r>
            <a:r>
              <a:rPr dirty="0" sz="950" spc="180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EFEFE"/>
                </a:solidFill>
                <a:latin typeface="Arial"/>
                <a:cs typeface="Arial"/>
              </a:rPr>
              <a:t>·</a:t>
            </a:r>
            <a:r>
              <a:rPr dirty="0" sz="950" spc="250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950" spc="75" b="1">
                <a:solidFill>
                  <a:srgbClr val="FEFEFE"/>
                </a:solidFill>
                <a:latin typeface="Arial"/>
                <a:cs typeface="Arial"/>
              </a:rPr>
              <a:t>2026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C6A8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2026-07-02T14:33:33Z</dcterms:created>
  <dcterms:modified xsi:type="dcterms:W3CDTF">2026-07-02T14:33:33Z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2026-07-02T00:00:00Z</vt:filetime>
  </property>
  <property fmtid="{D5CDD505-2E9C-101B-9397-08002B2CF9AE}" pid="4" name="LastSaved">
    <vt:filetime>2026-07-02T00:00:00Z</vt:filetime>
  </property>
</Properties>
</file>